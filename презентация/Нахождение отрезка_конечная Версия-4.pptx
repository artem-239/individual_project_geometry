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89" r:id="rId4"/>
    <p:sldId id="260" r:id="rId5"/>
    <p:sldId id="261" r:id="rId6"/>
    <p:sldId id="262" r:id="rId7"/>
    <p:sldId id="275" r:id="rId8"/>
    <p:sldId id="271" r:id="rId9"/>
    <p:sldId id="272" r:id="rId10"/>
    <p:sldId id="273" r:id="rId11"/>
    <p:sldId id="293" r:id="rId12"/>
    <p:sldId id="294" r:id="rId13"/>
    <p:sldId id="265" r:id="rId14"/>
    <p:sldId id="274" r:id="rId15"/>
    <p:sldId id="276" r:id="rId16"/>
    <p:sldId id="279" r:id="rId17"/>
    <p:sldId id="296" r:id="rId18"/>
    <p:sldId id="264" r:id="rId19"/>
    <p:sldId id="297" r:id="rId20"/>
    <p:sldId id="298" r:id="rId21"/>
    <p:sldId id="266" r:id="rId22"/>
    <p:sldId id="286" r:id="rId23"/>
    <p:sldId id="287" r:id="rId24"/>
    <p:sldId id="268" r:id="rId25"/>
    <p:sldId id="269" r:id="rId26"/>
    <p:sldId id="291" r:id="rId27"/>
    <p:sldId id="292" r:id="rId28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BECD0"/>
    <a:srgbClr val="D5E9C9"/>
    <a:srgbClr val="D4F0E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215" autoAdjust="0"/>
    <p:restoredTop sz="94660"/>
  </p:normalViewPr>
  <p:slideViewPr>
    <p:cSldViewPr snapToGrid="0">
      <p:cViewPr varScale="1">
        <p:scale>
          <a:sx n="85" d="100"/>
          <a:sy n="85" d="100"/>
        </p:scale>
        <p:origin x="811" y="77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86AB17-56FD-4EDD-9EEB-F3D57CEC3577}" type="datetimeFigureOut">
              <a:rPr lang="ru-RU" smtClean="0"/>
              <a:t>28.04.2026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C6FC69-6161-4ADE-884D-818228B5EF1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949786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C6FC69-6161-4ADE-884D-818228B5EF17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6294806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C6FC69-6161-4ADE-884D-818228B5EF17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564521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ACD05A1-53D0-4D78-8ACE-AD95BC4DA8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96F2A61-7066-45A5-B361-C031DEDD51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3154A1A-5EA0-4449-B316-D43EFB2BE5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A4CADC-3382-474D-A975-F78C8D475467}" type="datetime1">
              <a:rPr lang="ru-RU" smtClean="0"/>
              <a:t>28.04.2026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1DA88BE-E801-483C-916A-210C9848DC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42BA9D6-A3D9-4B3B-AC50-1C0F24F892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46BD07-4451-4F99-9781-57091C9496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700457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BE55187-2D91-42D5-AE9B-7DEF62C124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99395D1-690A-414A-94D8-9DEAD08CFF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3E1F971-46EF-45FF-9EDF-2BF7E45357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743EA2-CCF3-45C7-9117-7104088D4F6E}" type="datetime1">
              <a:rPr lang="ru-RU" smtClean="0"/>
              <a:t>28.04.2026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B4D8D50-DB1A-4E4D-BAF9-336AC864D3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2F750DD-5175-40D7-9163-3787048AB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46BD07-4451-4F99-9781-57091C9496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467578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6465448-7CD2-451C-A86A-03AA5716C0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E7AA154-4035-4E58-B0DA-D09D11E9DB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E45E216-2196-494F-AD8F-F557BBAEC8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9EA51A-F4B2-4EEF-A983-7B6329173CF4}" type="datetime1">
              <a:rPr lang="ru-RU" smtClean="0"/>
              <a:t>28.04.2026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B64E37A-F949-4336-9F27-3770FB176D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6410F28-AD63-4E27-A981-3E2F2D61EB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46BD07-4451-4F99-9781-57091C9496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516977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AFA685-2DA8-4B50-8BF8-DB2C137512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41A9131-9986-4541-8A9A-4D3517EB73A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46B354D-DB87-4BFE-89AC-B80B0BBE59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F60BA98-44AD-4535-AD50-B3D9DD1F65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D6CEC6-DCF2-4957-99A2-338F0D0C7DB9}" type="datetime1">
              <a:rPr lang="ru-RU" smtClean="0"/>
              <a:t>28.04.2026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802EB0A-BEB2-420C-98CD-CD822940F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65423ED-BB28-49C1-BB7B-BCAC77DD89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46BD07-4451-4F99-9781-57091C9496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61397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6C07F5E-70AA-466A-A086-7DC1BCF4C9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F4FF645F-2C4E-4B26-8DF4-F2CD4F082F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E1F2B7D8-BF93-4791-A5F0-96A3245217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1C80ED9E-8A5B-490B-8E5E-D04E37A3F5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49FE0C14-5EC9-4F51-A8E8-B9C100457C5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4DC9205F-69C6-4E01-BBF9-BB2210D9A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6AADA-1886-4D87-B0DD-D7F3FE984392}" type="datetime1">
              <a:rPr lang="ru-RU" smtClean="0"/>
              <a:t>28.04.2026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29C87052-FE35-4593-A440-66AD1A0E50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70B9889E-AA67-4E97-B252-D60A0D1EEB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46BD07-4451-4F99-9781-57091C9496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491420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080F710-F4D7-4F15-88B5-B5817AD021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E940847-DE57-4BCF-B091-F1A75ABDDB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F9FE6E-4BA1-440F-A046-DF16E394809F}" type="datetime1">
              <a:rPr lang="ru-RU" smtClean="0"/>
              <a:t>28.04.2026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A39BDE33-F1B1-43ED-8D98-04B1743B59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E0EDFF8D-68A8-4C0E-AA3E-3D80057E76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46BD07-4451-4F99-9781-57091C9496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35411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A7470248-DFB3-4CCF-A78B-4BB22A05B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44C97D-4141-4FE1-A15E-912A6DAC5A4C}" type="datetime1">
              <a:rPr lang="ru-RU" smtClean="0"/>
              <a:t>28.04.2026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0D05EE47-AC69-4A6C-9DB2-EFF5F41BAA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96B9724A-BED0-4E0E-95E0-B69576F12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46BD07-4451-4F99-9781-57091C9496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569049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3061E25-364E-42AE-961C-6850D07399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E97F939-FC57-4931-8732-A9BC2D205F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E54B8A5B-B798-4023-AC7C-B585154FC2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18399A7-6154-4419-B297-E9D72CABB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7ECAD8-8884-4249-8250-598957BF1BDE}" type="datetime1">
              <a:rPr lang="ru-RU" smtClean="0"/>
              <a:t>28.04.2026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119BC00-2BC2-4F91-941F-5C5D51F4A2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1B7414D-58D1-42B1-BB50-0332DCFDAF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46BD07-4451-4F99-9781-57091C9496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59006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9416B51-26DA-4919-B257-CC36B0128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18475B9D-A8C4-46B5-B61A-9F13990AB7E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00BE66A-2C2C-49DE-8C9F-373AA2B51B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1B48897-0B6A-43E2-9071-87C02A6585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7CA92-FD4B-42BB-9539-C886DE833EC1}" type="datetime1">
              <a:rPr lang="ru-RU" smtClean="0"/>
              <a:t>28.04.2026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198A808-8E69-474B-91CC-A3F587FB40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FD489B2-2D29-458D-B093-FBD8C00BE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46BD07-4451-4F99-9781-57091C9496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703030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C4CC42D-5977-4365-97BB-E3731A13B1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38751A45-18DE-4508-B996-C7DE8C8E47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8A027DC-62CD-467A-A4E9-E615A7A3C0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58BA30-D9A6-428E-A4C8-54552A86351F}" type="datetime1">
              <a:rPr lang="ru-RU" smtClean="0"/>
              <a:t>28.04.2026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4E13408-9E66-4981-899B-BCA8E18C6F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217D18B-0CFB-45ED-8993-1855A7212D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46BD07-4451-4F99-9781-57091C9496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605157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67979651-ED00-4622-97A5-4E8272B9E01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D995B53-A8A5-4493-9236-268B2391AD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1BC87D9-5BDE-4F68-80B1-1FC44A3514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23AC5-0029-452E-8876-F32F9297054F}" type="datetime1">
              <a:rPr lang="ru-RU" smtClean="0"/>
              <a:t>28.04.2026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EB1E9C2-49C2-475D-977A-616953E9E3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4BAC580-498B-4374-829C-5C3B7A8938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46BD07-4451-4F99-9781-57091C9496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369096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CD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BE64711-369E-46DD-B5FD-04C5940564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4DBCC27-52DD-4E94-A53C-A8695B8E38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E05C58F-4A8C-4A46-B4DF-D585DF15C2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115E6B-9DC2-458B-81A7-FDE905116530}" type="datetime1">
              <a:rPr lang="ru-RU" smtClean="0"/>
              <a:t>28.04.2026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F2A36E2-F525-46DA-9CA9-FE55C6B406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4797006-BDE1-4C5A-BF05-4F443CBCBA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46BD07-4451-4F99-9781-57091C9496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162275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w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wmf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emf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jp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jpe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D636A50-87BB-43E9-8C9C-8B9B07D7A3A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95600" y="190114"/>
            <a:ext cx="8821271" cy="2387600"/>
          </a:xfrm>
        </p:spPr>
        <p:txBody>
          <a:bodyPr>
            <a:normAutofit fontScale="90000"/>
          </a:bodyPr>
          <a:lstStyle/>
          <a:p>
            <a:r>
              <a:rPr lang="ru-RU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Нахождение отрезка</a:t>
            </a:r>
            <a:b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максимальной длины, </a:t>
            </a:r>
            <a:br>
              <a:rPr lang="ru-RU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находящегося внутри прямоугольника</a:t>
            </a:r>
            <a:r>
              <a:rPr lang="ru-RU" sz="4000" b="1" dirty="0">
                <a:solidFill>
                  <a:schemeClr val="accent6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br>
              <a:rPr lang="ru-RU" sz="4000" b="1" dirty="0">
                <a:solidFill>
                  <a:schemeClr val="accent6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ru-RU" sz="4000" b="1" dirty="0">
              <a:solidFill>
                <a:schemeClr val="accent6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28884EA8-FD37-4477-BDE0-2CBDF2943E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95599" y="2801937"/>
            <a:ext cx="8821271" cy="3634721"/>
          </a:xfrm>
        </p:spPr>
        <p:txBody>
          <a:bodyPr>
            <a:normAutofit fontScale="25000" lnSpcReduction="20000"/>
          </a:bodyPr>
          <a:lstStyle/>
          <a:p>
            <a:r>
              <a:rPr lang="ru-RU" sz="9800" dirty="0"/>
              <a:t>Годовой индивидуальный проект </a:t>
            </a:r>
          </a:p>
          <a:p>
            <a:endParaRPr lang="ru-RU" sz="9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1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Автор проекта </a:t>
            </a:r>
            <a:endParaRPr lang="en-US" sz="1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1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Филиппов Артём,  класс 10-7</a:t>
            </a:r>
          </a:p>
          <a:p>
            <a:endParaRPr lang="ru-RU" sz="1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1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 проекта  </a:t>
            </a:r>
            <a:endParaRPr lang="en-US" sz="1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1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Петраневская</a:t>
            </a:r>
            <a:r>
              <a:rPr lang="ru-RU" sz="1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Мария Владимировна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18" r="29976" b="35456"/>
          <a:stretch/>
        </p:blipFill>
        <p:spPr>
          <a:xfrm>
            <a:off x="389964" y="3429000"/>
            <a:ext cx="2692095" cy="242495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6564813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303DC78-A7C1-488B-95C2-0C0FFEF88D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0000" y="0"/>
            <a:ext cx="10515600" cy="925195"/>
          </a:xfrm>
        </p:spPr>
        <p:txBody>
          <a:bodyPr>
            <a:normAutofit/>
          </a:bodyPr>
          <a:lstStyle/>
          <a:p>
            <a:pPr algn="ctr"/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Постановка задачи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B370A29-0C9D-46BE-A6FF-18D7B8412E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61221" y="1290320"/>
            <a:ext cx="4996414" cy="4351338"/>
          </a:xfrm>
        </p:spPr>
        <p:txBody>
          <a:bodyPr>
            <a:norm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 плоскости задано множество точек и множество прямоугольников. 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Прямоугольник задается двумя вершинами одной из сторон и точкой, лежащей на прямой, проходящей через две другие вершины.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Требуется построить отрезки, которые начинаются в начале координат и заканчиваются в заданных точках. 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Необходимо найти такой прямоугольник и такой отрезок, чтобы этот прямоугольник содержал в себе часть отрезка наибольшей длины (из всех возможных пар «отрезок-прямоугольник»).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9000000" y="6120000"/>
            <a:ext cx="2743200" cy="365125"/>
          </a:xfrm>
        </p:spPr>
        <p:txBody>
          <a:bodyPr lIns="0" tIns="36000" rIns="0" bIns="36000"/>
          <a:lstStyle/>
          <a:p>
            <a:fld id="{8346BD07-4451-4F99-9781-57091C949674}" type="slidenum">
              <a:rPr lang="ru-RU" sz="1400" b="1" smtClean="0">
                <a:solidFill>
                  <a:schemeClr val="accent6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fld>
            <a:endParaRPr lang="ru-RU" sz="1400" b="1" dirty="0">
              <a:solidFill>
                <a:schemeClr val="accent6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31" name="Picture 7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6420" y="1796714"/>
            <a:ext cx="6316934" cy="333675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1872000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46BD07-4451-4F99-9781-57091C949674}" type="slidenum">
              <a:rPr lang="ru-RU" smtClean="0"/>
              <a:t>3</a:t>
            </a:fld>
            <a:endParaRPr lang="ru-RU"/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4303DC78-A7C1-488B-95C2-0C0FFEF88D1B}"/>
              </a:ext>
            </a:extLst>
          </p:cNvPr>
          <p:cNvSpPr txBox="1">
            <a:spLocks/>
          </p:cNvSpPr>
          <p:nvPr/>
        </p:nvSpPr>
        <p:spPr>
          <a:xfrm>
            <a:off x="900000" y="0"/>
            <a:ext cx="10515600" cy="9251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Входные данные</a:t>
            </a:r>
          </a:p>
        </p:txBody>
      </p:sp>
      <p:graphicFrame>
        <p:nvGraphicFramePr>
          <p:cNvPr id="7" name="Таблица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80259021"/>
              </p:ext>
            </p:extLst>
          </p:nvPr>
        </p:nvGraphicFramePr>
        <p:xfrm>
          <a:off x="957788" y="1024467"/>
          <a:ext cx="10457812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2890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28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816" y="1204403"/>
            <a:ext cx="4703116" cy="21082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051" name="Picture 3" descr="G:\_ПРОГРАММЫ\GRAPHICS\Buttons\OffCtlBr\Large\Color\OPEN.BMP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44289" y="2104302"/>
            <a:ext cx="690173" cy="6614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49264" y="1037343"/>
            <a:ext cx="3625226" cy="25079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053" name="Picture 5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56657" y="3676348"/>
            <a:ext cx="3270902" cy="23955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054" name="Picture 6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5482" y="4684317"/>
            <a:ext cx="819377" cy="7325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055" name="Picture 7"/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44289" y="4684317"/>
            <a:ext cx="814137" cy="8141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056" name="Picture 8"/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6925" y="3692971"/>
            <a:ext cx="2761496" cy="23623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5205180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1EC3FB53-7AE1-4BA6-8D62-6543C5C895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00000" y="6120000"/>
            <a:ext cx="2743200" cy="365125"/>
          </a:xfrm>
        </p:spPr>
        <p:txBody>
          <a:bodyPr lIns="0" tIns="36000" rIns="0" bIns="36000"/>
          <a:lstStyle/>
          <a:p>
            <a:fld id="{8346BD07-4451-4F99-9781-57091C949674}" type="slidenum">
              <a:rPr lang="ru-RU" sz="1400" b="1" smtClean="0">
                <a:solidFill>
                  <a:schemeClr val="accent6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fld>
            <a:endParaRPr lang="ru-RU" sz="1400" b="1" dirty="0">
              <a:solidFill>
                <a:schemeClr val="accent6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5A4420F8-7B16-4C71-A9E1-D3224140C9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0000" y="0"/>
            <a:ext cx="10515600" cy="925195"/>
          </a:xfrm>
        </p:spPr>
        <p:txBody>
          <a:bodyPr>
            <a:normAutofit/>
          </a:bodyPr>
          <a:lstStyle/>
          <a:p>
            <a:pPr algn="ctr"/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Входные данные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990D84F-D6E3-4324-8BFD-53B830FAE92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6407" y="936000"/>
            <a:ext cx="3464030" cy="2870815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D10BA397-C740-43C1-A879-149400188BA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21051" y="936000"/>
            <a:ext cx="3245269" cy="287081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D1C7D41-EC64-4A23-8FE9-68090F862703}"/>
              </a:ext>
            </a:extLst>
          </p:cNvPr>
          <p:cNvSpPr txBox="1"/>
          <p:nvPr/>
        </p:nvSpPr>
        <p:spPr>
          <a:xfrm>
            <a:off x="230841" y="3960000"/>
            <a:ext cx="565560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latin typeface="Times New Roman" panose="02020603050405020304" pitchFamily="18" charset="0"/>
              </a:rPr>
              <a:t>Точки для прямоугольников</a:t>
            </a:r>
          </a:p>
          <a:p>
            <a:endParaRPr lang="ru-RU" dirty="0">
              <a:latin typeface="Times New Roman" panose="02020603050405020304" pitchFamily="18" charset="0"/>
            </a:endParaRPr>
          </a:p>
          <a:p>
            <a:r>
              <a:rPr lang="ru-RU" dirty="0">
                <a:latin typeface="Times New Roman" panose="02020603050405020304" pitchFamily="18" charset="0"/>
              </a:rPr>
              <a:t>Пользователь разными способами ввода задаёт координаты  трех точек типа </a:t>
            </a:r>
            <a:r>
              <a:rPr lang="en-US" dirty="0">
                <a:latin typeface="Times New Roman" panose="02020603050405020304" pitchFamily="18" charset="0"/>
              </a:rPr>
              <a:t>double </a:t>
            </a:r>
            <a:r>
              <a:rPr lang="ru-RU" dirty="0">
                <a:latin typeface="Times New Roman" panose="02020603050405020304" pitchFamily="18" charset="0"/>
              </a:rPr>
              <a:t>для каждого прямоугольника.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04A30DC-AF95-4E4A-8D1B-BD26059E27D1}"/>
              </a:ext>
            </a:extLst>
          </p:cNvPr>
          <p:cNvSpPr txBox="1"/>
          <p:nvPr/>
        </p:nvSpPr>
        <p:spPr>
          <a:xfrm>
            <a:off x="6361014" y="3960000"/>
            <a:ext cx="524883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Точки для отрезков</a:t>
            </a:r>
          </a:p>
          <a:p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Пользователь разными способами ввода задаёт 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координаты точек типа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double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для отрезков. 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04A30DC-AF95-4E4A-8D1B-BD26059E27D1}"/>
              </a:ext>
            </a:extLst>
          </p:cNvPr>
          <p:cNvSpPr txBox="1"/>
          <p:nvPr/>
        </p:nvSpPr>
        <p:spPr>
          <a:xfrm>
            <a:off x="230841" y="5437328"/>
            <a:ext cx="109906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Ограничения при вводе данных: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 вводе данных с клавиатуры и файла ограничения по координате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x – (-545;545), 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y – (-250;350) 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030470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C06EB980-19D1-432B-9F6B-B30EB3A803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0000" y="0"/>
            <a:ext cx="10515600" cy="925195"/>
          </a:xfrm>
        </p:spPr>
        <p:txBody>
          <a:bodyPr>
            <a:normAutofit/>
          </a:bodyPr>
          <a:lstStyle/>
          <a:p>
            <a:pPr algn="ctr"/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Выходные данные</a:t>
            </a:r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62F924A4-FCF3-4EBD-B802-FC532F060F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7224" y="1052793"/>
            <a:ext cx="5055076" cy="498437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3C65A90-F214-471A-91C8-088C6219A7C2}"/>
              </a:ext>
            </a:extLst>
          </p:cNvPr>
          <p:cNvSpPr txBox="1"/>
          <p:nvPr/>
        </p:nvSpPr>
        <p:spPr>
          <a:xfrm>
            <a:off x="133350" y="2138643"/>
            <a:ext cx="615315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 выходным данным относятся: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координаты 2 точек – концов отрезка максимальной длины из всех пар отрезок – прямоугольник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координаты точки, по которой построен отрезок максимальной длины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длина найденного максимального отрезка, типа данных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double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выводится вплоть до 15 знака после запятой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>
          <a:xfrm>
            <a:off x="9000000" y="6120000"/>
            <a:ext cx="2743200" cy="365125"/>
          </a:xfrm>
        </p:spPr>
        <p:txBody>
          <a:bodyPr lIns="0" tIns="36000" rIns="0" bIns="36000"/>
          <a:lstStyle/>
          <a:p>
            <a:fld id="{8346BD07-4451-4F99-9781-57091C949674}" type="slidenum">
              <a:rPr lang="ru-RU" sz="1400" b="1" smtClean="0">
                <a:solidFill>
                  <a:schemeClr val="accent6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fld>
            <a:endParaRPr lang="ru-RU" sz="1400" b="1" dirty="0">
              <a:solidFill>
                <a:schemeClr val="accent6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87403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53177297-0D86-4801-B0DC-7E10F0AEE0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00000" y="6120000"/>
            <a:ext cx="2743200" cy="365125"/>
          </a:xfrm>
        </p:spPr>
        <p:txBody>
          <a:bodyPr lIns="0" tIns="36000" rIns="0" bIns="36000"/>
          <a:lstStyle/>
          <a:p>
            <a:fld id="{8346BD07-4451-4F99-9781-57091C949674}" type="slidenum">
              <a:rPr lang="ru-RU" sz="1400" b="1" smtClean="0">
                <a:solidFill>
                  <a:schemeClr val="accent6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fld>
            <a:endParaRPr lang="ru-RU" sz="1400" b="1" dirty="0">
              <a:solidFill>
                <a:schemeClr val="accent6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EED2A59B-8A45-478C-8F3E-9F846603C0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0000" y="0"/>
            <a:ext cx="10515600" cy="925195"/>
          </a:xfrm>
        </p:spPr>
        <p:txBody>
          <a:bodyPr>
            <a:normAutofit/>
          </a:bodyPr>
          <a:lstStyle/>
          <a:p>
            <a:pPr algn="ctr"/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Математическая модель</a:t>
            </a:r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52D99CD6-2512-425B-AA65-90AA756CFC91}"/>
              </a:ext>
            </a:extLst>
          </p:cNvPr>
          <p:cNvSpPr txBox="1">
            <a:spLocks/>
          </p:cNvSpPr>
          <p:nvPr/>
        </p:nvSpPr>
        <p:spPr>
          <a:xfrm>
            <a:off x="838200" y="829945"/>
            <a:ext cx="10515600" cy="9251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Математическая модель на основе вычислительной геометрии – использование векторов и точек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576ED211-E5D6-417F-BB0E-028894422EB7}"/>
                  </a:ext>
                </a:extLst>
              </p:cNvPr>
              <p:cNvSpPr txBox="1"/>
              <p:nvPr/>
            </p:nvSpPr>
            <p:spPr>
              <a:xfrm>
                <a:off x="276225" y="1529886"/>
                <a:ext cx="10515600" cy="22594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Основные понятия :</a:t>
                </a:r>
              </a:p>
              <a:p>
                <a:endParaRPr lang="ru-RU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342900" indent="-342900">
                  <a:buFontTx/>
                  <a:buAutoNum type="arabicPeriod"/>
                </a:pPr>
                <a:r>
                  <a:rPr lang="ru-RU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Точка задается двумя координатами  </a:t>
                </a:r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</a:t>
                </a:r>
                <a:r>
                  <a:rPr lang="ru-RU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y</a:t>
                </a:r>
                <a:r>
                  <a:rPr lang="ru-RU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-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sz="180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accPr>
                      <m:e>
                        <m:r>
                          <a:rPr lang="en-US" sz="1800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𝑃</m:t>
                        </m:r>
                      </m:e>
                    </m:acc>
                    <m:r>
                      <a:rPr lang="ru-RU" sz="1800" i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=</m:t>
                    </m:r>
                    <m:d>
                      <m:dPr>
                        <m:ctrlPr>
                          <a:rPr lang="ru-RU" sz="18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solidFill>
                              <a:schemeClr val="tx1"/>
                            </a:solidFill>
                            <a:effectLst/>
                            <a:latin typeface="Cambria Math"/>
                            <a:ea typeface="Times New Roman" panose="02020603050405020304" pitchFamily="18" charset="0"/>
                          </a:rPr>
                          <m:t>𝑃</m:t>
                        </m:r>
                        <m:r>
                          <a:rPr lang="ru-RU" sz="18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𝑥</m:t>
                        </m:r>
                        <m:r>
                          <a:rPr lang="ru-RU" sz="1800" i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, </m:t>
                        </m:r>
                        <m:r>
                          <a:rPr lang="en-US" sz="1800" b="0" i="1" smtClean="0">
                            <a:solidFill>
                              <a:schemeClr val="tx1"/>
                            </a:solidFill>
                            <a:effectLst/>
                            <a:latin typeface="Cambria Math"/>
                            <a:ea typeface="Times New Roman" panose="02020603050405020304" pitchFamily="18" charset="0"/>
                          </a:rPr>
                          <m:t>𝑃</m:t>
                        </m:r>
                        <m:r>
                          <a:rPr lang="ru-RU" sz="18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𝑦</m:t>
                        </m:r>
                      </m:e>
                    </m:d>
                  </m:oMath>
                </a14:m>
                <a:endParaRPr lang="ru-RU" sz="18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342900" indent="-342900">
                  <a:buAutoNum type="arabicPeriod" startAt="2"/>
                </a:pPr>
                <a:r>
                  <a:rPr lang="ru-RU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Вектор </a:t>
                </a:r>
                <a:r>
                  <a:rPr lang="ru-RU" sz="180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задается двумя координатами – </a:t>
                </a:r>
                <a:r>
                  <a:rPr lang="en-US" sz="1800" i="1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x</a:t>
                </a:r>
                <a:r>
                  <a:rPr lang="ru-RU" sz="180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en-US" sz="1800" i="1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y</a:t>
                </a:r>
                <a:r>
                  <a:rPr lang="ru-RU" sz="180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, т.е. эквивалентен точке </a:t>
                </a:r>
                <a14:m>
                  <m:oMath xmlns:m="http://schemas.openxmlformats.org/officeDocument/2006/math">
                    <m:r>
                      <a:rPr lang="ru-RU" sz="1800" b="0" i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       </m:t>
                    </m:r>
                    <m:acc>
                      <m:accPr>
                        <m:chr m:val="⃗"/>
                        <m:ctrlPr>
                          <a:rPr lang="ru-RU" sz="18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accPr>
                      <m:e>
                        <m:r>
                          <a:rPr lang="ru-RU" sz="18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𝑉</m:t>
                        </m:r>
                      </m:e>
                    </m:acc>
                    <m:r>
                      <a:rPr lang="ru-RU" sz="1800" i="1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=</m:t>
                    </m:r>
                    <m:d>
                      <m:dPr>
                        <m:ctrlPr>
                          <a:rPr lang="ru-RU" sz="18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ru-RU" sz="18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𝑉𝑥</m:t>
                        </m:r>
                        <m:r>
                          <a:rPr lang="ru-RU" sz="18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, </m:t>
                        </m:r>
                        <m:r>
                          <a:rPr lang="ru-RU" sz="18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𝑉𝑦</m:t>
                        </m:r>
                      </m:e>
                    </m:d>
                  </m:oMath>
                </a14:m>
                <a:endParaRPr lang="ru-RU" sz="1800" i="1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342900" indent="-342900">
                  <a:buFontTx/>
                  <a:buAutoNum type="arabicPeriod" startAt="2"/>
                </a:pPr>
                <a:r>
                  <a:rPr lang="ru-RU" sz="180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Расстояние между двумя точками </a:t>
                </a:r>
                <a:r>
                  <a:rPr lang="en-US" sz="180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P</a:t>
                </a:r>
                <a:r>
                  <a:rPr lang="ru-RU" sz="180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1 и </a:t>
                </a:r>
                <a:r>
                  <a:rPr lang="en-US" sz="180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P</a:t>
                </a:r>
                <a:r>
                  <a:rPr lang="ru-RU" sz="180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2 - </a:t>
                </a:r>
                <a14:m>
                  <m:oMath xmlns:m="http://schemas.openxmlformats.org/officeDocument/2006/math">
                    <m:r>
                      <a:rPr lang="en-US" sz="180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𝐷</m:t>
                    </m:r>
                    <m:r>
                      <a:rPr lang="en-US" sz="1800" i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ru-RU" sz="18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ru-RU" sz="1800" i="1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ru-RU" sz="1800" i="1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800" i="1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  <m:t>𝑃</m:t>
                                </m:r>
                                <m:r>
                                  <a:rPr lang="en-US" sz="1800" i="1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  <m:t>2</m:t>
                                </m:r>
                                <m:r>
                                  <a:rPr lang="en-US" sz="1800" i="1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  <m:t>𝑥</m:t>
                                </m:r>
                                <m:r>
                                  <a:rPr lang="en-US" sz="1800" i="1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  <m:t>−</m:t>
                                </m:r>
                                <m:r>
                                  <a:rPr lang="en-US" sz="1800" i="1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  <m:t>𝑃</m:t>
                                </m:r>
                                <m:r>
                                  <a:rPr lang="en-US" sz="1800" i="1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  <m:t>1</m:t>
                                </m:r>
                                <m:r>
                                  <a:rPr lang="en-US" sz="1800" i="1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  <m:t>𝑥</m:t>
                                </m:r>
                              </m:e>
                            </m:d>
                          </m:e>
                          <m:sup>
                            <m:r>
                              <a:rPr lang="en-US" sz="1800" i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1800" i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ru-RU" sz="1800" i="1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ru-RU" sz="1800" i="1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800" i="1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  <m:t>𝑃</m:t>
                                </m:r>
                                <m:r>
                                  <a:rPr lang="en-US" sz="1800" i="1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  <m:t>2</m:t>
                                </m:r>
                                <m:r>
                                  <a:rPr lang="en-US" sz="1800" i="1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  <m:t>𝑦</m:t>
                                </m:r>
                                <m:r>
                                  <a:rPr lang="en-US" sz="1800" i="1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  <m:t>−</m:t>
                                </m:r>
                                <m:r>
                                  <a:rPr lang="en-US" sz="1800" i="1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  <m:t>𝑃</m:t>
                                </m:r>
                                <m:r>
                                  <a:rPr lang="en-US" sz="1800" i="1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  <m:t>1</m:t>
                                </m:r>
                                <m:r>
                                  <a:rPr lang="en-US" sz="1800" i="1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  <m:t>𝑦</m:t>
                                </m:r>
                              </m:e>
                            </m:d>
                          </m:e>
                          <m:sup>
                            <m:r>
                              <a:rPr lang="en-US" sz="1800" i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</m:oMath>
                </a14:m>
                <a:endParaRPr lang="ru-RU" sz="1800" dirty="0">
                  <a:solidFill>
                    <a:schemeClr val="accent6">
                      <a:lumMod val="50000"/>
                    </a:schemeClr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342900" indent="-342900">
                  <a:buFontTx/>
                  <a:buAutoNum type="arabicPeriod" startAt="2"/>
                </a:pPr>
                <a:r>
                  <a:rPr lang="ru-RU" sz="180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Построение вектора по двум точкам 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sz="180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accPr>
                      <m:e>
                        <m:r>
                          <a:rPr lang="en-US" sz="18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𝑉</m:t>
                        </m:r>
                      </m:e>
                    </m:acc>
                    <m:r>
                      <a:rPr lang="ru-RU" sz="1800" i="1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=</m:t>
                    </m:r>
                    <m:acc>
                      <m:accPr>
                        <m:chr m:val="⃗"/>
                        <m:ctrlPr>
                          <a:rPr lang="ru-RU" sz="18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accPr>
                      <m:e>
                        <m:r>
                          <a:rPr lang="ru-RU" sz="18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𝑃</m:t>
                        </m:r>
                        <m:r>
                          <a:rPr lang="ru-RU" sz="18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2</m:t>
                        </m:r>
                      </m:e>
                    </m:acc>
                    <m:r>
                      <a:rPr lang="ru-RU" sz="1800" i="1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−</m:t>
                    </m:r>
                    <m:acc>
                      <m:accPr>
                        <m:chr m:val="⃗"/>
                        <m:ctrlPr>
                          <a:rPr lang="ru-RU" sz="18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accPr>
                      <m:e>
                        <m:r>
                          <a:rPr lang="ru-RU" sz="18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𝑃</m:t>
                        </m:r>
                        <m:r>
                          <a:rPr lang="ru-RU" sz="18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1</m:t>
                        </m:r>
                      </m:e>
                    </m:acc>
                    <m:r>
                      <a:rPr lang="ru-RU" sz="1800" i="1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=</m:t>
                    </m:r>
                    <m:d>
                      <m:dPr>
                        <m:ctrlPr>
                          <a:rPr lang="ru-RU" sz="18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ru-RU" sz="18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𝑃</m:t>
                        </m:r>
                        <m:r>
                          <a:rPr lang="ru-RU" sz="18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2</m:t>
                        </m:r>
                        <m:r>
                          <a:rPr lang="ru-RU" sz="18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𝑥</m:t>
                        </m:r>
                        <m:r>
                          <a:rPr lang="ru-RU" sz="18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−</m:t>
                        </m:r>
                        <m:r>
                          <a:rPr lang="ru-RU" sz="18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𝑃</m:t>
                        </m:r>
                        <m:r>
                          <a:rPr lang="ru-RU" sz="18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1</m:t>
                        </m:r>
                        <m:r>
                          <a:rPr lang="ru-RU" sz="18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𝑥</m:t>
                        </m:r>
                        <m:r>
                          <a:rPr lang="ru-RU" sz="18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, </m:t>
                        </m:r>
                        <m:r>
                          <a:rPr lang="ru-RU" sz="18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𝑃</m:t>
                        </m:r>
                        <m:r>
                          <a:rPr lang="ru-RU" sz="18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2</m:t>
                        </m:r>
                        <m:r>
                          <a:rPr lang="ru-RU" sz="18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𝑦</m:t>
                        </m:r>
                        <m:r>
                          <a:rPr lang="ru-RU" sz="18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−</m:t>
                        </m:r>
                        <m:r>
                          <a:rPr lang="ru-RU" sz="18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𝑃</m:t>
                        </m:r>
                        <m:r>
                          <a:rPr lang="ru-RU" sz="18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1</m:t>
                        </m:r>
                        <m:r>
                          <a:rPr lang="ru-RU" sz="18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𝑦</m:t>
                        </m:r>
                      </m:e>
                    </m:d>
                  </m:oMath>
                </a14:m>
                <a:endParaRPr lang="ru-RU" sz="18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342900" indent="-342900">
                  <a:buFontTx/>
                  <a:buAutoNum type="arabicPeriod" startAt="2"/>
                </a:pPr>
                <a:r>
                  <a:rPr lang="ru-RU" sz="180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Длина вектора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80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sz="18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𝑉</m:t>
                        </m:r>
                      </m:e>
                      <m:sub>
                        <m:r>
                          <a:rPr lang="ru-RU" sz="18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𝐿</m:t>
                        </m:r>
                      </m:sub>
                    </m:sSub>
                    <m:r>
                      <a:rPr lang="ru-RU" sz="1800" i="1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ru-RU" sz="18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ru-RU" sz="1800" i="1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a:rPr lang="ru-RU" sz="1800" i="1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𝑉</m:t>
                            </m:r>
                          </m:e>
                        </m:acc>
                      </m:e>
                    </m:d>
                    <m:r>
                      <a:rPr lang="ru-RU" sz="1800" i="1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ru-RU" sz="18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ru-RU" sz="1800" i="1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ru-RU" sz="1800" i="1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𝑉𝑥</m:t>
                            </m:r>
                          </m:e>
                          <m:sup>
                            <m:r>
                              <a:rPr lang="ru-RU" sz="1800" i="1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ru-RU" sz="18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ru-RU" sz="1800" i="1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ru-RU" sz="1800" i="1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𝑉𝑦</m:t>
                            </m:r>
                          </m:e>
                          <m:sup>
                            <m:r>
                              <a:rPr lang="ru-RU" sz="1800" i="1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</m:oMath>
                </a14:m>
                <a:endParaRPr lang="ru-RU" sz="1800" i="1" dirty="0">
                  <a:solidFill>
                    <a:schemeClr val="accent6">
                      <a:lumMod val="50000"/>
                    </a:schemeClr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576ED211-E5D6-417F-BB0E-028894422E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225" y="1529886"/>
                <a:ext cx="10515600" cy="2259401"/>
              </a:xfrm>
              <a:prstGeom prst="rect">
                <a:avLst/>
              </a:prstGeom>
              <a:blipFill rotWithShape="1">
                <a:blip r:embed="rId2"/>
                <a:stretch>
                  <a:fillRect l="-464" t="-1348" b="-242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31" name="Picture 7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7874" y="3949613"/>
            <a:ext cx="3345392" cy="28091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32" name="Picture 8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05008" y="3949613"/>
            <a:ext cx="3345392" cy="28091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481482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FBAFC95C-B5BB-4F4F-A3B0-10F9D05EB5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00000" y="6120000"/>
            <a:ext cx="2743200" cy="365125"/>
          </a:xfrm>
        </p:spPr>
        <p:txBody>
          <a:bodyPr lIns="0" tIns="36000" rIns="0" bIns="36000"/>
          <a:lstStyle/>
          <a:p>
            <a:fld id="{8346BD07-4451-4F99-9781-57091C949674}" type="slidenum">
              <a:rPr lang="ru-RU" sz="1400" b="1" smtClean="0">
                <a:solidFill>
                  <a:schemeClr val="accent6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fld>
            <a:endParaRPr lang="ru-RU" sz="1400" b="1" dirty="0">
              <a:solidFill>
                <a:schemeClr val="accent6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EA27BE69-5415-4B28-A51B-00E21CE4C7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0000" y="0"/>
            <a:ext cx="10515600" cy="925195"/>
          </a:xfrm>
        </p:spPr>
        <p:txBody>
          <a:bodyPr>
            <a:normAutofit/>
          </a:bodyPr>
          <a:lstStyle/>
          <a:p>
            <a:pPr algn="ctr"/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Математическая модель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A4E347E-A942-4BFB-9D3C-24D988F3E476}"/>
                  </a:ext>
                </a:extLst>
              </p:cNvPr>
              <p:cNvSpPr txBox="1"/>
              <p:nvPr/>
            </p:nvSpPr>
            <p:spPr>
              <a:xfrm>
                <a:off x="332815" y="796158"/>
                <a:ext cx="10515600" cy="47034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Основные понятия </a:t>
                </a:r>
                <a:r>
                  <a:rPr lang="ru-RU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</a:p>
              <a:p>
                <a:endParaRPr lang="ru-RU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ru-RU" b="1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Прямая на плоскости  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𝑃</m:t>
                        </m:r>
                      </m:e>
                    </m:acc>
                    <m:r>
                      <a:rPr lang="ru-RU" i="1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=</m:t>
                    </m:r>
                    <m:acc>
                      <m:accPr>
                        <m:chr m:val="⃗"/>
                        <m:ctrlPr>
                          <a:rPr lang="ru-RU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ru-RU" i="1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ru-RU" i="1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ru-RU" i="1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0</m:t>
                            </m:r>
                          </m:sub>
                        </m:sSub>
                      </m:e>
                    </m:acc>
                    <m:r>
                      <a:rPr lang="ru-RU" i="1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+</m:t>
                    </m:r>
                    <m:r>
                      <a:rPr lang="ru-RU" i="1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𝑡</m:t>
                    </m:r>
                    <m:r>
                      <a:rPr lang="ru-RU" i="1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∙</m:t>
                    </m:r>
                    <m:acc>
                      <m:accPr>
                        <m:chr m:val="⃗"/>
                        <m:ctrlPr>
                          <a:rPr lang="ru-RU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accPr>
                      <m:e>
                        <m:r>
                          <a:rPr lang="ru-RU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𝑅</m:t>
                        </m:r>
                      </m:e>
                    </m:acc>
                  </m:oMath>
                </a14:m>
                <a:r>
                  <a:rPr lang="ru-RU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 , где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accPr>
                      <m:e>
                        <m:r>
                          <a:rPr lang="ru-RU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𝑃</m:t>
                        </m:r>
                      </m:e>
                    </m:acc>
                  </m:oMath>
                </a14:m>
                <a:r>
                  <a:rPr lang="ru-RU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– радиус-вектор произвольной точки, лежащей на прямой;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ru-RU" i="1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ru-RU" i="1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ru-RU" i="1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0</m:t>
                            </m:r>
                          </m:sub>
                        </m:sSub>
                      </m:e>
                    </m:acc>
                  </m:oMath>
                </a14:m>
                <a:r>
                  <a:rPr lang="ru-RU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– радиус-вектор некоторой начальной (фиксированной) точки, лежащей на прямой; 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accPr>
                      <m:e>
                        <m:r>
                          <a:rPr lang="ru-RU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𝑅</m:t>
                        </m:r>
                      </m:e>
                    </m:acc>
                  </m:oMath>
                </a14:m>
                <a:r>
                  <a:rPr lang="ru-RU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– направляющий ненулевой вектор, коллинеарный этой прямой; </a:t>
                </a:r>
              </a:p>
              <a:p>
                <a:r>
                  <a:rPr lang="en-US" i="1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t</a:t>
                </a:r>
                <a:r>
                  <a:rPr lang="ru-RU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– параметр (вещественное число),  -∞ &lt; </a:t>
                </a:r>
                <a:r>
                  <a:rPr lang="en-US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t</a:t>
                </a:r>
                <a:r>
                  <a:rPr lang="ru-RU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&lt; +∞.</a:t>
                </a:r>
              </a:p>
              <a:p>
                <a:endParaRPr lang="ru-RU" dirty="0">
                  <a:solidFill>
                    <a:schemeClr val="tx1"/>
                  </a:solidFill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ru-RU" b="1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Векторное параметрическое уравнение </a:t>
                </a:r>
                <a:r>
                  <a:rPr lang="ru-RU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прямой в декартовых </a:t>
                </a:r>
                <a:endParaRPr lang="en-US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ru-RU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Координатах</a:t>
                </a:r>
                <a:r>
                  <a:rPr lang="en-US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(</a:t>
                </a:r>
                <a:r>
                  <a:rPr lang="en-US" i="1" dirty="0" err="1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Px</a:t>
                </a:r>
                <a:r>
                  <a:rPr lang="en-US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и </a:t>
                </a:r>
                <a:r>
                  <a:rPr lang="en-US" i="1" dirty="0" err="1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Py</a:t>
                </a:r>
                <a:r>
                  <a:rPr lang="en-US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– координаты произвольной точки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accPr>
                      <m:e>
                        <m:r>
                          <a:rPr lang="ru-RU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𝑃</m:t>
                        </m:r>
                      </m:e>
                    </m:acc>
                  </m:oMath>
                </a14:m>
                <a:r>
                  <a:rPr lang="ru-RU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):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"/>
                          <m:ctrlPr>
                            <a:rPr lang="ru-RU" i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ru-RU" i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effectLst/>
                                  <a:latin typeface="Cambria Math"/>
                                  <a:ea typeface="Times New Roman" panose="02020603050405020304" pitchFamily="18" charset="0"/>
                                </a:rPr>
                                <m:t>𝑃</m:t>
                              </m:r>
                              <m:r>
                                <a:rPr lang="ru-RU" i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</a:rPr>
                                <m:t>𝑥</m:t>
                              </m:r>
                              <m:r>
                                <a:rPr lang="ru-RU" i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</a:rPr>
                                <m:t>=</m:t>
                              </m:r>
                              <m:r>
                                <a:rPr lang="ru-RU" i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</a:rPr>
                                <m:t>𝑃</m:t>
                              </m:r>
                              <m:r>
                                <a:rPr lang="ru-RU" i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</a:rPr>
                                <m:t>0</m:t>
                              </m:r>
                              <m:r>
                                <a:rPr lang="ru-RU" i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</a:rPr>
                                <m:t>𝑥</m:t>
                              </m:r>
                              <m:r>
                                <a:rPr lang="ru-RU" i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</a:rPr>
                                <m:t>+</m:t>
                              </m:r>
                              <m:r>
                                <a:rPr lang="ru-RU" i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</a:rPr>
                                <m:t>𝑡</m:t>
                              </m:r>
                              <m:r>
                                <a:rPr lang="ru-RU" i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</a:rPr>
                                <m:t>∙</m:t>
                              </m:r>
                              <m:r>
                                <a:rPr lang="ru-RU" i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</a:rPr>
                                <m:t>𝑅𝑥</m:t>
                              </m:r>
                            </m:e>
                            <m:e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effectLst/>
                                  <a:latin typeface="Cambria Math"/>
                                  <a:ea typeface="Times New Roman" panose="02020603050405020304" pitchFamily="18" charset="0"/>
                                </a:rPr>
                                <m:t>𝑃</m:t>
                              </m:r>
                              <m:r>
                                <a:rPr lang="ru-RU" i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</a:rPr>
                                <m:t>𝑦</m:t>
                              </m:r>
                              <m:r>
                                <a:rPr lang="ru-RU" i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</a:rPr>
                                <m:t>=</m:t>
                              </m:r>
                              <m:r>
                                <a:rPr lang="ru-RU" i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</a:rPr>
                                <m:t>𝑃</m:t>
                              </m:r>
                              <m:r>
                                <a:rPr lang="ru-RU" i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</a:rPr>
                                <m:t>0</m:t>
                              </m:r>
                              <m:r>
                                <a:rPr lang="ru-RU" i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</a:rPr>
                                <m:t>𝑦</m:t>
                              </m:r>
                              <m:r>
                                <a:rPr lang="ru-RU" i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</a:rPr>
                                <m:t>+</m:t>
                              </m:r>
                              <m:r>
                                <a:rPr lang="ru-RU" i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</a:rPr>
                                <m:t>𝑡</m:t>
                              </m:r>
                              <m:r>
                                <a:rPr lang="ru-RU" i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</a:rPr>
                                <m:t>∙</m:t>
                              </m:r>
                              <m:r>
                                <a:rPr lang="ru-RU" i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</a:rPr>
                                <m:t>𝑅𝑦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ru-RU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ru-RU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just"/>
                <a:r>
                  <a:rPr lang="ru-RU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Расстояние от начальной точки до произвольной точки на прямой равно:</a:t>
                </a:r>
                <a:endParaRPr lang="ru-RU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𝐿</m:t>
                      </m:r>
                      <m:r>
                        <a:rPr lang="en-US" i="1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ru-RU" i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ru-RU" i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𝑃</m:t>
                              </m:r>
                            </m:e>
                          </m:acc>
                          <m:r>
                            <a:rPr lang="en-US" i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acc>
                            <m:accPr>
                              <m:chr m:val="⃗"/>
                              <m:ctrlPr>
                                <a:rPr lang="ru-RU" i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acc>
                        </m:e>
                      </m:d>
                      <m:r>
                        <a:rPr lang="en-US" i="1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ru-RU" i="1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𝑡</m:t>
                      </m:r>
                      <m:r>
                        <a:rPr lang="ru-RU" i="1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∙</m:t>
                      </m:r>
                      <m:d>
                        <m:dPr>
                          <m:begChr m:val="|"/>
                          <m:endChr m:val="|"/>
                          <m:ctrlPr>
                            <a:rPr lang="ru-RU" i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ru-RU" i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ru-RU" i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𝑅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ru-RU" dirty="0">
                  <a:solidFill>
                    <a:schemeClr val="accent6">
                      <a:lumMod val="50000"/>
                    </a:schemeClr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342900" indent="-342900">
                  <a:buAutoNum type="arabicPeriod" startAt="2"/>
                </a:pPr>
                <a:endParaRPr lang="ru-RU" dirty="0">
                  <a:solidFill>
                    <a:schemeClr val="accent6">
                      <a:lumMod val="50000"/>
                    </a:schemeClr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AA4E347E-A942-4BFB-9D3C-24D988F3E4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2815" y="796158"/>
                <a:ext cx="10515600" cy="4703403"/>
              </a:xfrm>
              <a:prstGeom prst="rect">
                <a:avLst/>
              </a:prstGeom>
              <a:blipFill rotWithShape="1">
                <a:blip r:embed="rId2"/>
                <a:stretch>
                  <a:fillRect l="-522" t="-64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52809" y="2637896"/>
            <a:ext cx="3981450" cy="33432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4567778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6730CDAA-C08A-448B-A4EC-6044C66B6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00000" y="6120000"/>
            <a:ext cx="2743200" cy="365125"/>
          </a:xfrm>
        </p:spPr>
        <p:txBody>
          <a:bodyPr lIns="0" tIns="36000" rIns="0" bIns="36000"/>
          <a:lstStyle/>
          <a:p>
            <a:fld id="{8346BD07-4451-4F99-9781-57091C949674}" type="slidenum">
              <a:rPr lang="ru-RU" sz="1400" b="1" smtClean="0">
                <a:solidFill>
                  <a:schemeClr val="accent6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fld>
            <a:endParaRPr lang="ru-RU" sz="1400" b="1" dirty="0">
              <a:solidFill>
                <a:schemeClr val="accent6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ACFABECA-3D57-44E1-AE6B-613E079A4C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0000" y="0"/>
            <a:ext cx="10515600" cy="925195"/>
          </a:xfrm>
        </p:spPr>
        <p:txBody>
          <a:bodyPr>
            <a:normAutofit/>
          </a:bodyPr>
          <a:lstStyle/>
          <a:p>
            <a:pPr algn="ctr"/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Математическая модель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842304-63BE-469E-AAA5-279122C6C9C1}"/>
                  </a:ext>
                </a:extLst>
              </p:cNvPr>
              <p:cNvSpPr txBox="1"/>
              <p:nvPr/>
            </p:nvSpPr>
            <p:spPr>
              <a:xfrm>
                <a:off x="437757" y="1115120"/>
                <a:ext cx="10515600" cy="361586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Действия с векторами:</a:t>
                </a:r>
              </a:p>
              <a:p>
                <a:endParaRPr lang="ru-RU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ru-RU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1. Умножение вектора на константу  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𝑉</m:t>
                        </m:r>
                        <m:r>
                          <a:rPr lang="ru-RU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1</m:t>
                        </m:r>
                      </m:e>
                    </m:acc>
                    <m:r>
                      <a:rPr lang="ru-RU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𝑎</m:t>
                    </m:r>
                    <m:r>
                      <a:rPr lang="ru-RU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∙</m:t>
                    </m:r>
                    <m:acc>
                      <m:accPr>
                        <m:chr m:val="⃗"/>
                        <m:ctrlPr>
                          <a:rPr lang="ru-RU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𝑉</m:t>
                        </m:r>
                      </m:e>
                    </m:acc>
                    <m:r>
                      <a:rPr lang="ru-RU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=</m:t>
                    </m:r>
                    <m:d>
                      <m:dPr>
                        <m:ctrlPr>
                          <a:rPr lang="ru-RU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𝑎</m:t>
                        </m:r>
                        <m:r>
                          <a:rPr lang="ru-RU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∙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𝑉𝑥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𝑎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∙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𝑉𝑦</m:t>
                        </m:r>
                      </m:e>
                    </m:d>
                  </m:oMath>
                </a14:m>
                <a:endParaRPr lang="ru-RU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ru-RU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ru-RU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2. </a:t>
                </a:r>
                <a:r>
                  <a:rPr lang="ru-RU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Сложение/Вычитание векторов</a:t>
                </a:r>
                <a:r>
                  <a:rPr lang="ru-RU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𝑉</m:t>
                        </m:r>
                      </m:e>
                    </m:acc>
                    <m:r>
                      <a:rPr lang="en-US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acc>
                      <m:accPr>
                        <m:chr m:val="⃗"/>
                        <m:ctrlPr>
                          <a:rPr lang="ru-RU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𝑉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e>
                    </m:acc>
                    <m:r>
                      <a:rPr lang="en-US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±</m:t>
                    </m:r>
                    <m:acc>
                      <m:accPr>
                        <m:chr m:val="⃗"/>
                        <m:ctrlPr>
                          <a:rPr lang="ru-RU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𝑉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e>
                    </m:acc>
                    <m:r>
                      <a:rPr lang="en-US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d>
                      <m:dPr>
                        <m:ctrlPr>
                          <a:rPr lang="ru-RU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𝑉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±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𝑉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𝑉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±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𝑉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e>
                    </m:d>
                  </m:oMath>
                </a14:m>
                <a:endParaRPr lang="ru-RU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ru-RU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ru-RU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3. </a:t>
                </a:r>
                <a:r>
                  <a:rPr lang="ru-RU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Скалярное произведение      </a:t>
                </a:r>
                <a:r>
                  <a:rPr lang="ru-RU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ru-RU" b="0" i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𝑆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acc>
                      <m:accPr>
                        <m:chr m:val="⃗"/>
                        <m:ctrlPr>
                          <a:rPr lang="ru-RU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𝑉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e>
                    </m:acc>
                    <m:r>
                      <a:rPr lang="en-US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∙</m:t>
                    </m:r>
                    <m:acc>
                      <m:accPr>
                        <m:chr m:val="⃗"/>
                        <m:ctrlPr>
                          <a:rPr lang="ru-RU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𝑉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e>
                    </m:acc>
                    <m:r>
                      <a:rPr lang="en-US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ru-RU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ru-RU" i="1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𝑉</m:t>
                            </m:r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1</m:t>
                            </m:r>
                          </m:e>
                        </m:acc>
                      </m:e>
                    </m:d>
                    <m:r>
                      <a:rPr lang="en-US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∙</m:t>
                    </m:r>
                    <m:d>
                      <m:dPr>
                        <m:begChr m:val="|"/>
                        <m:endChr m:val="|"/>
                        <m:ctrlPr>
                          <a:rPr lang="ru-RU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ru-RU" i="1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𝑉</m:t>
                            </m:r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e>
                        </m:acc>
                      </m:e>
                    </m:d>
                    <m:r>
                      <a:rPr lang="en-US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∙</m:t>
                    </m:r>
                    <m:func>
                      <m:funcPr>
                        <m:ctrlPr>
                          <a:rPr lang="ru-RU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en-US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𝑐𝑜𝑠</m:t>
                        </m:r>
                      </m:fName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𝛼</m:t>
                        </m:r>
                      </m:e>
                    </m:func>
                  </m:oMath>
                </a14:m>
                <a:endParaRPr lang="ru-RU" dirty="0">
                  <a:solidFill>
                    <a:schemeClr val="tx1"/>
                  </a:solidFill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ru-RU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в</a:t>
                </a:r>
                <a:r>
                  <a:rPr lang="ru-RU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декартовых координатах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𝑆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acc>
                      <m:accPr>
                        <m:chr m:val="⃗"/>
                        <m:ctrlPr>
                          <a:rPr lang="ru-RU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𝑉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e>
                    </m:acc>
                    <m:r>
                      <a:rPr lang="en-US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∙</m:t>
                    </m:r>
                    <m:acc>
                      <m:accPr>
                        <m:chr m:val="⃗"/>
                        <m:ctrlPr>
                          <a:rPr lang="ru-RU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𝑉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e>
                    </m:acc>
                    <m:r>
                      <a:rPr lang="en-US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𝑉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1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∙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𝑉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2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+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𝑉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1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𝑦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∙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𝑉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2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𝑦</m:t>
                    </m:r>
                  </m:oMath>
                </a14:m>
                <a:endParaRPr lang="ru-RU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ru-RU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ru-RU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Свойство скалярного произведения:    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𝑆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acc>
                      <m:accPr>
                        <m:chr m:val="⃗"/>
                        <m:ctrlPr>
                          <a:rPr lang="ru-RU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𝑉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e>
                    </m:acc>
                    <m:r>
                      <a:rPr lang="en-US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∙</m:t>
                    </m:r>
                    <m:acc>
                      <m:accPr>
                        <m:chr m:val="⃗"/>
                        <m:ctrlPr>
                          <a:rPr lang="ru-RU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𝑉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e>
                    </m:acc>
                    <m:r>
                      <a:rPr lang="en-US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acc>
                      <m:accPr>
                        <m:chr m:val="⃗"/>
                        <m:ctrlPr>
                          <a:rPr lang="ru-RU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𝑉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e>
                    </m:acc>
                    <m:r>
                      <a:rPr lang="en-US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∙</m:t>
                    </m:r>
                    <m:acc>
                      <m:accPr>
                        <m:chr m:val="⃗"/>
                        <m:ctrlPr>
                          <a:rPr lang="ru-RU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𝑉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e>
                    </m:acc>
                  </m:oMath>
                </a14:m>
                <a:endParaRPr lang="ru-RU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ru-RU" b="1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ru-RU" dirty="0">
                  <a:solidFill>
                    <a:schemeClr val="accent6">
                      <a:lumMod val="50000"/>
                    </a:schemeClr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E4842304-63BE-469E-AAA5-279122C6C9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757" y="1115120"/>
                <a:ext cx="10515600" cy="3615862"/>
              </a:xfrm>
              <a:prstGeom prst="rect">
                <a:avLst/>
              </a:prstGeom>
              <a:blipFill rotWithShape="1">
                <a:blip r:embed="rId2"/>
                <a:stretch>
                  <a:fillRect l="-522" t="-84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49142" y="724489"/>
            <a:ext cx="3446991" cy="289448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076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68721" y="3869266"/>
            <a:ext cx="3427412" cy="26199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4841663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3ECC5A9-CF0D-4AA7-BE35-A0E8630218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00000" y="6120000"/>
            <a:ext cx="2743200" cy="365125"/>
          </a:xfrm>
        </p:spPr>
        <p:txBody>
          <a:bodyPr lIns="0" tIns="36000" rIns="0" bIns="36000"/>
          <a:lstStyle/>
          <a:p>
            <a:fld id="{8346BD07-4451-4F99-9781-57091C949674}" type="slidenum">
              <a:rPr lang="ru-RU" sz="1400" b="1" smtClean="0">
                <a:solidFill>
                  <a:schemeClr val="accent6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fld>
            <a:endParaRPr lang="ru-RU" sz="1400" b="1" dirty="0">
              <a:solidFill>
                <a:schemeClr val="accent6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F8A4A1DA-F6ED-4A9B-8B76-1340F15262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0000" y="0"/>
            <a:ext cx="10515600" cy="925195"/>
          </a:xfrm>
        </p:spPr>
        <p:txBody>
          <a:bodyPr>
            <a:normAutofit/>
          </a:bodyPr>
          <a:lstStyle/>
          <a:p>
            <a:pPr algn="ctr"/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Математическая модель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9EEE37A-3ADB-438A-A90F-2B8DD55F92F1}"/>
                  </a:ext>
                </a:extLst>
              </p:cNvPr>
              <p:cNvSpPr txBox="1"/>
              <p:nvPr/>
            </p:nvSpPr>
            <p:spPr>
              <a:xfrm>
                <a:off x="350520" y="812806"/>
                <a:ext cx="10515600" cy="40555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Действия с векторами:</a:t>
                </a:r>
              </a:p>
              <a:p>
                <a:endParaRPr lang="ru-RU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ru-RU" b="1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Векторное произведение </a:t>
                </a:r>
                <a:r>
                  <a:rPr lang="ru-RU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– это </a:t>
                </a:r>
                <a:r>
                  <a:rPr lang="ru-RU" b="1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вектор 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ru-RU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acc>
                    <m:r>
                      <a:rPr lang="ru-RU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  <m:ctrlPr>
                          <a:rPr lang="ru-RU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ru-RU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ru-RU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acc>
                    <m:r>
                      <a:rPr lang="ru-RU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×</m:t>
                    </m:r>
                    <m:acc>
                      <m:accPr>
                        <m:chr m:val="⃗"/>
                        <m:ctrlPr>
                          <a:rPr lang="ru-RU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ru-RU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ru-RU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acc>
                  </m:oMath>
                </a14:m>
                <a:r>
                  <a:rPr lang="ru-RU" b="1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, </a:t>
                </a:r>
                <a:r>
                  <a:rPr lang="ru-RU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определяемый следующими тремя условиями:</a:t>
                </a:r>
              </a:p>
              <a:p>
                <a:r>
                  <a:rPr lang="ru-RU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1) модуль вектора </a:t>
                </a:r>
                <a:r>
                  <a:rPr lang="en-US" b="1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V</a:t>
                </a:r>
                <a:r>
                  <a:rPr lang="ru-RU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равен</a:t>
                </a:r>
                <a:r>
                  <a:rPr lang="en-US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ru-RU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ru-RU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ru-RU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acc>
                      </m:e>
                    </m:d>
                    <m:r>
                      <a:rPr lang="ru-RU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ru-RU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ru-RU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ru-RU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  <m:r>
                              <a:rPr lang="ru-RU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acc>
                      </m:e>
                    </m:d>
                    <m:r>
                      <a:rPr lang="ru-RU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∙</m:t>
                    </m:r>
                    <m:d>
                      <m:dPr>
                        <m:begChr m:val="|"/>
                        <m:endChr m:val="|"/>
                        <m:ctrlPr>
                          <a:rPr lang="ru-RU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ru-RU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ru-RU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  <m:r>
                              <a:rPr lang="ru-RU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acc>
                      </m:e>
                    </m:d>
                    <m:r>
                      <a:rPr lang="ru-RU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∙</m:t>
                    </m:r>
                    <m:func>
                      <m:funcPr>
                        <m:ctrlPr>
                          <a:rPr lang="ru-RU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ru-RU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ru-RU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</m:func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,  где </a:t>
                </a:r>
                <a14:m>
                  <m:oMath xmlns:m="http://schemas.openxmlformats.org/officeDocument/2006/math">
                    <m:r>
                      <a:rPr lang="ru-RU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r>
                      <a:rPr lang="ru-RU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- угол между векторами;</a:t>
                </a:r>
                <a:r>
                  <a:rPr lang="ru-RU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  <a:p>
                <a:r>
                  <a:rPr lang="ru-RU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2)</a:t>
                </a:r>
                <a:r>
                  <a:rPr lang="ru-RU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вектор </a:t>
                </a:r>
                <a:r>
                  <a:rPr lang="en-US" b="1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V</a:t>
                </a:r>
                <a:r>
                  <a:rPr lang="ru-RU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перпендикулярен к каждому из векторов;</a:t>
                </a:r>
              </a:p>
              <a:p>
                <a:r>
                  <a:rPr lang="ru-RU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3) направление вектора </a:t>
                </a:r>
                <a:r>
                  <a:rPr lang="en-US" b="1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V</a:t>
                </a:r>
                <a:r>
                  <a:rPr lang="ru-RU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соответствует «правилу правой руки»</a:t>
                </a:r>
                <a:r>
                  <a:rPr lang="ru-RU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      </a:t>
                </a:r>
              </a:p>
              <a:p>
                <a:r>
                  <a:rPr lang="ru-RU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  </a:t>
                </a:r>
                <a:r>
                  <a:rPr lang="ru-RU" b="1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endParaRPr lang="ru-RU" b="1" dirty="0">
                  <a:solidFill>
                    <a:schemeClr val="tx1"/>
                  </a:solidFill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ru-RU" b="1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Векторное произведение в декартовых координатах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ru-RU" i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𝑉</m:t>
                          </m:r>
                        </m:e>
                      </m:acc>
                      <m:r>
                        <a:rPr lang="ru-RU" i="1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acc>
                        <m:accPr>
                          <m:chr m:val="⃗"/>
                          <m:ctrlPr>
                            <a:rPr lang="ru-RU" i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ru-RU" i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𝑉</m:t>
                          </m:r>
                          <m:r>
                            <a:rPr lang="ru-RU" i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e>
                      </m:acc>
                      <m:r>
                        <a:rPr lang="ru-RU" i="1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×</m:t>
                      </m:r>
                      <m:acc>
                        <m:accPr>
                          <m:chr m:val="⃗"/>
                          <m:ctrlPr>
                            <a:rPr lang="ru-RU" i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ru-RU" i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𝑉</m:t>
                          </m:r>
                          <m:r>
                            <a:rPr lang="ru-RU" i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e>
                      </m:acc>
                      <m:r>
                        <a:rPr lang="ru-RU" i="1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ru-RU" i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i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ru-RU" i="1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𝑉</m:t>
                                </m:r>
                                <m:r>
                                  <a:rPr lang="ru-RU" i="1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1</m:t>
                                </m:r>
                                <m:r>
                                  <a:rPr lang="ru-RU" i="1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𝑦</m:t>
                                </m:r>
                                <m:r>
                                  <a:rPr lang="ru-RU" i="1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∙</m:t>
                                </m:r>
                                <m:r>
                                  <a:rPr lang="ru-RU" i="1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𝑉</m:t>
                                </m:r>
                                <m:r>
                                  <a:rPr lang="ru-RU" i="1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2</m:t>
                                </m:r>
                                <m:r>
                                  <a:rPr lang="ru-RU" i="1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𝑧</m:t>
                                </m:r>
                                <m:r>
                                  <a:rPr lang="ru-RU" i="1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r>
                                  <a:rPr lang="ru-RU" i="1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𝑉</m:t>
                                </m:r>
                                <m:r>
                                  <a:rPr lang="ru-RU" i="1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2</m:t>
                                </m:r>
                                <m:r>
                                  <a:rPr lang="ru-RU" i="1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𝑦</m:t>
                                </m:r>
                                <m:r>
                                  <a:rPr lang="ru-RU" i="1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∙</m:t>
                                </m:r>
                                <m:r>
                                  <a:rPr lang="ru-RU" i="1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𝑉</m:t>
                                </m:r>
                                <m:r>
                                  <a:rPr lang="ru-RU" i="1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1</m:t>
                                </m:r>
                                <m:r>
                                  <a:rPr lang="ru-RU" i="1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𝑧</m:t>
                                </m:r>
                              </m:e>
                            </m:mr>
                            <m:mr>
                              <m:e>
                                <m:r>
                                  <a:rPr lang="ru-RU" i="1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r>
                                  <a:rPr lang="ru-RU" i="1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𝑉</m:t>
                                </m:r>
                                <m:r>
                                  <a:rPr lang="ru-RU" i="1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1</m:t>
                                </m:r>
                                <m:r>
                                  <a:rPr lang="ru-RU" i="1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𝑥</m:t>
                                </m:r>
                                <m:r>
                                  <a:rPr lang="ru-RU" i="1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∙</m:t>
                                </m:r>
                                <m:r>
                                  <a:rPr lang="ru-RU" i="1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𝑉</m:t>
                                </m:r>
                                <m:r>
                                  <a:rPr lang="ru-RU" i="1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2</m:t>
                                </m:r>
                                <m:r>
                                  <a:rPr lang="ru-RU" i="1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𝑧</m:t>
                                </m:r>
                                <m:r>
                                  <a:rPr lang="ru-RU" i="1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+</m:t>
                                </m:r>
                                <m:r>
                                  <a:rPr lang="ru-RU" i="1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𝑉</m:t>
                                </m:r>
                                <m:r>
                                  <a:rPr lang="ru-RU" i="1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2</m:t>
                                </m:r>
                                <m:r>
                                  <a:rPr lang="ru-RU" i="1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𝑥</m:t>
                                </m:r>
                                <m:r>
                                  <a:rPr lang="ru-RU" i="1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∙</m:t>
                                </m:r>
                                <m:r>
                                  <a:rPr lang="ru-RU" i="1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𝑉</m:t>
                                </m:r>
                                <m:r>
                                  <a:rPr lang="ru-RU" i="1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1</m:t>
                                </m:r>
                                <m:r>
                                  <a:rPr lang="ru-RU" i="1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𝑧</m:t>
                                </m:r>
                              </m:e>
                            </m:mr>
                            <m:mr>
                              <m:e>
                                <m:r>
                                  <a:rPr lang="ru-RU" i="1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𝑉</m:t>
                                </m:r>
                                <m:r>
                                  <a:rPr lang="ru-RU" i="1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1</m:t>
                                </m:r>
                                <m:r>
                                  <a:rPr lang="ru-RU" i="1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𝑥</m:t>
                                </m:r>
                                <m:r>
                                  <a:rPr lang="ru-RU" i="1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∙</m:t>
                                </m:r>
                                <m:r>
                                  <a:rPr lang="ru-RU" i="1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𝑉</m:t>
                                </m:r>
                                <m:r>
                                  <a:rPr lang="ru-RU" i="1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2</m:t>
                                </m:r>
                                <m:r>
                                  <a:rPr lang="ru-RU" i="1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𝑦</m:t>
                                </m:r>
                                <m:r>
                                  <a:rPr lang="ru-RU" i="1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r>
                                  <a:rPr lang="ru-RU" i="1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𝑉</m:t>
                                </m:r>
                                <m:r>
                                  <a:rPr lang="ru-RU" i="1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2</m:t>
                                </m:r>
                                <m:r>
                                  <a:rPr lang="ru-RU" i="1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𝑥</m:t>
                                </m:r>
                                <m:r>
                                  <a:rPr lang="ru-RU" i="1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∙</m:t>
                                </m:r>
                                <m:r>
                                  <a:rPr lang="ru-RU" i="1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𝑉</m:t>
                                </m:r>
                                <m:r>
                                  <a:rPr lang="ru-RU" i="1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1</m:t>
                                </m:r>
                                <m:r>
                                  <a:rPr lang="ru-RU" i="1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𝑦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ru-RU" b="1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342900" indent="-342900">
                  <a:buAutoNum type="arabicPeriod"/>
                </a:pPr>
                <a:endParaRPr lang="ru-RU" b="1" dirty="0">
                  <a:solidFill>
                    <a:schemeClr val="tx1"/>
                  </a:solidFill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ru-RU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Свойство векторного произведения</a:t>
                </a:r>
                <a:r>
                  <a:rPr lang="ru-RU" b="1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   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𝑉</m:t>
                        </m:r>
                      </m:e>
                    </m:acc>
                    <m:r>
                      <a:rPr lang="en-US" i="1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acc>
                      <m:accPr>
                        <m:chr m:val="⃗"/>
                        <m:ctrlPr>
                          <a:rPr lang="ru-RU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𝑉</m:t>
                        </m:r>
                        <m:r>
                          <a:rPr lang="en-US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e>
                    </m:acc>
                    <m:r>
                      <a:rPr lang="en-US" i="1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×</m:t>
                    </m:r>
                    <m:acc>
                      <m:accPr>
                        <m:chr m:val="⃗"/>
                        <m:ctrlPr>
                          <a:rPr lang="ru-RU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𝑉</m:t>
                        </m:r>
                        <m:r>
                          <a:rPr lang="en-US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e>
                    </m:acc>
                    <m:r>
                      <a:rPr lang="en-US" i="1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=−</m:t>
                    </m:r>
                    <m:acc>
                      <m:accPr>
                        <m:chr m:val="⃗"/>
                        <m:ctrlPr>
                          <a:rPr lang="ru-RU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𝑉</m:t>
                        </m:r>
                        <m:r>
                          <a:rPr lang="en-US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e>
                    </m:acc>
                    <m:r>
                      <a:rPr lang="en-US" i="1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×</m:t>
                    </m:r>
                    <m:acc>
                      <m:accPr>
                        <m:chr m:val="⃗"/>
                        <m:ctrlPr>
                          <a:rPr lang="ru-RU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𝑉</m:t>
                        </m:r>
                        <m:r>
                          <a:rPr lang="en-US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e>
                    </m:acc>
                  </m:oMath>
                </a14:m>
                <a:endParaRPr lang="ru-RU" b="1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ru-RU" dirty="0">
                  <a:solidFill>
                    <a:schemeClr val="accent6">
                      <a:lumMod val="50000"/>
                    </a:schemeClr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69EEE37A-3ADB-438A-A90F-2B8DD55F92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520" y="812806"/>
                <a:ext cx="10515600" cy="4055597"/>
              </a:xfrm>
              <a:prstGeom prst="rect">
                <a:avLst/>
              </a:prstGeom>
              <a:blipFill rotWithShape="1">
                <a:blip r:embed="rId2"/>
                <a:stretch>
                  <a:fillRect l="-522" t="-75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5">
            <a:extLst>
              <a:ext uri="{FF2B5EF4-FFF2-40B4-BE49-F238E27FC236}">
                <a16:creationId xmlns:a16="http://schemas.microsoft.com/office/drawing/2014/main" id="{D137259D-14B3-42B9-8294-738E497E53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sp>
        <p:nvSpPr>
          <p:cNvPr id="13" name="Rectangle 7">
            <a:extLst>
              <a:ext uri="{FF2B5EF4-FFF2-40B4-BE49-F238E27FC236}">
                <a16:creationId xmlns:a16="http://schemas.microsoft.com/office/drawing/2014/main" id="{923B5232-C3F7-4595-93C4-80512AEA4B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A1BE00E2-835C-4696-A812-33113091A342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11678" y="3076576"/>
            <a:ext cx="3692642" cy="299085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5025096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D277C7EA-713D-401F-9E53-1997F10557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00000" y="6120000"/>
            <a:ext cx="2743200" cy="365125"/>
          </a:xfrm>
        </p:spPr>
        <p:txBody>
          <a:bodyPr lIns="0" tIns="36000" rIns="0" bIns="36000"/>
          <a:lstStyle/>
          <a:p>
            <a:fld id="{8346BD07-4451-4F99-9781-57091C949674}" type="slidenum">
              <a:rPr lang="ru-RU" sz="1400" b="1" smtClean="0">
                <a:solidFill>
                  <a:schemeClr val="accent6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fld>
            <a:endParaRPr lang="ru-RU" sz="1400" b="1" dirty="0">
              <a:solidFill>
                <a:schemeClr val="accent6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DC037C96-BC44-4769-A3EE-F096FB7F31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0000" y="0"/>
            <a:ext cx="10515600" cy="925195"/>
          </a:xfrm>
        </p:spPr>
        <p:txBody>
          <a:bodyPr>
            <a:normAutofit/>
          </a:bodyPr>
          <a:lstStyle/>
          <a:p>
            <a:pPr algn="ctr"/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Математическая модель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873741B-1165-494E-AF14-59D3D9B4660A}"/>
                  </a:ext>
                </a:extLst>
              </p:cNvPr>
              <p:cNvSpPr txBox="1"/>
              <p:nvPr/>
            </p:nvSpPr>
            <p:spPr>
              <a:xfrm>
                <a:off x="340360" y="784287"/>
                <a:ext cx="10515600" cy="60379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Действия с векторами:</a:t>
                </a:r>
                <a:endParaRPr lang="en-US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ru-RU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Векторное произведение всегда трехмерное.</a:t>
                </a:r>
                <a:r>
                  <a:rPr lang="ru-RU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Аналогом векторного произведения на плоскости – косое произведение.</a:t>
                </a:r>
              </a:p>
              <a:p>
                <a:endParaRPr lang="ru-RU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ru-RU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Произведение векторов на плоскости - </a:t>
                </a:r>
                <a:r>
                  <a:rPr lang="ru-RU" b="1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косое произведение векторов </a:t>
                </a:r>
                <a:r>
                  <a:rPr lang="ru-RU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(ориентированная площадь параллелограмма, натянутого на перемножаемые векторы: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b="0" i="1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</a:rPr>
                        <m:t>𝑉</m:t>
                      </m:r>
                      <m:r>
                        <a:rPr lang="ru-RU" b="0" i="1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</a:rPr>
                        <m:t>=</m:t>
                      </m:r>
                      <m:acc>
                        <m:accPr>
                          <m:chr m:val="⃗"/>
                          <m:ctrlPr>
                            <a:rPr lang="ru-RU" i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lang="ru-RU" b="0" i="1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</a:rPr>
                            <m:t>𝑉</m:t>
                          </m:r>
                          <m:r>
                            <a:rPr lang="ru-RU" b="0" i="1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</a:rPr>
                            <m:t>1</m:t>
                          </m:r>
                        </m:e>
                      </m:acc>
                      <m:r>
                        <a:rPr lang="ru-RU" b="0" i="1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</a:rPr>
                        <m:t>∨</m:t>
                      </m:r>
                      <m:acc>
                        <m:accPr>
                          <m:chr m:val="⃗"/>
                          <m:ctrlPr>
                            <a:rPr lang="ru-RU" i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lang="ru-RU" b="0" i="1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</a:rPr>
                            <m:t>𝑉</m:t>
                          </m:r>
                          <m:r>
                            <a:rPr lang="ru-RU" b="0" i="1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</a:rPr>
                            <m:t>2</m:t>
                          </m:r>
                        </m:e>
                      </m:acc>
                      <m:r>
                        <a:rPr lang="ru-RU" b="0" i="1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ru-RU" i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ru-RU" i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</a:rPr>
                              </m:ctrlPr>
                            </m:accPr>
                            <m:e>
                              <m:r>
                                <a:rPr lang="ru-RU" b="0" i="1" smtClean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</a:rPr>
                                <m:t>𝑉</m:t>
                              </m:r>
                              <m:r>
                                <a:rPr lang="ru-RU" b="0" i="1" smtClean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</a:rPr>
                                <m:t>1</m:t>
                              </m:r>
                            </m:e>
                          </m:acc>
                        </m:e>
                      </m:d>
                      <m:r>
                        <a:rPr lang="ru-RU" b="0" i="1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</a:rPr>
                        <m:t>∙</m:t>
                      </m:r>
                      <m:d>
                        <m:dPr>
                          <m:begChr m:val="|"/>
                          <m:endChr m:val="|"/>
                          <m:ctrlPr>
                            <a:rPr lang="ru-RU" i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ru-RU" i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</a:rPr>
                              </m:ctrlPr>
                            </m:accPr>
                            <m:e>
                              <m:r>
                                <a:rPr lang="ru-RU" b="0" i="1" smtClean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</a:rPr>
                                <m:t>𝑉</m:t>
                              </m:r>
                              <m:r>
                                <a:rPr lang="ru-RU" b="0" i="1" smtClean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</a:rPr>
                                <m:t>2</m:t>
                              </m:r>
                            </m:e>
                          </m:acc>
                        </m:e>
                      </m:d>
                      <m:r>
                        <a:rPr lang="ru-RU" b="0" i="1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</a:rPr>
                        <m:t>∙</m:t>
                      </m:r>
                      <m:func>
                        <m:funcPr>
                          <m:ctrlPr>
                            <a:rPr lang="ru-RU" i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</a:rPr>
                          </m:ctrlPr>
                        </m:funcPr>
                        <m:fName>
                          <m:r>
                            <a:rPr lang="ru-RU" b="0" i="1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</a:rPr>
                            <m:t>𝑠𝑖𝑛</m:t>
                          </m:r>
                        </m:fName>
                        <m:e>
                          <m:r>
                            <a:rPr lang="ru-RU" b="0" i="1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</a:rPr>
                            <m:t>𝛼</m:t>
                          </m:r>
                        </m:e>
                      </m:func>
                    </m:oMath>
                  </m:oMathPara>
                </a14:m>
                <a:endParaRPr lang="ru-RU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ru-RU" dirty="0">
                  <a:solidFill>
                    <a:schemeClr val="tx1"/>
                  </a:solidFill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just"/>
                <a:r>
                  <a:rPr lang="ru-RU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«Ориентированная» площадь – имеет знак, зависящий от угла </a:t>
                </a:r>
                <a:r>
                  <a:rPr lang="en-US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a</a:t>
                </a:r>
                <a:r>
                  <a:rPr lang="ru-RU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, т.е. от порядка векторов –сомножителей:</a:t>
                </a:r>
                <a:endParaRPr lang="ru-RU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𝑉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acc>
                        <m:accPr>
                          <m:chr m:val="⃗"/>
                          <m:ctrlPr>
                            <a:rPr lang="ru-RU" i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𝑉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e>
                      </m:acc>
                      <m:r>
                        <a:rPr lang="en-US" b="0" i="1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∨</m:t>
                      </m:r>
                      <m:acc>
                        <m:accPr>
                          <m:chr m:val="⃗"/>
                          <m:ctrlPr>
                            <a:rPr lang="ru-RU" i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𝑉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e>
                      </m:acc>
                      <m:r>
                        <a:rPr lang="en-US" b="0" i="1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=−</m:t>
                      </m:r>
                      <m:acc>
                        <m:accPr>
                          <m:chr m:val="⃗"/>
                          <m:ctrlPr>
                            <a:rPr lang="ru-RU" i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𝑉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e>
                      </m:acc>
                      <m:r>
                        <a:rPr lang="en-US" b="0" i="1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∨</m:t>
                      </m:r>
                      <m:acc>
                        <m:accPr>
                          <m:chr m:val="⃗"/>
                          <m:ctrlPr>
                            <a:rPr lang="ru-RU" i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𝑉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e>
                      </m:acc>
                    </m:oMath>
                  </m:oMathPara>
                </a14:m>
                <a:endParaRPr lang="ru-RU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ru-RU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ru-RU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В декартовых координатах: 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𝑉</m:t>
                      </m:r>
                      <m:r>
                        <a:rPr lang="ru-RU" b="0" i="1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acc>
                        <m:accPr>
                          <m:chr m:val="⃗"/>
                          <m:ctrlPr>
                            <a:rPr lang="ru-RU" i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𝑉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e>
                      </m:acc>
                      <m:r>
                        <a:rPr lang="en-US" b="0" i="1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∨</m:t>
                      </m:r>
                      <m:acc>
                        <m:accPr>
                          <m:chr m:val="⃗"/>
                          <m:ctrlPr>
                            <a:rPr lang="ru-RU" i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𝑉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e>
                      </m:acc>
                      <m:r>
                        <a:rPr lang="ru-RU" b="0" i="1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𝑉</m:t>
                      </m:r>
                      <m:r>
                        <a:rPr lang="ru-RU" b="0" i="1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1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𝑥</m:t>
                      </m:r>
                      <m:r>
                        <a:rPr lang="ru-RU" b="0" i="1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∙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𝑉</m:t>
                      </m:r>
                      <m:r>
                        <a:rPr lang="ru-RU" b="0" i="1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2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𝑦</m:t>
                      </m:r>
                      <m:r>
                        <a:rPr lang="ru-RU" b="0" i="1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−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𝑉</m:t>
                      </m:r>
                      <m:r>
                        <a:rPr lang="ru-RU" b="0" i="1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2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𝑥</m:t>
                      </m:r>
                      <m:r>
                        <a:rPr lang="ru-RU" b="0" i="1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∙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𝑉</m:t>
                      </m:r>
                      <m:r>
                        <a:rPr lang="ru-RU" b="0" i="1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1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𝑦</m:t>
                      </m:r>
                    </m:oMath>
                  </m:oMathPara>
                </a14:m>
                <a:endParaRPr lang="ru-RU" dirty="0">
                  <a:solidFill>
                    <a:schemeClr val="tx1"/>
                  </a:solidFill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ru-RU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ru-RU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Определение знака угла между векторами   </a:t>
                </a:r>
              </a:p>
              <a:p>
                <a:r>
                  <a:rPr lang="ru-RU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а)  </a:t>
                </a:r>
                <a14:m>
                  <m:oMath xmlns:m="http://schemas.openxmlformats.org/officeDocument/2006/math">
                    <m:r>
                      <a:rPr lang="ru-RU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𝑉</m:t>
                    </m:r>
                    <m:r>
                      <a:rPr lang="ru-RU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1</m:t>
                    </m:r>
                    <m:r>
                      <a:rPr lang="ru-RU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𝑥</m:t>
                    </m:r>
                    <m:r>
                      <a:rPr lang="ru-RU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∙</m:t>
                    </m:r>
                    <m:r>
                      <a:rPr lang="ru-RU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𝑉</m:t>
                    </m:r>
                    <m:r>
                      <a:rPr lang="ru-RU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2</m:t>
                    </m:r>
                    <m:r>
                      <a:rPr lang="ru-RU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𝑦</m:t>
                    </m:r>
                    <m:r>
                      <a:rPr lang="ru-RU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−</m:t>
                    </m:r>
                    <m:r>
                      <a:rPr lang="ru-RU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𝑉</m:t>
                    </m:r>
                    <m:r>
                      <a:rPr lang="ru-RU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2</m:t>
                    </m:r>
                    <m:r>
                      <a:rPr lang="ru-RU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𝑥</m:t>
                    </m:r>
                    <m:r>
                      <a:rPr lang="ru-RU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∙</m:t>
                    </m:r>
                    <m:r>
                      <a:rPr lang="ru-RU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𝑉</m:t>
                    </m:r>
                    <m:r>
                      <a:rPr lang="ru-RU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1</m:t>
                    </m:r>
                    <m:r>
                      <a:rPr lang="ru-RU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𝑦</m:t>
                    </m:r>
                    <m:r>
                      <a:rPr lang="ru-RU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&lt;0→</m:t>
                    </m:r>
                    <m:r>
                      <a:rPr lang="ru-RU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𝛼</m:t>
                    </m:r>
                    <m:r>
                      <a:rPr lang="ru-RU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&lt;0</m:t>
                    </m:r>
                  </m:oMath>
                </a14:m>
                <a:endParaRPr lang="ru-RU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ru-RU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б)  </a:t>
                </a:r>
                <a14:m>
                  <m:oMath xmlns:m="http://schemas.openxmlformats.org/officeDocument/2006/math">
                    <m:r>
                      <a:rPr lang="ru-RU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𝑉</m:t>
                    </m:r>
                    <m:r>
                      <a:rPr lang="ru-RU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1</m:t>
                    </m:r>
                    <m:r>
                      <a:rPr lang="ru-RU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𝑥</m:t>
                    </m:r>
                    <m:r>
                      <a:rPr lang="ru-RU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∙</m:t>
                    </m:r>
                    <m:r>
                      <a:rPr lang="ru-RU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𝑉</m:t>
                    </m:r>
                    <m:r>
                      <a:rPr lang="ru-RU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2</m:t>
                    </m:r>
                    <m:r>
                      <a:rPr lang="ru-RU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𝑦</m:t>
                    </m:r>
                    <m:r>
                      <a:rPr lang="ru-RU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−</m:t>
                    </m:r>
                    <m:r>
                      <a:rPr lang="ru-RU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𝑉</m:t>
                    </m:r>
                    <m:r>
                      <a:rPr lang="ru-RU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2</m:t>
                    </m:r>
                    <m:r>
                      <a:rPr lang="ru-RU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𝑥</m:t>
                    </m:r>
                    <m:r>
                      <a:rPr lang="ru-RU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∙</m:t>
                    </m:r>
                    <m:r>
                      <a:rPr lang="ru-RU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𝑉</m:t>
                    </m:r>
                    <m:r>
                      <a:rPr lang="ru-RU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1</m:t>
                    </m:r>
                    <m:r>
                      <a:rPr lang="ru-RU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𝑦</m:t>
                    </m:r>
                    <m:r>
                      <a:rPr lang="ru-RU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&gt;0→</m:t>
                    </m:r>
                    <m:r>
                      <a:rPr lang="ru-RU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𝛼</m:t>
                    </m:r>
                    <m:r>
                      <a:rPr lang="ru-RU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&gt;0</m:t>
                    </m:r>
                  </m:oMath>
                </a14:m>
                <a:endParaRPr lang="ru-RU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ru-RU" dirty="0">
                  <a:solidFill>
                    <a:schemeClr val="accent6">
                      <a:lumMod val="50000"/>
                    </a:schemeClr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342900" indent="-342900">
                  <a:buAutoNum type="arabicPeriod"/>
                </a:pPr>
                <a:endParaRPr lang="ru-RU" dirty="0">
                  <a:solidFill>
                    <a:schemeClr val="accent6">
                      <a:lumMod val="50000"/>
                    </a:schemeClr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ru-RU" dirty="0">
                  <a:solidFill>
                    <a:schemeClr val="accent6">
                      <a:lumMod val="50000"/>
                    </a:schemeClr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B873741B-1165-494E-AF14-59D3D9B466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360" y="784287"/>
                <a:ext cx="10515600" cy="6037935"/>
              </a:xfrm>
              <a:prstGeom prst="rect">
                <a:avLst/>
              </a:prstGeom>
              <a:blipFill rotWithShape="1">
                <a:blip r:embed="rId2"/>
                <a:stretch>
                  <a:fillRect l="-522" t="-50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2E4B931C-3A96-487F-AFD5-B895BFBB3E49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3436" y="4856380"/>
            <a:ext cx="2717483" cy="1792815"/>
          </a:xfrm>
          <a:prstGeom prst="rect">
            <a:avLst/>
          </a:prstGeom>
          <a:noFill/>
          <a:ln>
            <a:noFill/>
          </a:ln>
        </p:spPr>
      </p:pic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11253" y="3682779"/>
            <a:ext cx="2944707" cy="247270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1145305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1B2BFB40-0BBB-49A7-8427-C7CCB4FAC4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00000" y="6120000"/>
            <a:ext cx="2743200" cy="365125"/>
          </a:xfrm>
        </p:spPr>
        <p:txBody>
          <a:bodyPr lIns="0" tIns="36000" rIns="0" bIns="36000"/>
          <a:lstStyle/>
          <a:p>
            <a:fld id="{8346BD07-4451-4F99-9781-57091C949674}" type="slidenum">
              <a:rPr lang="ru-RU" sz="1400" b="1" smtClean="0">
                <a:solidFill>
                  <a:schemeClr val="accent6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fld>
            <a:endParaRPr lang="ru-RU" sz="1400" b="1" dirty="0">
              <a:solidFill>
                <a:schemeClr val="accent6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B16B0D1-34D8-46A9-BF13-F33CD9662267}"/>
                  </a:ext>
                </a:extLst>
              </p:cNvPr>
              <p:cNvSpPr txBox="1"/>
              <p:nvPr/>
            </p:nvSpPr>
            <p:spPr>
              <a:xfrm>
                <a:off x="628817" y="795422"/>
                <a:ext cx="11057965" cy="18757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600" b="1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Проверка</a:t>
                </a:r>
                <a:r>
                  <a:rPr lang="ru-RU" sz="160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ru-RU" sz="1600" b="1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находится ли точка внутри прямоугольника</a:t>
                </a:r>
                <a:r>
                  <a:rPr lang="en-US" sz="1600" b="1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160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(направление обхода вершин – против часовой стрелки</a:t>
                </a:r>
                <a:r>
                  <a:rPr lang="en-US" sz="160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  <a:endParaRPr lang="ru-RU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342900" lvl="0" indent="-342900">
                  <a:buFont typeface="+mj-lt"/>
                  <a:buAutoNum type="arabicParenR"/>
                </a:pPr>
                <a:r>
                  <a:rPr lang="ru-RU" sz="160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Построить направляющие векторы </a:t>
                </a:r>
                <a:r>
                  <a:rPr lang="en-US" sz="1600" i="1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R</a:t>
                </a:r>
                <a:r>
                  <a:rPr lang="ru-RU" sz="1600" i="1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1..</a:t>
                </a:r>
                <a:r>
                  <a:rPr lang="en-US" sz="1600" i="1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R</a:t>
                </a:r>
                <a:r>
                  <a:rPr lang="ru-RU" sz="1600" i="1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4</a:t>
                </a:r>
                <a:r>
                  <a:rPr lang="ru-RU" sz="160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для каждой стороны многоугольника по направлению обхода сторон против часовой стрелки (см. рис.)</a:t>
                </a:r>
              </a:p>
              <a:p>
                <a:pPr marL="342900" lvl="0" indent="-342900">
                  <a:buFont typeface="+mj-lt"/>
                  <a:buAutoNum type="arabicParenR"/>
                </a:pPr>
                <a:r>
                  <a:rPr lang="ru-RU" sz="160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Построить вспомогательные векторы </a:t>
                </a:r>
                <a:r>
                  <a:rPr lang="en-US" sz="1600" i="1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V</a:t>
                </a:r>
                <a:r>
                  <a:rPr lang="ru-RU" sz="1600" i="1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1..</a:t>
                </a:r>
                <a:r>
                  <a:rPr lang="en-US" sz="1600" i="1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V</a:t>
                </a:r>
                <a:r>
                  <a:rPr lang="ru-RU" sz="1600" i="1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4</a:t>
                </a:r>
                <a:r>
                  <a:rPr lang="ru-RU" sz="160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от каждого угла к точке </a:t>
                </a:r>
                <a:r>
                  <a:rPr lang="en-US" sz="1600" i="1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T</a:t>
                </a:r>
                <a:endParaRPr lang="ru-RU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342900" lvl="0" indent="-342900">
                  <a:buFont typeface="+mj-lt"/>
                  <a:buAutoNum type="arabicParenR"/>
                </a:pPr>
                <a:r>
                  <a:rPr lang="ru-RU" sz="160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Точка находится внутри прямоугольника, если все углы </a:t>
                </a:r>
                <a:r>
                  <a:rPr lang="en-US" sz="1600" b="1" dirty="0">
                    <a:solidFill>
                      <a:schemeClr val="tx1"/>
                    </a:solidFill>
                    <a:effectLst/>
                    <a:latin typeface="Symbol" pitchFamily="18" charset="2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a</a:t>
                </a:r>
                <a:r>
                  <a:rPr lang="en-US" sz="160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160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между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sSubPr>
                      <m:e>
                        <m:acc>
                          <m:accPr>
                            <m:chr m:val="⃗"/>
                            <m:ctrlPr>
                              <a:rPr lang="ru-RU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a:rPr lang="en-US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𝑅</m:t>
                            </m:r>
                          </m:e>
                        </m:acc>
                      </m:e>
                      <m:sub>
                        <m:r>
                          <a:rPr lang="en-US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ru-RU" sz="160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sSubPr>
                      <m:e>
                        <m:acc>
                          <m:accPr>
                            <m:chr m:val="⃗"/>
                            <m:ctrlPr>
                              <a:rPr lang="ru-RU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a:rPr lang="en-US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𝑉</m:t>
                            </m:r>
                          </m:e>
                        </m:acc>
                      </m:e>
                      <m:sub>
                        <m:r>
                          <a:rPr lang="en-US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ru-RU" sz="160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положительны</a:t>
                </a:r>
                <a:r>
                  <a:rPr lang="ru-RU" sz="160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. Для нахождения знака угла </a:t>
                </a:r>
                <a:r>
                  <a:rPr lang="en-US" sz="1600" b="1" dirty="0">
                    <a:solidFill>
                      <a:schemeClr val="tx1"/>
                    </a:solidFill>
                    <a:latin typeface="Symbol" pitchFamily="18" charset="2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a</a:t>
                </a:r>
                <a:r>
                  <a:rPr lang="ru-RU" sz="1600" b="1" dirty="0">
                    <a:solidFill>
                      <a:schemeClr val="tx1"/>
                    </a:solidFill>
                    <a:latin typeface="Symbol" pitchFamily="18" charset="2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160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рассчитаем все косые произведения для каждой пары векторов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sz="16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𝑆</m:t>
                        </m:r>
                      </m:e>
                      <m:sub>
                        <m:r>
                          <a:rPr lang="ru-RU" sz="16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𝑖</m:t>
                        </m:r>
                      </m:sub>
                    </m:sSub>
                    <m:r>
                      <a:rPr lang="ru-RU" sz="1600" i="1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ru-RU" sz="16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sSubPr>
                      <m:e>
                        <m:acc>
                          <m:accPr>
                            <m:chr m:val="⃗"/>
                            <m:ctrlPr>
                              <a:rPr lang="ru-RU" sz="1600" i="1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effectLst/>
                                <a:latin typeface="Cambria Math"/>
                                <a:ea typeface="Times New Roman" panose="02020603050405020304" pitchFamily="18" charset="0"/>
                              </a:rPr>
                              <m:t>𝑅</m:t>
                            </m:r>
                          </m:e>
                        </m:acc>
                      </m:e>
                      <m:sub>
                        <m:r>
                          <a:rPr lang="en-US" sz="16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𝑖</m:t>
                        </m:r>
                      </m:sub>
                    </m:sSub>
                    <m:r>
                      <a:rPr lang="ru-RU" sz="1600" i="1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∨</m:t>
                    </m:r>
                  </m:oMath>
                </a14:m>
                <a:r>
                  <a:rPr lang="ru-RU" sz="1600" dirty="0">
                    <a:solidFill>
                      <a:schemeClr val="tx1"/>
                    </a:solidFill>
                    <a:ea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sSubPr>
                      <m:e>
                        <m:acc>
                          <m:accPr>
                            <m:chr m:val="⃗"/>
                            <m:ctrlPr>
                              <a:rPr lang="ru-RU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a:rPr lang="en-US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𝑉</m:t>
                            </m:r>
                          </m:e>
                        </m:acc>
                      </m:e>
                      <m:sub>
                        <m:r>
                          <a:rPr lang="en-US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ru-RU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342900" lvl="0" indent="-342900">
                  <a:buFont typeface="+mj-lt"/>
                  <a:buAutoNum type="arabicParenR"/>
                </a:pPr>
                <a:r>
                  <a:rPr lang="ru-RU" sz="160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Если все произведения </a:t>
                </a:r>
                <a:r>
                  <a:rPr lang="en-US" sz="1600" i="1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S</a:t>
                </a:r>
                <a:r>
                  <a:rPr lang="en-US" sz="1600" i="1" baseline="-2500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i</a:t>
                </a:r>
                <a:r>
                  <a:rPr 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&gt;</a:t>
                </a:r>
                <a:r>
                  <a:rPr lang="ru-RU" sz="160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=0, то точка </a:t>
                </a:r>
                <a:r>
                  <a:rPr lang="en-US" sz="1600" i="1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T</a:t>
                </a:r>
                <a:r>
                  <a:rPr lang="en-US" sz="160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160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лежит внутри прямоугольника.</a:t>
                </a:r>
                <a:endParaRPr lang="ru-RU" sz="1600" dirty="0">
                  <a:solidFill>
                    <a:schemeClr val="accent6">
                      <a:lumMod val="50000"/>
                    </a:schemeClr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B16B0D1-34D8-46A9-BF13-F33CD96622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817" y="795422"/>
                <a:ext cx="11057965" cy="1875770"/>
              </a:xfrm>
              <a:prstGeom prst="rect">
                <a:avLst/>
              </a:prstGeom>
              <a:blipFill>
                <a:blip r:embed="rId2"/>
                <a:stretch>
                  <a:fillRect l="-276" t="-974" b="-324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59742" y="2947738"/>
            <a:ext cx="3981450" cy="33432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DC037C96-BC44-4769-A3EE-F096FB7F31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0000" y="0"/>
            <a:ext cx="10515600" cy="925195"/>
          </a:xfrm>
        </p:spPr>
        <p:txBody>
          <a:bodyPr>
            <a:normAutofit/>
          </a:bodyPr>
          <a:lstStyle/>
          <a:p>
            <a:pPr algn="ctr"/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Математическая модель</a:t>
            </a:r>
          </a:p>
        </p:txBody>
      </p:sp>
    </p:spTree>
    <p:extLst>
      <p:ext uri="{BB962C8B-B14F-4D97-AF65-F5344CB8AC3E}">
        <p14:creationId xmlns:p14="http://schemas.microsoft.com/office/powerpoint/2010/main" val="14921994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68E96EBC-C899-41ED-9485-609ED652A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00000" y="6120000"/>
            <a:ext cx="2743200" cy="365125"/>
          </a:xfrm>
        </p:spPr>
        <p:txBody>
          <a:bodyPr lIns="0" tIns="36000" rIns="0" bIns="36000"/>
          <a:lstStyle/>
          <a:p>
            <a:fld id="{8346BD07-4451-4F99-9781-57091C949674}" type="slidenum">
              <a:rPr lang="ru-RU" sz="1400" b="1" smtClean="0">
                <a:solidFill>
                  <a:schemeClr val="accent6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12</a:t>
            </a:fld>
            <a:endParaRPr lang="ru-RU" sz="1400" b="1" dirty="0">
              <a:solidFill>
                <a:schemeClr val="accent6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517295B-39F9-4FAC-926B-63F2C4BF510F}"/>
                  </a:ext>
                </a:extLst>
              </p:cNvPr>
              <p:cNvSpPr txBox="1"/>
              <p:nvPr/>
            </p:nvSpPr>
            <p:spPr>
              <a:xfrm>
                <a:off x="234035" y="756061"/>
                <a:ext cx="11057965" cy="55892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600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Пересечение отрезков</a:t>
                </a:r>
              </a:p>
              <a:p>
                <a:r>
                  <a:rPr lang="ru-RU" sz="160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Параметрические уравнения прямых для заданных отрезков:</a:t>
                </a:r>
              </a:p>
              <a:p>
                <a:pPr marL="45720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ru-RU" sz="1600" i="1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lang="en-US" sz="1600" i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</a:rPr>
                            <m:t>𝑃</m:t>
                          </m:r>
                        </m:e>
                      </m:acc>
                      <m:r>
                        <a:rPr lang="ru-RU" sz="1600" i="1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</a:rPr>
                        <m:t>=</m:t>
                      </m:r>
                      <m:acc>
                        <m:accPr>
                          <m:chr m:val="⃗"/>
                          <m:ctrlPr>
                            <a:rPr lang="ru-RU" sz="1600" i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ru-RU" sz="1600" i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sz="1600" i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ru-RU" sz="1600" i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  <m:r>
                        <a:rPr lang="ru-RU" sz="1600" i="1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</a:rPr>
                        <m:t>+</m:t>
                      </m:r>
                      <m:sSub>
                        <m:sSubPr>
                          <m:ctrlPr>
                            <a:rPr lang="ru-RU" sz="1600" i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ru-RU" sz="1600" i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ru-RU" sz="1600" i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</a:rPr>
                            <m:t>𝐴</m:t>
                          </m:r>
                        </m:sub>
                      </m:sSub>
                      <m:acc>
                        <m:accPr>
                          <m:chr m:val="⃗"/>
                          <m:ctrlPr>
                            <a:rPr lang="ru-RU" sz="1600" i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ru-RU" sz="1600" i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sz="1600" i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ru-RU" sz="1600" i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acc>
                      <m:r>
                        <a:rPr lang="en-US" sz="1600" i="1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</a:rPr>
                        <m:t>;   </m:t>
                      </m:r>
                      <m:r>
                        <a:rPr lang="ru-RU" sz="1600" b="0" i="1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</a:rPr>
                        <m:t>      </m:t>
                      </m:r>
                      <m:r>
                        <a:rPr lang="ru-RU" sz="1600" i="1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</a:rPr>
                        <m:t>где  </m:t>
                      </m:r>
                      <m:acc>
                        <m:accPr>
                          <m:chr m:val="⃗"/>
                          <m:ctrlPr>
                            <a:rPr lang="ru-RU" sz="1600" i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ru-RU" sz="1600" i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sz="1600" i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ru-RU" sz="1600" i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acc>
                      <m:r>
                        <a:rPr lang="ru-RU" sz="1600" i="1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</a:rPr>
                        <m:t>=</m:t>
                      </m:r>
                      <m:acc>
                        <m:accPr>
                          <m:chr m:val="⃗"/>
                          <m:ctrlPr>
                            <a:rPr lang="ru-RU" sz="1600" i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ru-RU" sz="1600" i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sz="1600" i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ru-RU" sz="1600" i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acc>
                      <m:r>
                        <a:rPr lang="ru-RU" sz="1600" i="1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</a:rPr>
                        <m:t>−</m:t>
                      </m:r>
                      <m:acc>
                        <m:accPr>
                          <m:chr m:val="⃗"/>
                          <m:ctrlPr>
                            <a:rPr lang="ru-RU" sz="1600" i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ru-RU" sz="1600" i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sz="1600" i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ru-RU" sz="1600" i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ru-RU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ru-RU" sz="1600" i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600" i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𝑃</m:t>
                          </m:r>
                        </m:e>
                      </m:acc>
                      <m:r>
                        <a:rPr lang="ru-RU" sz="1600" i="1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acc>
                        <m:accPr>
                          <m:chr m:val="⃗"/>
                          <m:ctrlPr>
                            <a:rPr lang="ru-RU" sz="1600" i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ru-RU" sz="1600" i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sz="1600" i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ru-RU" sz="1600" i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  <m:r>
                        <a:rPr lang="ru-RU" sz="1600" i="1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</m:t>
                      </m:r>
                      <m:sSub>
                        <m:sSubPr>
                          <m:ctrlPr>
                            <a:rPr lang="ru-RU" sz="1600" i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1600" i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ru-RU" sz="1600" i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𝐵</m:t>
                          </m:r>
                        </m:sub>
                      </m:sSub>
                      <m:acc>
                        <m:accPr>
                          <m:chr m:val="⃗"/>
                          <m:ctrlPr>
                            <a:rPr lang="ru-RU" sz="1600" i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ru-RU" sz="1600" i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sz="1600" i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ru-RU" sz="1600" i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acc>
                      <m:r>
                        <a:rPr lang="en-US" sz="1600" i="1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; </m:t>
                      </m:r>
                      <m:r>
                        <a:rPr lang="ru-RU" sz="1600" b="0" i="1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    </m:t>
                      </m:r>
                      <m:r>
                        <a:rPr lang="en-US" sz="1600" i="1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  </m:t>
                      </m:r>
                      <m:r>
                        <a:rPr lang="ru-RU" sz="1600" i="1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где  </m:t>
                      </m:r>
                      <m:acc>
                        <m:accPr>
                          <m:chr m:val="⃗"/>
                          <m:ctrlPr>
                            <a:rPr lang="ru-RU" sz="1600" i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ru-RU" sz="1600" i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sz="1600" i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ru-RU" sz="1600" i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acc>
                      <m:r>
                        <a:rPr lang="ru-RU" sz="1600" i="1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acc>
                        <m:accPr>
                          <m:chr m:val="⃗"/>
                          <m:ctrlPr>
                            <a:rPr lang="ru-RU" sz="1600" i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ru-RU" sz="1600" i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sz="1600" i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ru-RU" sz="1600" i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acc>
                      <m:r>
                        <a:rPr lang="ru-RU" sz="1600" i="1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−</m:t>
                      </m:r>
                      <m:acc>
                        <m:accPr>
                          <m:chr m:val="⃗"/>
                          <m:ctrlPr>
                            <a:rPr lang="ru-RU" sz="1600" i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ru-RU" sz="1600" i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sz="1600" i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ru-RU" sz="1600" i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ru-RU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ru-RU" sz="160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Точка пересечения линий – решение системы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sz="160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6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𝑃</m:t>
                        </m:r>
                      </m:e>
                    </m:acc>
                    <m:r>
                      <a:rPr lang="ru-RU" sz="1600" i="1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acc>
                      <m:accPr>
                        <m:chr m:val="⃗"/>
                        <m:ctrlPr>
                          <a:rPr lang="ru-RU" sz="16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ru-RU" sz="1600" i="1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sz="1600" i="1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ru-RU" sz="1600" i="1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ru-RU" sz="1600" i="1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+</m:t>
                    </m:r>
                    <m:sSub>
                      <m:sSubPr>
                        <m:ctrlPr>
                          <a:rPr lang="ru-RU" sz="16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16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e>
                      <m:sub>
                        <m:r>
                          <a:rPr lang="ru-RU" sz="16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𝐴</m:t>
                        </m:r>
                      </m:sub>
                    </m:sSub>
                    <m:acc>
                      <m:accPr>
                        <m:chr m:val="⃗"/>
                        <m:ctrlPr>
                          <a:rPr lang="ru-RU" sz="16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ru-RU" sz="1600" i="1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sz="1600" i="1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ru-RU" sz="1600" i="1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𝐴</m:t>
                            </m:r>
                          </m:sub>
                        </m:sSub>
                      </m:e>
                    </m:acc>
                    <m:r>
                      <a:rPr lang="ru-RU" sz="1600" i="1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acc>
                      <m:accPr>
                        <m:chr m:val="⃗"/>
                        <m:ctrlPr>
                          <a:rPr lang="ru-RU" sz="16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ru-RU" sz="1600" i="1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sz="1600" i="1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ru-RU" sz="1600" i="1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ru-RU" sz="1600" i="1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+</m:t>
                    </m:r>
                    <m:sSub>
                      <m:sSubPr>
                        <m:ctrlPr>
                          <a:rPr lang="ru-RU" sz="16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16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e>
                      <m:sub>
                        <m:r>
                          <a:rPr lang="ru-RU" sz="16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𝐵</m:t>
                        </m:r>
                      </m:sub>
                    </m:sSub>
                    <m:acc>
                      <m:accPr>
                        <m:chr m:val="⃗"/>
                        <m:ctrlPr>
                          <a:rPr lang="ru-RU" sz="16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ru-RU" sz="1600" i="1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sz="1600" i="1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ru-RU" sz="1600" i="1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𝐵</m:t>
                            </m:r>
                          </m:sub>
                        </m:sSub>
                      </m:e>
                    </m:acc>
                  </m:oMath>
                </a14:m>
                <a:endParaRPr lang="ru-RU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ru-RU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Запись в координатной форме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"/>
                          <m:ctrlPr>
                            <a:rPr lang="ru-RU" sz="1600" i="1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ru-RU" sz="1600" i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ru-RU" sz="1600" i="1"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ru-RU" sz="1600" i="1"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1</m:t>
                                  </m:r>
                                  <m:r>
                                    <a:rPr lang="ru-RU" sz="1600" i="1"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  <m:r>
                                <a:rPr lang="ru-RU" sz="1600" i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ru-RU" sz="1600" i="1"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1600" i="1"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ru-RU" sz="1600" i="1"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ru-RU" sz="1600" i="1"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1600" i="1"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ru-RU" sz="1600" i="1"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𝐴𝑥</m:t>
                                  </m:r>
                                </m:sub>
                              </m:sSub>
                              <m:r>
                                <a:rPr lang="ru-RU" sz="1600" i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ru-RU" sz="1600" i="1"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ru-RU" sz="1600" i="1"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1</m:t>
                                  </m:r>
                                  <m:r>
                                    <a:rPr lang="ru-RU" sz="1600" i="1"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  <m:r>
                                <a:rPr lang="ru-RU" sz="1600" i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ru-RU" sz="1600" i="1"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1600" i="1"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ru-RU" sz="1600" i="1"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ru-RU" sz="1600" i="1"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1600" i="1"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ru-RU" sz="1600" i="1"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𝐵𝑥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ru-RU" sz="1600" i="1"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ru-RU" sz="1600" i="1"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1</m:t>
                                  </m:r>
                                  <m:r>
                                    <a:rPr lang="ru-RU" sz="1600" i="1"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  <m:r>
                                <a:rPr lang="ru-RU" sz="1600" i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ru-RU" sz="1600" i="1"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1600" i="1"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ru-RU" sz="1600" i="1"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ru-RU" sz="1600" i="1"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1600" i="1"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ru-RU" sz="1600" i="1"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𝐴𝑦</m:t>
                                  </m:r>
                                </m:sub>
                              </m:sSub>
                              <m:r>
                                <a:rPr lang="ru-RU" sz="1600" i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ru-RU" sz="1600" i="1"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ru-RU" sz="1600" i="1"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1</m:t>
                                  </m:r>
                                  <m:r>
                                    <a:rPr lang="ru-RU" sz="1600" i="1"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  <m:r>
                                <a:rPr lang="ru-RU" sz="1600" i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ru-RU" sz="1600" i="1"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1600" i="1"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ru-RU" sz="1600" i="1"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ru-RU" sz="1600" i="1"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1600" i="1"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ru-RU" sz="1600" i="1"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𝐵𝑦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m:oMathPara>
                </a14:m>
                <a:endParaRPr lang="ru-RU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ru-RU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ru-RU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Решение системы </a:t>
                </a:r>
                <a14:m>
                  <m:oMath xmlns:m="http://schemas.openxmlformats.org/officeDocument/2006/math">
                    <m:r>
                      <a:rPr lang="en-US" sz="1600" b="0" i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              </m:t>
                    </m:r>
                    <m:sSub>
                      <m:sSubPr>
                        <m:ctrlPr>
                          <a:rPr lang="ru-RU" sz="160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16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e>
                      <m:sub>
                        <m:r>
                          <a:rPr lang="ru-RU" sz="16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𝐴</m:t>
                        </m:r>
                      </m:sub>
                    </m:sSub>
                    <m:r>
                      <a:rPr lang="ru-RU" sz="1600" i="1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ru-RU" sz="16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ru-RU" sz="1600" i="1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sz="1600" i="1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ru-RU" sz="1600" i="1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𝐴</m:t>
                            </m:r>
                          </m:sub>
                        </m:sSub>
                      </m:num>
                      <m:den>
                        <m:r>
                          <a:rPr lang="ru-RU" sz="16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𝐷</m:t>
                        </m:r>
                      </m:den>
                    </m:f>
                    <m:r>
                      <a:rPr lang="ru-RU" sz="1600" i="1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;     </m:t>
                    </m:r>
                    <m:sSub>
                      <m:sSubPr>
                        <m:ctrlPr>
                          <a:rPr lang="ru-RU" sz="16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16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e>
                      <m:sub>
                        <m:r>
                          <a:rPr lang="ru-RU" sz="16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𝐵</m:t>
                        </m:r>
                      </m:sub>
                    </m:sSub>
                    <m:r>
                      <a:rPr lang="ru-RU" sz="1600" i="1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ru-RU" sz="16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ru-RU" sz="1600" i="1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sz="1600" i="1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ru-RU" sz="1600" i="1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𝐵</m:t>
                            </m:r>
                          </m:sub>
                        </m:sSub>
                      </m:num>
                      <m:den>
                        <m:r>
                          <a:rPr lang="ru-RU" sz="16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𝐷</m:t>
                        </m:r>
                      </m:den>
                    </m:f>
                  </m:oMath>
                </a14:m>
                <a:endParaRPr lang="ru-RU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ru-RU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ru-RU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где </a:t>
                </a:r>
                <a14:m>
                  <m:oMath xmlns:m="http://schemas.openxmlformats.org/officeDocument/2006/math">
                    <m:r>
                      <a:rPr lang="en-US" sz="160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𝐷</m:t>
                    </m:r>
                    <m:r>
                      <a:rPr lang="en-US" sz="160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ru-RU" sz="16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ru-RU" sz="1600" i="1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d>
                                <m:dPr>
                                  <m:ctrlPr>
                                    <a:rPr lang="ru-RU" sz="1600" i="1"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ru-RU" sz="1600" i="1"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sz="1600" i="1"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ru-RU" sz="1600" i="1"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𝐴𝑥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e>
                              <m:d>
                                <m:dPr>
                                  <m:ctrlPr>
                                    <a:rPr lang="ru-RU" sz="1600" i="1"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i="1"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ru-RU" sz="1600" i="1"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sz="1600" i="1"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ru-RU" sz="1600" i="1"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𝐵𝑥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mr>
                          <m:mr>
                            <m:e>
                              <m:d>
                                <m:dPr>
                                  <m:ctrlPr>
                                    <a:rPr lang="ru-RU" sz="1600" i="1"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ru-RU" sz="1600" i="1"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sz="1600" i="1"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ru-RU" sz="1600" i="1"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𝐴𝑦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e>
                              <m:d>
                                <m:dPr>
                                  <m:ctrlPr>
                                    <a:rPr lang="ru-RU" sz="1600" i="1"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i="1"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ru-RU" sz="1600" i="1"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sz="1600" i="1"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ru-RU" sz="1600" i="1"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𝐵𝑦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mr>
                        </m:m>
                      </m:e>
                    </m:d>
                    <m:r>
                      <a:rPr lang="en-US" sz="1600" i="1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=−</m:t>
                    </m:r>
                    <m:sSub>
                      <m:sSubPr>
                        <m:ctrlPr>
                          <a:rPr lang="ru-RU" sz="16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16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𝑅</m:t>
                        </m:r>
                      </m:e>
                      <m:sub>
                        <m:r>
                          <a:rPr lang="ru-RU" sz="16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𝐴𝑥</m:t>
                        </m:r>
                      </m:sub>
                    </m:sSub>
                    <m:sSub>
                      <m:sSubPr>
                        <m:ctrlPr>
                          <a:rPr lang="ru-RU" sz="16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16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𝑅</m:t>
                        </m:r>
                      </m:e>
                      <m:sub>
                        <m:r>
                          <a:rPr lang="ru-RU" sz="16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𝐵𝑦</m:t>
                        </m:r>
                      </m:sub>
                    </m:sSub>
                    <m:r>
                      <a:rPr lang="ru-RU" sz="1600" i="1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+</m:t>
                    </m:r>
                    <m:sSub>
                      <m:sSubPr>
                        <m:ctrlPr>
                          <a:rPr lang="ru-RU" sz="16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16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𝑅</m:t>
                        </m:r>
                      </m:e>
                      <m:sub>
                        <m:r>
                          <a:rPr lang="ru-RU" sz="16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𝐴𝑦</m:t>
                        </m:r>
                      </m:sub>
                    </m:sSub>
                    <m:sSub>
                      <m:sSubPr>
                        <m:ctrlPr>
                          <a:rPr lang="ru-RU" sz="16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16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𝑅</m:t>
                        </m:r>
                      </m:e>
                      <m:sub>
                        <m:r>
                          <a:rPr lang="ru-RU" sz="16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𝐵𝑥</m:t>
                        </m:r>
                      </m:sub>
                    </m:sSub>
                    <m:r>
                      <a:rPr lang="en-US" sz="1600" b="0" i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;</m:t>
                    </m:r>
                    <m:r>
                      <a:rPr lang="ru-RU" sz="1600" b="0" i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a:rPr lang="en-US" sz="1600" b="0" i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 </m:t>
                    </m:r>
                    <m:sSub>
                      <m:sSubPr>
                        <m:ctrlPr>
                          <a:rPr lang="ru-RU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r>
                      <a:rPr lang="en-US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ru-RU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ru-RU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d>
                                <m:dPr>
                                  <m:ctrlPr>
                                    <a:rPr lang="ru-RU" sz="1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ru-RU" sz="16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e>
                                    <m:sub>
                                      <m:r>
                                        <a:rPr lang="ru-RU" sz="16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  <m:r>
                                        <a:rPr lang="ru-RU" sz="16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sub>
                                  </m:sSub>
                                  <m:r>
                                    <a:rPr lang="ru-RU" sz="1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ru-RU" sz="16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ru-RU" sz="16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  <m:r>
                                        <a:rPr lang="ru-RU" sz="16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e>
                              <m:d>
                                <m:dPr>
                                  <m:ctrlPr>
                                    <a:rPr lang="ru-RU" sz="1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ru-RU" sz="16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sz="16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ru-RU" sz="16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𝐵𝑥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mr>
                          <m:mr>
                            <m:e>
                              <m:d>
                                <m:dPr>
                                  <m:ctrlPr>
                                    <a:rPr lang="ru-RU" sz="1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ru-RU" sz="16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e>
                                    <m:sub>
                                      <m:r>
                                        <a:rPr lang="ru-RU" sz="16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  <m:r>
                                        <a:rPr lang="ru-RU" sz="16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sub>
                                  </m:sSub>
                                  <m:r>
                                    <a:rPr lang="ru-RU" sz="1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ru-RU" sz="16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ru-RU" sz="16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  <m:r>
                                        <a:rPr lang="ru-RU" sz="16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e>
                              <m:d>
                                <m:dPr>
                                  <m:ctrlPr>
                                    <a:rPr lang="ru-RU" sz="1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ru-RU" sz="16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sz="16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ru-RU" sz="16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𝐵𝑦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mr>
                        </m:m>
                      </m:e>
                    </m:d>
                    <m:r>
                      <a:rPr lang="en-US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=−</m:t>
                    </m:r>
                    <m:d>
                      <m:dPr>
                        <m:ctrlPr>
                          <a:rPr lang="ru-RU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ru-RU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ru-RU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ru-RU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  <m:r>
                          <a:rPr lang="ru-RU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ru-RU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ru-RU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ru-RU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ru-RU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ru-RU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𝐵𝑦</m:t>
                        </m:r>
                      </m:sub>
                    </m:sSub>
                    <m:r>
                      <a:rPr lang="ru-RU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ru-RU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ru-RU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ru-RU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ru-RU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  <m:r>
                          <a:rPr lang="ru-RU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ru-RU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ru-RU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ru-RU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ru-RU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𝐵𝑥</m:t>
                        </m:r>
                      </m:sub>
                    </m:sSub>
                  </m:oMath>
                </a14:m>
                <a:endParaRPr lang="ru-RU" sz="16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ru-RU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1600" i="1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1600" i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sz="1600" i="1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ru-RU" sz="1600" i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sz="1600" i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d>
                                  <m:dPr>
                                    <m:ctrlPr>
                                      <a:rPr lang="ru-RU" sz="1600" i="1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ru-RU" sz="1600" i="1">
                                            <a:solidFill>
                                              <a:schemeClr val="tx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ru-RU" sz="1600" i="1">
                                            <a:solidFill>
                                              <a:schemeClr val="tx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𝑅</m:t>
                                        </m:r>
                                      </m:e>
                                      <m:sub>
                                        <m:r>
                                          <a:rPr lang="ru-RU" sz="1600" i="1">
                                            <a:solidFill>
                                              <a:schemeClr val="tx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𝐴𝑥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e>
                                <m:d>
                                  <m:dPr>
                                    <m:ctrlPr>
                                      <a:rPr lang="ru-RU" sz="1600" i="1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ru-RU" sz="1600" i="1">
                                            <a:solidFill>
                                              <a:schemeClr val="tx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600" i="1">
                                            <a:solidFill>
                                              <a:schemeClr val="tx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𝐵</m:t>
                                        </m:r>
                                      </m:e>
                                      <m:sub>
                                        <m:r>
                                          <a:rPr lang="ru-RU" sz="1600" i="1">
                                            <a:solidFill>
                                              <a:schemeClr val="tx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1</m:t>
                                        </m:r>
                                        <m:r>
                                          <a:rPr lang="ru-RU" sz="1600" i="1">
                                            <a:solidFill>
                                              <a:schemeClr val="tx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𝑥</m:t>
                                        </m:r>
                                      </m:sub>
                                    </m:sSub>
                                    <m:r>
                                      <a:rPr lang="ru-RU" sz="1600" i="1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ru-RU" sz="1600" i="1">
                                            <a:solidFill>
                                              <a:schemeClr val="tx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600" i="1">
                                            <a:solidFill>
                                              <a:schemeClr val="tx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𝐴</m:t>
                                        </m:r>
                                      </m:e>
                                      <m:sub>
                                        <m:r>
                                          <a:rPr lang="ru-RU" sz="1600" i="1">
                                            <a:solidFill>
                                              <a:schemeClr val="tx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1</m:t>
                                        </m:r>
                                        <m:r>
                                          <a:rPr lang="ru-RU" sz="1600" i="1">
                                            <a:solidFill>
                                              <a:schemeClr val="tx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𝑥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mr>
                            <m:mr>
                              <m:e>
                                <m:d>
                                  <m:dPr>
                                    <m:ctrlPr>
                                      <a:rPr lang="ru-RU" sz="1600" i="1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ru-RU" sz="1600" i="1">
                                            <a:solidFill>
                                              <a:schemeClr val="tx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ru-RU" sz="1600" i="1">
                                            <a:solidFill>
                                              <a:schemeClr val="tx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𝑅</m:t>
                                        </m:r>
                                      </m:e>
                                      <m:sub>
                                        <m:r>
                                          <a:rPr lang="ru-RU" sz="1600" i="1">
                                            <a:solidFill>
                                              <a:schemeClr val="tx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𝐴𝑦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e>
                                <m:d>
                                  <m:dPr>
                                    <m:ctrlPr>
                                      <a:rPr lang="ru-RU" sz="1600" i="1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ru-RU" sz="1600" i="1">
                                            <a:solidFill>
                                              <a:schemeClr val="tx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600" i="1">
                                            <a:solidFill>
                                              <a:schemeClr val="tx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𝐵</m:t>
                                        </m:r>
                                      </m:e>
                                      <m:sub>
                                        <m:r>
                                          <a:rPr lang="ru-RU" sz="1600" i="1">
                                            <a:solidFill>
                                              <a:schemeClr val="tx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1</m:t>
                                        </m:r>
                                        <m:r>
                                          <a:rPr lang="ru-RU" sz="1600" i="1">
                                            <a:solidFill>
                                              <a:schemeClr val="tx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𝑦</m:t>
                                        </m:r>
                                      </m:sub>
                                    </m:sSub>
                                    <m:r>
                                      <a:rPr lang="ru-RU" sz="1600" i="1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ru-RU" sz="1600" i="1">
                                            <a:solidFill>
                                              <a:schemeClr val="tx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600" i="1">
                                            <a:solidFill>
                                              <a:schemeClr val="tx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𝐴</m:t>
                                        </m:r>
                                      </m:e>
                                      <m:sub>
                                        <m:r>
                                          <a:rPr lang="ru-RU" sz="1600" i="1">
                                            <a:solidFill>
                                              <a:schemeClr val="tx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1</m:t>
                                        </m:r>
                                        <m:r>
                                          <a:rPr lang="ru-RU" sz="1600" i="1">
                                            <a:solidFill>
                                              <a:schemeClr val="tx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𝑦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mr>
                          </m:m>
                        </m:e>
                      </m:d>
                      <m:r>
                        <a:rPr lang="en-US" sz="1600" i="1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ru-RU" sz="1600" i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1600" i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ru-RU" sz="1600" i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𝐴𝑥</m:t>
                          </m:r>
                        </m:sub>
                      </m:sSub>
                      <m:d>
                        <m:dPr>
                          <m:ctrlPr>
                            <a:rPr lang="ru-RU" sz="1600" i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ru-RU" sz="1600" i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ru-RU" sz="1600" i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1</m:t>
                              </m:r>
                              <m:r>
                                <a:rPr lang="ru-RU" sz="1600" i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𝑦</m:t>
                              </m:r>
                            </m:sub>
                          </m:sSub>
                          <m:r>
                            <a:rPr lang="ru-RU" sz="1600" i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ru-RU" sz="1600" i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ru-RU" sz="1600" i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1</m:t>
                              </m:r>
                              <m:r>
                                <a:rPr lang="ru-RU" sz="1600" i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𝑦</m:t>
                              </m:r>
                            </m:sub>
                          </m:sSub>
                        </m:e>
                      </m:d>
                      <m:r>
                        <a:rPr lang="ru-RU" sz="1600" i="1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ru-RU" sz="1600" i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1600" i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ru-RU" sz="1600" i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𝐴𝑦</m:t>
                          </m:r>
                        </m:sub>
                      </m:sSub>
                      <m:d>
                        <m:dPr>
                          <m:ctrlPr>
                            <a:rPr lang="ru-RU" sz="1600" i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ru-RU" sz="1600" i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ru-RU" sz="1600" i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1</m:t>
                              </m:r>
                              <m:r>
                                <a:rPr lang="ru-RU" sz="1600" i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sub>
                          </m:sSub>
                          <m:r>
                            <a:rPr lang="ru-RU" sz="1600" i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ru-RU" sz="1600" i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ru-RU" sz="1600" i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1</m:t>
                              </m:r>
                              <m:r>
                                <a:rPr lang="ru-RU" sz="1600" i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ru-RU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ru-RU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ru-RU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Т</a:t>
                </a:r>
                <a:r>
                  <a:rPr lang="ru-RU" sz="160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очка пересечения </a:t>
                </a:r>
                <a:r>
                  <a:rPr lang="en-US" sz="1600" i="1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P</a:t>
                </a:r>
                <a:r>
                  <a:rPr lang="en-US" sz="160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160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будет лежать внутри пересекающихся отрезков, если будут выполняться оба условия:       </a:t>
                </a:r>
                <a14:m>
                  <m:oMath xmlns:m="http://schemas.openxmlformats.org/officeDocument/2006/math">
                    <m:m>
                      <m:mPr>
                        <m:mcs>
                          <m:mc>
                            <m:mcPr>
                              <m:count m:val="1"/>
                              <m:mcJc m:val="center"/>
                            </m:mcPr>
                          </m:mc>
                        </m:mcs>
                        <m:ctrlPr>
                          <a:rPr lang="ru-RU" sz="160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mPr>
                      <m:mr>
                        <m:e>
                          <m:r>
                            <a:rPr lang="ru-RU" sz="1600" i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0&lt;</m:t>
                          </m:r>
                          <m:sSub>
                            <m:sSubPr>
                              <m:ctrlPr>
                                <a:rPr lang="ru-RU" sz="1600" i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sz="1600" i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ru-RU" sz="1600" i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ru-RU" sz="1600" i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&lt;1</m:t>
                          </m:r>
                        </m:e>
                      </m:mr>
                      <m:mr>
                        <m:e>
                          <m:r>
                            <a:rPr lang="ru-RU" sz="1600" i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0&lt;</m:t>
                          </m:r>
                          <m:sSub>
                            <m:sSubPr>
                              <m:ctrlPr>
                                <a:rPr lang="ru-RU" sz="1600" i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sz="1600" i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ru-RU" sz="1600" i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ru-RU" sz="1600" i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&lt;1</m:t>
                          </m:r>
                        </m:e>
                      </m:mr>
                    </m:m>
                  </m:oMath>
                </a14:m>
                <a:endParaRPr lang="ru-RU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ru-RU" sz="160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Координаты точки пересечения                                  </a:t>
                </a:r>
                <a14:m>
                  <m:oMath xmlns:m="http://schemas.openxmlformats.org/officeDocument/2006/math">
                    <m:r>
                      <a:rPr lang="ru-RU" sz="160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𝑃𝑥</m:t>
                    </m:r>
                    <m:r>
                      <a:rPr lang="ru-RU" sz="160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ru-RU" sz="160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𝐴</m:t>
                    </m:r>
                    <m:r>
                      <a:rPr lang="ru-RU" sz="160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1</m:t>
                    </m:r>
                    <m:r>
                      <a:rPr lang="ru-RU" sz="160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ru-RU" sz="160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+</m:t>
                    </m:r>
                    <m:r>
                      <a:rPr lang="ru-RU" sz="160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𝑡𝐴</m:t>
                    </m:r>
                    <m:r>
                      <a:rPr lang="ru-RU" sz="160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∙</m:t>
                    </m:r>
                    <m:r>
                      <a:rPr lang="ru-RU" sz="160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𝑅𝐴𝑥</m:t>
                    </m:r>
                  </m:oMath>
                </a14:m>
                <a:endParaRPr lang="ru-RU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600" i="1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𝑃𝑦</m:t>
                      </m:r>
                      <m:r>
                        <a:rPr lang="ru-RU" sz="1600" i="1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ru-RU" sz="1600" i="1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𝐴</m:t>
                      </m:r>
                      <m:r>
                        <a:rPr lang="ru-RU" sz="1600" i="1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1</m:t>
                      </m:r>
                      <m:r>
                        <a:rPr lang="ru-RU" sz="1600" i="1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𝑦</m:t>
                      </m:r>
                      <m:r>
                        <a:rPr lang="ru-RU" sz="1600" i="1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</m:t>
                      </m:r>
                      <m:r>
                        <a:rPr lang="ru-RU" sz="1600" i="1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𝑡𝐴</m:t>
                      </m:r>
                      <m:r>
                        <a:rPr lang="ru-RU" sz="1600" i="1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∙</m:t>
                      </m:r>
                      <m:r>
                        <a:rPr lang="ru-RU" sz="1600" i="1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𝑅𝐴𝑦</m:t>
                      </m:r>
                    </m:oMath>
                  </m:oMathPara>
                </a14:m>
                <a:endParaRPr lang="ru-RU" sz="1600" dirty="0">
                  <a:solidFill>
                    <a:schemeClr val="accent6">
                      <a:lumMod val="50000"/>
                    </a:schemeClr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D517295B-39F9-4FAC-926B-63F2C4BF51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4035" y="756061"/>
                <a:ext cx="11057965" cy="5589287"/>
              </a:xfrm>
              <a:prstGeom prst="rect">
                <a:avLst/>
              </a:prstGeom>
              <a:blipFill rotWithShape="1">
                <a:blip r:embed="rId2"/>
                <a:stretch>
                  <a:fillRect l="-276" t="-32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11428" y="256527"/>
            <a:ext cx="4041465" cy="339260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DC037C96-BC44-4769-A3EE-F096FB7F31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6780" y="0"/>
            <a:ext cx="7435516" cy="842211"/>
          </a:xfrm>
        </p:spPr>
        <p:txBody>
          <a:bodyPr>
            <a:normAutofit/>
          </a:bodyPr>
          <a:lstStyle/>
          <a:p>
            <a:pPr algn="ctr"/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Математическая модель</a:t>
            </a:r>
          </a:p>
        </p:txBody>
      </p:sp>
    </p:spTree>
    <p:extLst>
      <p:ext uri="{BB962C8B-B14F-4D97-AF65-F5344CB8AC3E}">
        <p14:creationId xmlns:p14="http://schemas.microsoft.com/office/powerpoint/2010/main" val="14519948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A344DA97-0590-463D-AC06-5FD15349CB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91525" y="5746750"/>
            <a:ext cx="2743200" cy="365125"/>
          </a:xfrm>
        </p:spPr>
        <p:txBody>
          <a:bodyPr/>
          <a:lstStyle/>
          <a:p>
            <a:fld id="{8346BD07-4451-4F99-9781-57091C949674}" type="slidenum">
              <a:rPr lang="ru-RU" smtClean="0"/>
              <a:t>13</a:t>
            </a:fld>
            <a:endParaRPr lang="ru-RU"/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E105FC28-E099-4A9C-B41E-4DF3B2F99C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0000" y="0"/>
            <a:ext cx="10515600" cy="925195"/>
          </a:xfrm>
        </p:spPr>
        <p:txBody>
          <a:bodyPr>
            <a:normAutofit/>
          </a:bodyPr>
          <a:lstStyle/>
          <a:p>
            <a:pPr algn="ctr"/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Структура данных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463A3489-86D4-4552-8A31-5AC12F32AC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9125" y="1029454"/>
            <a:ext cx="2810435" cy="307777"/>
          </a:xfrm>
          <a:prstGeom prst="rect">
            <a:avLst/>
          </a:prstGeom>
          <a:solidFill>
            <a:srgbClr val="1E1F2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400" b="0" i="0" u="none" strike="noStrike" cap="none" normalizeH="0" baseline="0" dirty="0" err="1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public</a:t>
            </a:r>
            <a:r>
              <a:rPr kumimoji="0" lang="ru-RU" altLang="ru-RU" sz="14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 </a:t>
            </a:r>
            <a:r>
              <a:rPr kumimoji="0" lang="ru-RU" altLang="ru-RU" sz="1400" b="0" i="0" u="none" strike="noStrike" cap="none" normalizeH="0" baseline="0" dirty="0" err="1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class</a:t>
            </a:r>
            <a:r>
              <a:rPr kumimoji="0" lang="ru-RU" altLang="ru-RU" sz="14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 </a:t>
            </a:r>
            <a:r>
              <a:rPr kumimoji="0" lang="ru-RU" altLang="ru-RU" sz="14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Point </a:t>
            </a:r>
            <a:r>
              <a:rPr kumimoji="0" lang="ru-RU" altLang="ru-RU" sz="1400" b="0" i="0" u="none" strike="noStrike" cap="none" normalizeH="0" baseline="0" dirty="0" err="1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extends</a:t>
            </a:r>
            <a:r>
              <a:rPr kumimoji="0" lang="ru-RU" altLang="ru-RU" sz="14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 </a:t>
            </a:r>
            <a:r>
              <a:rPr kumimoji="0" lang="ru-RU" altLang="ru-RU" sz="14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Point2D</a:t>
            </a:r>
            <a:endParaRPr kumimoji="0" lang="ru-RU" altLang="ru-RU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8" name="Таблица 8">
            <a:extLst>
              <a:ext uri="{FF2B5EF4-FFF2-40B4-BE49-F238E27FC236}">
                <a16:creationId xmlns:a16="http://schemas.microsoft.com/office/drawing/2014/main" id="{CA6E6DEC-A84A-4DCD-9AB7-04546D827D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596480"/>
              </p:ext>
            </p:extLst>
          </p:nvPr>
        </p:nvGraphicFramePr>
        <p:xfrm>
          <a:off x="3740337" y="812502"/>
          <a:ext cx="8128000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364723218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5765363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Координата </a:t>
                      </a:r>
                      <a:r>
                        <a:rPr lang="en-US" dirty="0"/>
                        <a:t>X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Координата </a:t>
                      </a:r>
                      <a:r>
                        <a:rPr lang="en-US" dirty="0"/>
                        <a:t>Y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66081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double x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double y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3852356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4E542CA5-5584-4772-A0C8-D7370E1C87D1}"/>
              </a:ext>
            </a:extLst>
          </p:cNvPr>
          <p:cNvSpPr txBox="1"/>
          <p:nvPr/>
        </p:nvSpPr>
        <p:spPr>
          <a:xfrm>
            <a:off x="779450" y="1337231"/>
            <a:ext cx="24897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Хранит координаты </a:t>
            </a:r>
            <a:r>
              <a:rPr lang="en-US" dirty="0"/>
              <a:t>x, y</a:t>
            </a:r>
            <a:endParaRPr lang="ru-RU" dirty="0"/>
          </a:p>
        </p:txBody>
      </p:sp>
      <p:sp>
        <p:nvSpPr>
          <p:cNvPr id="11" name="Rectangle 3">
            <a:extLst>
              <a:ext uri="{FF2B5EF4-FFF2-40B4-BE49-F238E27FC236}">
                <a16:creationId xmlns:a16="http://schemas.microsoft.com/office/drawing/2014/main" id="{AED9C9C2-F957-45FB-A6E6-676AB43918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1826" y="1877223"/>
            <a:ext cx="2810435" cy="523220"/>
          </a:xfrm>
          <a:prstGeom prst="rect">
            <a:avLst/>
          </a:prstGeom>
          <a:solidFill>
            <a:srgbClr val="1E1F2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400" b="0" i="0" u="none" strike="noStrike" cap="none" normalizeH="0" baseline="0" dirty="0" err="1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public</a:t>
            </a:r>
            <a:r>
              <a:rPr kumimoji="0" lang="ru-RU" altLang="ru-RU" sz="14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 </a:t>
            </a:r>
            <a:r>
              <a:rPr kumimoji="0" lang="ru-RU" altLang="ru-RU" sz="1400" b="0" i="0" u="none" strike="noStrike" cap="none" normalizeH="0" baseline="0" dirty="0" err="1">
                <a:ln>
                  <a:noFill/>
                </a:ln>
                <a:solidFill>
                  <a:srgbClr val="56A8F5"/>
                </a:solidFill>
                <a:effectLst/>
                <a:latin typeface="JetBrains Mono"/>
              </a:rPr>
              <a:t>OurRectangle</a:t>
            </a:r>
            <a:r>
              <a:rPr kumimoji="0" lang="ru-RU" altLang="ru-RU" sz="14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(Point vertex1, Point vertex2, Point point3)</a:t>
            </a:r>
            <a:endParaRPr kumimoji="0" lang="ru-RU" altLang="ru-RU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2" name="Таблица 12">
            <a:extLst>
              <a:ext uri="{FF2B5EF4-FFF2-40B4-BE49-F238E27FC236}">
                <a16:creationId xmlns:a16="http://schemas.microsoft.com/office/drawing/2014/main" id="{BBAFD5CE-C326-4B19-B7A4-9DD9B59A29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4930222"/>
              </p:ext>
            </p:extLst>
          </p:nvPr>
        </p:nvGraphicFramePr>
        <p:xfrm>
          <a:off x="3740337" y="1827970"/>
          <a:ext cx="8127999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2127726757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3277781874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34139338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Вершина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Вершина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Точка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93679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Point vertex1 (double </a:t>
                      </a:r>
                      <a:r>
                        <a:rPr lang="en-US" dirty="0" err="1"/>
                        <a:t>x,y</a:t>
                      </a:r>
                      <a:r>
                        <a:rPr lang="en-US" dirty="0"/>
                        <a:t>)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Point vertex2 (double </a:t>
                      </a:r>
                      <a:r>
                        <a:rPr lang="en-US" dirty="0" err="1"/>
                        <a:t>x,y</a:t>
                      </a:r>
                      <a:r>
                        <a:rPr lang="en-US" dirty="0"/>
                        <a:t>)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Point point3 (double </a:t>
                      </a:r>
                      <a:r>
                        <a:rPr lang="en-US" dirty="0" err="1"/>
                        <a:t>x,y</a:t>
                      </a:r>
                      <a:r>
                        <a:rPr lang="en-US" dirty="0"/>
                        <a:t>)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3976007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4EEDEF8C-13CC-4632-A814-907201E34158}"/>
              </a:ext>
            </a:extLst>
          </p:cNvPr>
          <p:cNvSpPr txBox="1"/>
          <p:nvPr/>
        </p:nvSpPr>
        <p:spPr>
          <a:xfrm>
            <a:off x="463535" y="2400443"/>
            <a:ext cx="31470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Хранит точки прямоугольника</a:t>
            </a:r>
          </a:p>
        </p:txBody>
      </p:sp>
      <p:sp>
        <p:nvSpPr>
          <p:cNvPr id="14" name="Rectangle 4">
            <a:extLst>
              <a:ext uri="{FF2B5EF4-FFF2-40B4-BE49-F238E27FC236}">
                <a16:creationId xmlns:a16="http://schemas.microsoft.com/office/drawing/2014/main" id="{6825D3BB-77CE-46BD-918B-478D3B3070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9123" y="4691157"/>
            <a:ext cx="2810435" cy="523220"/>
          </a:xfrm>
          <a:prstGeom prst="rect">
            <a:avLst/>
          </a:prstGeom>
          <a:solidFill>
            <a:srgbClr val="1E1F2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400" b="0" i="0" u="none" strike="noStrike" cap="none" normalizeH="0" baseline="0" dirty="0" err="1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private</a:t>
            </a:r>
            <a:r>
              <a:rPr kumimoji="0" lang="ru-RU" altLang="ru-RU" sz="14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 </a:t>
            </a:r>
            <a:r>
              <a:rPr kumimoji="0" lang="ru-RU" altLang="ru-RU" sz="14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List&lt;</a:t>
            </a:r>
            <a:r>
              <a:rPr kumimoji="0" lang="ru-RU" altLang="ru-RU" sz="14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OurRectangle</a:t>
            </a:r>
            <a:r>
              <a:rPr kumimoji="0" lang="ru-RU" altLang="ru-RU" sz="14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&gt; </a:t>
            </a:r>
            <a:r>
              <a:rPr kumimoji="0" lang="ru-RU" altLang="ru-RU" sz="1400" b="0" i="0" u="none" strike="noStrike" cap="none" normalizeH="0" baseline="0" dirty="0" err="1">
                <a:ln>
                  <a:noFill/>
                </a:ln>
                <a:solidFill>
                  <a:srgbClr val="C77DBB"/>
                </a:solidFill>
                <a:effectLst/>
                <a:latin typeface="JetBrains Mono"/>
              </a:rPr>
              <a:t>rectangles</a:t>
            </a:r>
            <a:r>
              <a:rPr kumimoji="0" lang="ru-RU" altLang="ru-RU" sz="1400" b="0" i="0" u="none" strike="noStrike" cap="none" normalizeH="0" baseline="0" dirty="0">
                <a:ln>
                  <a:noFill/>
                </a:ln>
                <a:solidFill>
                  <a:srgbClr val="C77DBB"/>
                </a:solidFill>
                <a:effectLst/>
                <a:latin typeface="JetBrains Mono"/>
              </a:rPr>
              <a:t> </a:t>
            </a:r>
            <a:r>
              <a:rPr kumimoji="0" lang="ru-RU" altLang="ru-RU" sz="14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= </a:t>
            </a:r>
            <a:r>
              <a:rPr kumimoji="0" lang="ru-RU" altLang="ru-RU" sz="1400" b="0" i="0" u="none" strike="noStrike" cap="none" normalizeH="0" baseline="0" dirty="0" err="1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new</a:t>
            </a:r>
            <a:r>
              <a:rPr kumimoji="0" lang="ru-RU" altLang="ru-RU" sz="14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 </a:t>
            </a:r>
            <a:r>
              <a:rPr kumimoji="0" lang="ru-RU" altLang="ru-RU" sz="14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ArrayList</a:t>
            </a:r>
            <a:r>
              <a:rPr kumimoji="0" lang="ru-RU" altLang="ru-RU" sz="14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&lt;&gt;();</a:t>
            </a:r>
            <a:endParaRPr kumimoji="0" lang="ru-RU" altLang="ru-RU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Rectangle 5">
            <a:extLst>
              <a:ext uri="{FF2B5EF4-FFF2-40B4-BE49-F238E27FC236}">
                <a16:creationId xmlns:a16="http://schemas.microsoft.com/office/drawing/2014/main" id="{F68B4CC4-0297-4747-BC61-A4D7372F0D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9124" y="3104725"/>
            <a:ext cx="2810435" cy="738664"/>
          </a:xfrm>
          <a:prstGeom prst="rect">
            <a:avLst/>
          </a:prstGeom>
          <a:solidFill>
            <a:srgbClr val="1E1F2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400" b="0" i="0" u="none" strike="noStrike" cap="none" normalizeH="0" baseline="0" dirty="0" err="1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private</a:t>
            </a:r>
            <a:r>
              <a:rPr kumimoji="0" lang="ru-RU" altLang="ru-RU" sz="14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 </a:t>
            </a:r>
            <a:r>
              <a:rPr kumimoji="0" lang="ru-RU" altLang="ru-RU" sz="14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List&lt;Point&gt; </a:t>
            </a:r>
            <a:r>
              <a:rPr kumimoji="0" lang="ru-RU" altLang="ru-RU" sz="1400" b="0" i="0" u="none" strike="noStrike" cap="none" normalizeH="0" baseline="0" dirty="0" err="1">
                <a:ln>
                  <a:noFill/>
                </a:ln>
                <a:solidFill>
                  <a:srgbClr val="C77DBB"/>
                </a:solidFill>
                <a:effectLst/>
                <a:latin typeface="JetBrains Mono"/>
              </a:rPr>
              <a:t>onePairCoordinate</a:t>
            </a:r>
            <a:r>
              <a:rPr kumimoji="0" lang="ru-RU" altLang="ru-RU" sz="1400" b="0" i="0" u="none" strike="noStrike" cap="none" normalizeH="0" baseline="0" dirty="0">
                <a:ln>
                  <a:noFill/>
                </a:ln>
                <a:solidFill>
                  <a:srgbClr val="C77DBB"/>
                </a:solidFill>
                <a:effectLst/>
                <a:latin typeface="JetBrains Mono"/>
              </a:rPr>
              <a:t> </a:t>
            </a:r>
            <a:r>
              <a:rPr kumimoji="0" lang="ru-RU" altLang="ru-RU" sz="14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= </a:t>
            </a:r>
            <a:r>
              <a:rPr kumimoji="0" lang="ru-RU" altLang="ru-RU" sz="1400" b="0" i="0" u="none" strike="noStrike" cap="none" normalizeH="0" baseline="0" dirty="0" err="1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new</a:t>
            </a:r>
            <a:r>
              <a:rPr kumimoji="0" lang="ru-RU" altLang="ru-RU" sz="14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 </a:t>
            </a:r>
            <a:r>
              <a:rPr kumimoji="0" lang="ru-RU" altLang="ru-RU" sz="14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ArrayList</a:t>
            </a:r>
            <a:r>
              <a:rPr kumimoji="0" lang="ru-RU" altLang="ru-RU" sz="14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&lt;&gt;();</a:t>
            </a:r>
            <a:endParaRPr kumimoji="0" lang="ru-RU" altLang="ru-RU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17" name="Соединитель: уступ 16">
            <a:extLst>
              <a:ext uri="{FF2B5EF4-FFF2-40B4-BE49-F238E27FC236}">
                <a16:creationId xmlns:a16="http://schemas.microsoft.com/office/drawing/2014/main" id="{CDAE6E5C-8F83-47FF-84FA-D1FB3F423E49}"/>
              </a:ext>
            </a:extLst>
          </p:cNvPr>
          <p:cNvCxnSpPr>
            <a:stCxn id="7" idx="1"/>
            <a:endCxn id="15" idx="1"/>
          </p:cNvCxnSpPr>
          <p:nvPr/>
        </p:nvCxnSpPr>
        <p:spPr>
          <a:xfrm rot="10800000" flipV="1">
            <a:off x="619125" y="1183343"/>
            <a:ext cx="1" cy="2290714"/>
          </a:xfrm>
          <a:prstGeom prst="bentConnector3">
            <a:avLst>
              <a:gd name="adj1" fmla="val 22860100000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aphicFrame>
        <p:nvGraphicFramePr>
          <p:cNvPr id="18" name="Таблица 18">
            <a:extLst>
              <a:ext uri="{FF2B5EF4-FFF2-40B4-BE49-F238E27FC236}">
                <a16:creationId xmlns:a16="http://schemas.microsoft.com/office/drawing/2014/main" id="{5DF684FA-29CB-49D8-9A68-14B7126EC9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888007"/>
              </p:ext>
            </p:extLst>
          </p:nvPr>
        </p:nvGraphicFramePr>
        <p:xfrm>
          <a:off x="3740336" y="2846659"/>
          <a:ext cx="8127999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3712992030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019233212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31241104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Координата </a:t>
                      </a:r>
                      <a:r>
                        <a:rPr lang="en-US" dirty="0"/>
                        <a:t>X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Координата </a:t>
                      </a:r>
                      <a:r>
                        <a:rPr lang="en-US" dirty="0"/>
                        <a:t>Y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56277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Точка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x1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y1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03348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Точка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x2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y2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24464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Точка </a:t>
                      </a:r>
                      <a:r>
                        <a:rPr lang="en-US" dirty="0"/>
                        <a:t>N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xn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yn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2281540"/>
                  </a:ext>
                </a:extLst>
              </a:tr>
            </a:tbl>
          </a:graphicData>
        </a:graphic>
      </p:graphicFrame>
      <p:graphicFrame>
        <p:nvGraphicFramePr>
          <p:cNvPr id="19" name="Таблица 19">
            <a:extLst>
              <a:ext uri="{FF2B5EF4-FFF2-40B4-BE49-F238E27FC236}">
                <a16:creationId xmlns:a16="http://schemas.microsoft.com/office/drawing/2014/main" id="{BB608FAF-E02B-4972-BAD0-9C06C3541E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8196077"/>
              </p:ext>
            </p:extLst>
          </p:nvPr>
        </p:nvGraphicFramePr>
        <p:xfrm>
          <a:off x="3730163" y="4657363"/>
          <a:ext cx="81280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37541809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6900915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836683615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6463028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Вершина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Вершина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Точка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55902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Прямоугольник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Point (double </a:t>
                      </a:r>
                      <a:r>
                        <a:rPr lang="en-US" dirty="0" err="1"/>
                        <a:t>x,y</a:t>
                      </a:r>
                      <a:r>
                        <a:rPr lang="en-US" dirty="0"/>
                        <a:t>)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Point (double </a:t>
                      </a:r>
                      <a:r>
                        <a:rPr lang="en-US" dirty="0" err="1"/>
                        <a:t>x,y</a:t>
                      </a:r>
                      <a:r>
                        <a:rPr lang="en-US" dirty="0"/>
                        <a:t>)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Point (double </a:t>
                      </a:r>
                      <a:r>
                        <a:rPr lang="en-US" dirty="0" err="1"/>
                        <a:t>x,y</a:t>
                      </a:r>
                      <a:r>
                        <a:rPr lang="en-US" dirty="0"/>
                        <a:t>)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4738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Прямоугольник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Point (double </a:t>
                      </a:r>
                      <a:r>
                        <a:rPr lang="en-US" dirty="0" err="1"/>
                        <a:t>x,y</a:t>
                      </a:r>
                      <a:r>
                        <a:rPr lang="en-US" dirty="0"/>
                        <a:t>)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Point (double </a:t>
                      </a:r>
                      <a:r>
                        <a:rPr lang="en-US" dirty="0" err="1"/>
                        <a:t>x,y</a:t>
                      </a:r>
                      <a:r>
                        <a:rPr lang="en-US" dirty="0"/>
                        <a:t>)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Point (double </a:t>
                      </a:r>
                      <a:r>
                        <a:rPr lang="en-US" dirty="0" err="1"/>
                        <a:t>x,y</a:t>
                      </a:r>
                      <a:r>
                        <a:rPr lang="en-US" dirty="0"/>
                        <a:t>)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8198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Прямоугольник </a:t>
                      </a:r>
                      <a:r>
                        <a:rPr lang="en-US" dirty="0"/>
                        <a:t>N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Point (double </a:t>
                      </a:r>
                      <a:r>
                        <a:rPr lang="en-US" dirty="0" err="1"/>
                        <a:t>x,y</a:t>
                      </a:r>
                      <a:r>
                        <a:rPr lang="en-US" dirty="0"/>
                        <a:t>)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Point (double </a:t>
                      </a:r>
                      <a:r>
                        <a:rPr lang="en-US" dirty="0" err="1"/>
                        <a:t>x,y</a:t>
                      </a:r>
                      <a:r>
                        <a:rPr lang="en-US" dirty="0"/>
                        <a:t>)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Point (double </a:t>
                      </a:r>
                      <a:r>
                        <a:rPr lang="en-US" dirty="0" err="1"/>
                        <a:t>x,y</a:t>
                      </a:r>
                      <a:r>
                        <a:rPr lang="en-US" dirty="0"/>
                        <a:t>)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7523454"/>
                  </a:ext>
                </a:extLst>
              </a:tr>
            </a:tbl>
          </a:graphicData>
        </a:graphic>
      </p:graphicFrame>
      <p:sp>
        <p:nvSpPr>
          <p:cNvPr id="21" name="TextBox 20">
            <a:extLst>
              <a:ext uri="{FF2B5EF4-FFF2-40B4-BE49-F238E27FC236}">
                <a16:creationId xmlns:a16="http://schemas.microsoft.com/office/drawing/2014/main" id="{D220F30C-46A4-4793-9EA2-D47CA4ED35B7}"/>
              </a:ext>
            </a:extLst>
          </p:cNvPr>
          <p:cNvSpPr txBox="1"/>
          <p:nvPr/>
        </p:nvSpPr>
        <p:spPr>
          <a:xfrm>
            <a:off x="1278950" y="3832987"/>
            <a:ext cx="15161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Массив точек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54FA54C-7497-4246-80C8-9E36DCF6585F}"/>
              </a:ext>
            </a:extLst>
          </p:cNvPr>
          <p:cNvSpPr txBox="1"/>
          <p:nvPr/>
        </p:nvSpPr>
        <p:spPr>
          <a:xfrm>
            <a:off x="680805" y="5214377"/>
            <a:ext cx="27124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Массив прямоугольников</a:t>
            </a:r>
          </a:p>
        </p:txBody>
      </p:sp>
      <p:cxnSp>
        <p:nvCxnSpPr>
          <p:cNvPr id="24" name="Соединитель: уступ 23">
            <a:extLst>
              <a:ext uri="{FF2B5EF4-FFF2-40B4-BE49-F238E27FC236}">
                <a16:creationId xmlns:a16="http://schemas.microsoft.com/office/drawing/2014/main" id="{BC5CCA80-59CD-498B-9664-88802108B90F}"/>
              </a:ext>
            </a:extLst>
          </p:cNvPr>
          <p:cNvCxnSpPr>
            <a:stCxn id="11" idx="1"/>
            <a:endCxn id="14" idx="1"/>
          </p:cNvCxnSpPr>
          <p:nvPr/>
        </p:nvCxnSpPr>
        <p:spPr>
          <a:xfrm rot="10800000" flipV="1">
            <a:off x="619124" y="2138833"/>
            <a:ext cx="12703" cy="2813934"/>
          </a:xfrm>
          <a:prstGeom prst="bentConnector3">
            <a:avLst>
              <a:gd name="adj1" fmla="val 4157868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89240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C65C1A1-D9F1-4523-ABCC-8C4B0F695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00000" y="6120000"/>
            <a:ext cx="2743200" cy="365125"/>
          </a:xfrm>
        </p:spPr>
        <p:txBody>
          <a:bodyPr lIns="0" tIns="36000" rIns="0" bIns="36000"/>
          <a:lstStyle/>
          <a:p>
            <a:fld id="{8346BD07-4451-4F99-9781-57091C949674}" type="slidenum">
              <a:rPr lang="ru-RU" sz="1400" b="1" smtClean="0">
                <a:solidFill>
                  <a:schemeClr val="accent6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14</a:t>
            </a:fld>
            <a:endParaRPr lang="ru-RU" sz="1400" b="1" dirty="0">
              <a:solidFill>
                <a:schemeClr val="accent6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1DB6DBA3-C25E-47F7-8D71-3C2320B9E2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0000" y="0"/>
            <a:ext cx="10515600" cy="925195"/>
          </a:xfrm>
        </p:spPr>
        <p:txBody>
          <a:bodyPr>
            <a:normAutofit/>
          </a:bodyPr>
          <a:lstStyle/>
          <a:p>
            <a:pPr algn="ctr"/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Метод решения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3141481-EFF4-42FA-9B89-F98D5D974D17}"/>
              </a:ext>
            </a:extLst>
          </p:cNvPr>
          <p:cNvSpPr txBox="1"/>
          <p:nvPr/>
        </p:nvSpPr>
        <p:spPr>
          <a:xfrm>
            <a:off x="143435" y="794320"/>
            <a:ext cx="8110228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>
                <a:solidFill>
                  <a:schemeClr val="tx1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1.</a:t>
            </a:r>
            <a:r>
              <a:rPr lang="en-US" sz="1600" b="1" dirty="0">
                <a:solidFill>
                  <a:schemeClr val="tx1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600" b="1" dirty="0">
                <a:solidFill>
                  <a:schemeClr val="tx1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Задание прямоугольника (проверка существования данного прямоугольника)</a:t>
            </a:r>
          </a:p>
          <a:p>
            <a:endParaRPr lang="ru-RU" sz="1600" dirty="0">
              <a:solidFill>
                <a:schemeClr val="tx1"/>
              </a:solidFill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endParaRPr lang="ru-RU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endParaRPr lang="ru-RU" sz="1600" dirty="0">
              <a:solidFill>
                <a:schemeClr val="tx1"/>
              </a:solidFill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endParaRPr lang="ru-RU" sz="1600" dirty="0">
              <a:solidFill>
                <a:schemeClr val="tx1"/>
              </a:solidFill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endParaRPr lang="ru-RU" sz="1600" dirty="0">
              <a:solidFill>
                <a:schemeClr val="tx1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endParaRPr lang="ru-RU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endParaRPr lang="ru-RU" sz="1600" dirty="0">
              <a:solidFill>
                <a:schemeClr val="tx1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r>
              <a:rPr lang="ru-RU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 </a:t>
            </a:r>
          </a:p>
          <a:p>
            <a:endParaRPr lang="ru-RU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endParaRPr lang="ru-RU" sz="1600" dirty="0">
              <a:solidFill>
                <a:schemeClr val="tx1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endParaRPr lang="ru-RU" sz="1600" dirty="0">
              <a:solidFill>
                <a:schemeClr val="tx1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endParaRPr lang="ru-RU" sz="1600" dirty="0">
              <a:solidFill>
                <a:schemeClr val="tx1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endParaRPr lang="ru-RU" sz="1600" b="1" dirty="0">
              <a:solidFill>
                <a:schemeClr val="tx1"/>
              </a:solidFill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endParaRPr lang="ru-RU" sz="1600" b="1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1067" y="1193015"/>
            <a:ext cx="4220950" cy="28992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93032" y="1187116"/>
                <a:ext cx="6970294" cy="76482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ru-RU" sz="1400" b="1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Вводятся:</a:t>
                </a:r>
              </a:p>
              <a:p>
                <a:r>
                  <a:rPr lang="ru-RU" sz="1400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а) Две точки </a:t>
                </a:r>
                <a:r>
                  <a:rPr lang="en-US" sz="1400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P</a:t>
                </a:r>
                <a:r>
                  <a:rPr lang="ru-RU" sz="1400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1 и </a:t>
                </a:r>
                <a:r>
                  <a:rPr lang="en-US" sz="1400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P</a:t>
                </a:r>
                <a:r>
                  <a:rPr lang="ru-RU" sz="1400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2, являющиеся вершинами одной из сторон прямоугольника; </a:t>
                </a:r>
              </a:p>
              <a:p>
                <a:r>
                  <a:rPr lang="ru-RU" sz="1400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б) Точка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sz="14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accPr>
                      <m:e>
                        <m:r>
                          <a:rPr lang="en-US" sz="14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𝑇</m:t>
                        </m:r>
                      </m:e>
                    </m:acc>
                  </m:oMath>
                </a14:m>
                <a:r>
                  <a:rPr lang="ru-RU" sz="1400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на плоскости, лежащая на прямой, проходящей через две другие вершины.</a:t>
                </a:r>
                <a:endParaRPr lang="ru-RU" sz="1400" dirty="0"/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032" y="1187116"/>
                <a:ext cx="6970294" cy="764825"/>
              </a:xfrm>
              <a:prstGeom prst="rect">
                <a:avLst/>
              </a:prstGeom>
              <a:blipFill rotWithShape="1">
                <a:blip r:embed="rId3"/>
                <a:stretch>
                  <a:fillRect l="-175" t="-800" b="-72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376989" y="2356884"/>
                <a:ext cx="6970294" cy="81855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ru-RU" sz="1400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Строим вспомогательные векторы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sz="1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4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𝑉</m:t>
                        </m:r>
                      </m:e>
                    </m:acc>
                  </m:oMath>
                </a14:m>
                <a:r>
                  <a:rPr lang="ru-RU" sz="1400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и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sz="1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4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𝑅</m:t>
                        </m:r>
                      </m:e>
                    </m:acc>
                  </m:oMath>
                </a14:m>
                <a:endParaRPr lang="ru-RU" sz="1400" dirty="0"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r>
                  <a:rPr lang="ru-RU" sz="1400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Значение косинуса </a:t>
                </a:r>
                <a:r>
                  <a:rPr lang="el-GR" sz="1400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α</a:t>
                </a:r>
                <a:r>
                  <a:rPr lang="ru-RU" sz="1400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находим через скалярное произведение </a:t>
                </a:r>
                <a:r>
                  <a:rPr lang="en-US" sz="1400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S</a:t>
                </a:r>
                <a:r>
                  <a:rPr lang="ru-RU" sz="1400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векторов</a:t>
                </a:r>
                <a:r>
                  <a:rPr lang="en-US" sz="1400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</a:t>
                </a:r>
                <a:r>
                  <a:rPr lang="ru-RU" sz="1400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sz="1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4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𝑉</m:t>
                        </m:r>
                      </m:e>
                    </m:acc>
                  </m:oMath>
                </a14:m>
                <a:r>
                  <a:rPr lang="ru-RU" sz="1400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и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sz="1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4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𝑅</m:t>
                        </m:r>
                      </m:e>
                    </m:acc>
                  </m:oMath>
                </a14:m>
                <a:r>
                  <a:rPr lang="ru-RU" sz="1400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.</a:t>
                </a:r>
              </a:p>
              <a:p>
                <a:r>
                  <a:rPr lang="ru-RU" sz="1400" dirty="0">
                    <a:latin typeface="Times New Roman" panose="02020603050405020304" pitchFamily="18" charset="0"/>
                  </a:rPr>
                  <a:t>Зная значение</a:t>
                </a:r>
                <a:r>
                  <a:rPr lang="en-US" sz="1400" dirty="0">
                    <a:latin typeface="Times New Roman" panose="02020603050405020304" pitchFamily="18" charset="0"/>
                  </a:rPr>
                  <a:t> S</a:t>
                </a:r>
                <a:r>
                  <a:rPr lang="ru-RU" sz="1400" dirty="0">
                    <a:latin typeface="Times New Roman" panose="02020603050405020304" pitchFamily="18" charset="0"/>
                  </a:rPr>
                  <a:t> находим расстояние от точки </a:t>
                </a:r>
                <a:r>
                  <a:rPr lang="en-US" sz="1400" i="1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P</a:t>
                </a:r>
                <a:r>
                  <a:rPr lang="ru-RU" sz="1400" i="1" baseline="-25000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0</a:t>
                </a:r>
                <a:r>
                  <a:rPr lang="ru-RU" sz="1400" dirty="0">
                    <a:latin typeface="Times New Roman" panose="02020603050405020304" pitchFamily="18" charset="0"/>
                  </a:rPr>
                  <a:t> до </a:t>
                </a:r>
                <a:r>
                  <a:rPr lang="en-US" sz="1400" i="1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A</a:t>
                </a:r>
                <a:endParaRPr lang="ru-RU" sz="1400" dirty="0"/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989" y="2356884"/>
                <a:ext cx="6970294" cy="818557"/>
              </a:xfrm>
              <a:prstGeom prst="rect">
                <a:avLst/>
              </a:prstGeom>
              <a:blipFill rotWithShape="1">
                <a:blip r:embed="rId4"/>
                <a:stretch>
                  <a:fillRect l="-262" b="-298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Стрелка вниз 5"/>
          <p:cNvSpPr/>
          <p:nvPr/>
        </p:nvSpPr>
        <p:spPr>
          <a:xfrm>
            <a:off x="3733800" y="3175441"/>
            <a:ext cx="232610" cy="404943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Box 10"/>
          <p:cNvSpPr txBox="1"/>
          <p:nvPr/>
        </p:nvSpPr>
        <p:spPr>
          <a:xfrm>
            <a:off x="393032" y="3589739"/>
            <a:ext cx="6970294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itchFamily="18" charset="0"/>
                <a:cs typeface="Times New Roman" pitchFamily="18" charset="0"/>
              </a:rPr>
              <a:t>Далее находим значение параметра 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t </a:t>
            </a:r>
            <a:r>
              <a:rPr lang="ru-RU" dirty="0">
                <a:latin typeface="Times New Roman" pitchFamily="18" charset="0"/>
                <a:cs typeface="Times New Roman" pitchFamily="18" charset="0"/>
              </a:rPr>
              <a:t>точки 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A</a:t>
            </a:r>
            <a:endParaRPr lang="ru-RU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93033" y="4376266"/>
            <a:ext cx="6970293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itchFamily="18" charset="0"/>
                <a:cs typeface="Times New Roman" pitchFamily="18" charset="0"/>
              </a:rPr>
              <a:t>Проверка существования – если 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0≤</a:t>
            </a:r>
            <a:r>
              <a:rPr lang="en-US" i="1" dirty="0">
                <a:latin typeface="Times New Roman" pitchFamily="18" charset="0"/>
                <a:cs typeface="Times New Roman" pitchFamily="18" charset="0"/>
              </a:rPr>
              <a:t>t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itchFamily="18" charset="0"/>
              </a:rPr>
              <a:t>≤1</a:t>
            </a:r>
            <a:endParaRPr lang="ru-RU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5" name="Стрелка вниз 14"/>
          <p:cNvSpPr/>
          <p:nvPr/>
        </p:nvSpPr>
        <p:spPr>
          <a:xfrm>
            <a:off x="3737810" y="1951941"/>
            <a:ext cx="232610" cy="404943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Стрелка вниз 15"/>
          <p:cNvSpPr/>
          <p:nvPr/>
        </p:nvSpPr>
        <p:spPr>
          <a:xfrm>
            <a:off x="3733800" y="3947079"/>
            <a:ext cx="232610" cy="404943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387932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EC3C29A5-8BBD-4116-897A-2FCC914B17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00000" y="6120000"/>
            <a:ext cx="2743200" cy="365125"/>
          </a:xfrm>
        </p:spPr>
        <p:txBody>
          <a:bodyPr lIns="0" tIns="36000" rIns="0" bIns="36000"/>
          <a:lstStyle/>
          <a:p>
            <a:fld id="{8346BD07-4451-4F99-9781-57091C949674}" type="slidenum">
              <a:rPr lang="ru-RU" sz="1400" b="1" smtClean="0">
                <a:solidFill>
                  <a:schemeClr val="accent6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15</a:t>
            </a:fld>
            <a:endParaRPr lang="ru-RU" sz="1400" b="1" dirty="0">
              <a:solidFill>
                <a:schemeClr val="accent6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010A682E-B571-48F8-8C60-183177EA4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0000" y="0"/>
            <a:ext cx="10515600" cy="925195"/>
          </a:xfrm>
        </p:spPr>
        <p:txBody>
          <a:bodyPr>
            <a:normAutofit/>
          </a:bodyPr>
          <a:lstStyle/>
          <a:p>
            <a:pPr algn="ctr"/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Метод решения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AAB187-F7EA-405C-BE5F-7C25CE1E0040}"/>
              </a:ext>
            </a:extLst>
          </p:cNvPr>
          <p:cNvSpPr txBox="1"/>
          <p:nvPr/>
        </p:nvSpPr>
        <p:spPr>
          <a:xfrm>
            <a:off x="206187" y="879251"/>
            <a:ext cx="11057965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tx1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2. </a:t>
            </a:r>
            <a:r>
              <a:rPr lang="ru-RU" sz="1600" b="1" dirty="0">
                <a:solidFill>
                  <a:schemeClr val="tx1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Построение прямоугольника по трем точкам </a:t>
            </a:r>
            <a:r>
              <a:rPr lang="ru-RU" sz="1600" dirty="0">
                <a:solidFill>
                  <a:schemeClr val="tx1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– нахождение координат всех вершин</a:t>
            </a:r>
          </a:p>
          <a:p>
            <a:pPr marL="285750" indent="-285750">
              <a:buFontTx/>
              <a:buChar char="-"/>
            </a:pPr>
            <a:endParaRPr lang="ru-RU" sz="1600" dirty="0">
              <a:solidFill>
                <a:schemeClr val="tx1"/>
              </a:solidFill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endParaRPr lang="en-US" sz="1600" dirty="0">
              <a:solidFill>
                <a:schemeClr val="tx1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endParaRPr lang="en-US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endParaRPr lang="en-US" sz="1600" dirty="0">
              <a:solidFill>
                <a:schemeClr val="tx1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endParaRPr lang="en-US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endParaRPr lang="en-US" sz="1600" dirty="0">
              <a:solidFill>
                <a:schemeClr val="tx1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endParaRPr lang="en-US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endParaRPr lang="en-US" sz="1600" dirty="0">
              <a:solidFill>
                <a:schemeClr val="tx1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endParaRPr lang="ru-RU" sz="1600" dirty="0">
              <a:solidFill>
                <a:schemeClr val="tx1"/>
              </a:solidFill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endParaRPr lang="ru-RU" sz="1600" dirty="0">
              <a:solidFill>
                <a:schemeClr val="tx1"/>
              </a:solidFill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endParaRPr lang="ru-RU" sz="1600" dirty="0">
              <a:solidFill>
                <a:schemeClr val="tx1"/>
              </a:solidFill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endParaRPr lang="ru-RU" sz="1600" dirty="0">
              <a:solidFill>
                <a:schemeClr val="tx1"/>
              </a:solidFill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endParaRPr lang="ru-RU" sz="1600" dirty="0">
              <a:solidFill>
                <a:schemeClr val="tx1"/>
              </a:solidFill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endParaRPr lang="ru-RU" sz="1600" b="1" i="1" dirty="0">
              <a:solidFill>
                <a:schemeClr val="tx1"/>
              </a:solidFill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endParaRPr lang="ru-RU" sz="1600" b="1" i="1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endParaRPr lang="ru-RU" sz="1600" b="1" i="1" dirty="0">
              <a:solidFill>
                <a:schemeClr val="tx1"/>
              </a:solidFill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endParaRPr lang="ru-RU" sz="1600" dirty="0">
              <a:solidFill>
                <a:schemeClr val="tx1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endParaRPr lang="ru-RU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endParaRPr lang="ru-RU" sz="1600" dirty="0">
              <a:solidFill>
                <a:schemeClr val="tx1"/>
              </a:solidFill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endParaRPr lang="ru-RU" sz="1600" dirty="0">
              <a:solidFill>
                <a:schemeClr val="accent6">
                  <a:lumMod val="50000"/>
                </a:schemeClr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06087" y="1717451"/>
            <a:ext cx="3843078" cy="322708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393031" y="1283368"/>
                <a:ext cx="7234989" cy="980268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ru-RU" sz="1400" b="1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Исходные данные:</a:t>
                </a:r>
              </a:p>
              <a:p>
                <a:r>
                  <a:rPr lang="ru-RU" sz="1400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а) Две точки </a:t>
                </a:r>
                <a:r>
                  <a:rPr lang="en-US" sz="1400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P</a:t>
                </a:r>
                <a:r>
                  <a:rPr lang="ru-RU" sz="1400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1 и </a:t>
                </a:r>
                <a:r>
                  <a:rPr lang="en-US" sz="1400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P</a:t>
                </a:r>
                <a:r>
                  <a:rPr lang="ru-RU" sz="1400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2, являющиеся вершинами одной из сторон прямоугольника; </a:t>
                </a:r>
              </a:p>
              <a:p>
                <a:r>
                  <a:rPr lang="ru-RU" sz="1400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б) Точка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sz="14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accPr>
                      <m:e>
                        <m:r>
                          <a:rPr lang="en-US" sz="14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𝑇</m:t>
                        </m:r>
                      </m:e>
                    </m:acc>
                  </m:oMath>
                </a14:m>
                <a:r>
                  <a:rPr lang="ru-RU" sz="1400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на плоскости, лежащая на прямой, проходящей через две другие вершины.</a:t>
                </a:r>
              </a:p>
              <a:p>
                <a:r>
                  <a:rPr lang="ru-RU" sz="1400" b="1" i="1" dirty="0">
                    <a:latin typeface="Times New Roman" panose="02020603050405020304" pitchFamily="18" charset="0"/>
                  </a:rPr>
                  <a:t>Дополнительное требование: </a:t>
                </a:r>
                <a:r>
                  <a:rPr lang="ru-RU" sz="1400" b="1" i="1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направления обхода вершин - против часовой стрелки</a:t>
                </a:r>
                <a:endParaRPr lang="ru-RU" sz="1400" b="1" i="1" dirty="0">
                  <a:latin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031" y="1283368"/>
                <a:ext cx="7234989" cy="980268"/>
              </a:xfrm>
              <a:prstGeom prst="rect">
                <a:avLst/>
              </a:prstGeom>
              <a:blipFill rotWithShape="1">
                <a:blip r:embed="rId3"/>
                <a:stretch>
                  <a:fillRect l="-168" t="-625" b="-562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393030" y="2596677"/>
                <a:ext cx="7234990" cy="5493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ru-RU" sz="1400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Строим вспомогательные векторы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sz="1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4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𝑉</m:t>
                        </m:r>
                      </m:e>
                    </m:acc>
                  </m:oMath>
                </a14:m>
                <a:r>
                  <a:rPr lang="ru-RU" sz="1400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и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sz="1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4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𝑅</m:t>
                        </m:r>
                      </m:e>
                    </m:acc>
                  </m:oMath>
                </a14:m>
                <a:endParaRPr lang="ru-RU" sz="1400" dirty="0"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r>
                  <a:rPr lang="ru-RU" sz="1400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Угол между векторами </a:t>
                </a:r>
                <a:r>
                  <a:rPr lang="ru-RU" sz="1400" i="1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V</a:t>
                </a:r>
                <a:r>
                  <a:rPr lang="ru-RU" sz="1400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и </a:t>
                </a:r>
                <a:r>
                  <a:rPr lang="ru-RU" sz="1400" i="1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R </a:t>
                </a:r>
                <a:r>
                  <a:rPr lang="ru-RU" sz="1400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определяется знаком </a:t>
                </a:r>
                <a:r>
                  <a:rPr lang="en-US" sz="1400" i="1" dirty="0" err="1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Sk</a:t>
                </a:r>
                <a:r>
                  <a:rPr lang="en-US" sz="1400" i="1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</a:t>
                </a:r>
                <a:r>
                  <a:rPr lang="ru-RU" sz="1400" i="1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- </a:t>
                </a:r>
                <a:r>
                  <a:rPr lang="ru-RU" sz="1400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косого произведения</a:t>
                </a:r>
                <a:r>
                  <a:rPr lang="en-US" sz="1400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</a:t>
                </a:r>
                <a:r>
                  <a:rPr lang="ru-RU" sz="1400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векторов.</a:t>
                </a:r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030" y="2596677"/>
                <a:ext cx="7234990" cy="549381"/>
              </a:xfrm>
              <a:prstGeom prst="rect">
                <a:avLst/>
              </a:prstGeom>
              <a:blipFill rotWithShape="1">
                <a:blip r:embed="rId4"/>
                <a:stretch>
                  <a:fillRect l="-168" b="-10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Стрелка вниз 9"/>
          <p:cNvSpPr/>
          <p:nvPr/>
        </p:nvSpPr>
        <p:spPr>
          <a:xfrm>
            <a:off x="3721769" y="2277979"/>
            <a:ext cx="156408" cy="296777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Стрелка вниз 10"/>
          <p:cNvSpPr/>
          <p:nvPr/>
        </p:nvSpPr>
        <p:spPr>
          <a:xfrm>
            <a:off x="3727784" y="3162549"/>
            <a:ext cx="156408" cy="296777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TextBox 11"/>
          <p:cNvSpPr txBox="1"/>
          <p:nvPr/>
        </p:nvSpPr>
        <p:spPr>
          <a:xfrm>
            <a:off x="403056" y="3478586"/>
            <a:ext cx="7224963" cy="95410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ru-RU" sz="1400" i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Проверка:</a:t>
            </a:r>
          </a:p>
          <a:p>
            <a:r>
              <a:rPr lang="ru-RU" sz="14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а) </a:t>
            </a:r>
            <a:r>
              <a:rPr lang="ru-RU" sz="1400" i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Если</a:t>
            </a:r>
            <a:r>
              <a:rPr lang="ru-RU" sz="14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400" i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S</a:t>
            </a:r>
            <a:r>
              <a:rPr lang="en-US" sz="1400" i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k</a:t>
            </a:r>
            <a:r>
              <a:rPr lang="ru-RU" sz="1400" i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 = 0, то V и R параллельны, точка T лежит на стороне P1 и P2 - построение </a:t>
            </a:r>
            <a:endParaRPr lang="en-US" sz="1400" i="1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r>
              <a:rPr lang="ru-RU" sz="1400" i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прямоугольника невозможно;</a:t>
            </a:r>
            <a:endParaRPr lang="ru-RU" sz="14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r>
              <a:rPr lang="ru-RU" sz="14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б) </a:t>
            </a:r>
            <a:r>
              <a:rPr lang="ru-RU" sz="1400" i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Если </a:t>
            </a:r>
            <a:r>
              <a:rPr lang="en-US" sz="1400" i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Sk</a:t>
            </a:r>
            <a:r>
              <a:rPr lang="ru-RU" sz="1400" i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&lt;0, точка T лежит справа от прямой P1</a:t>
            </a:r>
            <a:r>
              <a:rPr lang="ru-RU" sz="14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400" i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и</a:t>
            </a:r>
            <a:r>
              <a:rPr lang="ru-RU" sz="14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400" i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P2 – меняем местами точки P1</a:t>
            </a:r>
            <a:r>
              <a:rPr lang="ru-RU" sz="14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400" i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и</a:t>
            </a:r>
            <a:r>
              <a:rPr lang="ru-RU" sz="14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400" i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P2. </a:t>
            </a:r>
            <a:endParaRPr lang="ru-RU" sz="1400" b="1" i="1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 flipH="1">
                <a:off x="403055" y="4766759"/>
                <a:ext cx="7224963" cy="555088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ru-RU" sz="1400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Опускаем перпендикуляр из точки </a:t>
                </a:r>
                <a:r>
                  <a:rPr lang="ru-RU" sz="1400" i="1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T</a:t>
                </a:r>
                <a:r>
                  <a:rPr lang="ru-RU" sz="1400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на вектор </a:t>
                </a:r>
                <a:r>
                  <a:rPr lang="en-US" sz="1400" i="1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R</a:t>
                </a:r>
                <a:r>
                  <a:rPr lang="ru-RU" sz="1400" i="1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 </a:t>
                </a:r>
                <a:r>
                  <a:rPr lang="ru-RU" sz="1400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– точка </a:t>
                </a:r>
                <a:r>
                  <a:rPr lang="en-US" sz="1400" i="1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A</a:t>
                </a:r>
                <a:endParaRPr lang="ru-RU" sz="1400" i="1" dirty="0"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r>
                  <a:rPr lang="ru-RU" sz="1400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Строим вектор </a:t>
                </a:r>
                <a:r>
                  <a:rPr lang="en-US" sz="1400" i="1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h</a:t>
                </a:r>
                <a:r>
                  <a:rPr lang="ru-RU" sz="1400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(перпендикуляр к вектору </a:t>
                </a:r>
                <a:r>
                  <a:rPr lang="en-US" sz="1400" i="1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R</a:t>
                </a:r>
                <a:r>
                  <a:rPr lang="ru-RU" sz="1400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)    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sz="1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4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</m:e>
                    </m:acc>
                    <m:r>
                      <a:rPr lang="ru-RU" sz="1400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acc>
                      <m:accPr>
                        <m:chr m:val="⃗"/>
                        <m:ctrlPr>
                          <a:rPr lang="ru-RU" sz="1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ru-RU" sz="14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𝑇</m:t>
                        </m:r>
                      </m:e>
                    </m:acc>
                    <m:r>
                      <a:rPr lang="ru-RU" sz="1400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−</m:t>
                    </m:r>
                    <m:acc>
                      <m:accPr>
                        <m:chr m:val="⃗"/>
                        <m:ctrlPr>
                          <a:rPr lang="ru-RU" sz="1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ru-RU" sz="14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𝐴</m:t>
                        </m:r>
                      </m:e>
                    </m:acc>
                  </m:oMath>
                </a14:m>
                <a:endParaRPr lang="ru-RU" sz="1400" dirty="0">
                  <a:latin typeface="Times New Roman" pitchFamily="18" charset="0"/>
                  <a:cs typeface="Times New Roman" pitchFamily="18" charset="0"/>
                </a:endParaRPr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403055" y="4766759"/>
                <a:ext cx="7224963" cy="555088"/>
              </a:xfrm>
              <a:prstGeom prst="rect">
                <a:avLst/>
              </a:prstGeom>
              <a:blipFill rotWithShape="1">
                <a:blip r:embed="rId5"/>
                <a:stretch>
                  <a:fillRect l="-169" t="-1099" b="-989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Стрелка вниз 12"/>
          <p:cNvSpPr/>
          <p:nvPr/>
        </p:nvSpPr>
        <p:spPr>
          <a:xfrm>
            <a:off x="3721769" y="4449859"/>
            <a:ext cx="156408" cy="296777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/>
          <p:cNvSpPr txBox="1"/>
          <p:nvPr/>
        </p:nvSpPr>
        <p:spPr>
          <a:xfrm>
            <a:off x="393030" y="5630779"/>
            <a:ext cx="7234990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ru-RU" sz="1400" dirty="0">
                <a:latin typeface="Times New Roman" panose="02020603050405020304" pitchFamily="18" charset="0"/>
              </a:rPr>
              <a:t>Находим точки P3 и P4</a:t>
            </a:r>
          </a:p>
        </p:txBody>
      </p:sp>
      <p:sp>
        <p:nvSpPr>
          <p:cNvPr id="15" name="Стрелка вниз 14"/>
          <p:cNvSpPr/>
          <p:nvPr/>
        </p:nvSpPr>
        <p:spPr>
          <a:xfrm>
            <a:off x="3717761" y="5334002"/>
            <a:ext cx="156408" cy="296777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949016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A7C438E0-2912-405B-B172-002F0B69C5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00000" y="6120000"/>
            <a:ext cx="2743200" cy="365125"/>
          </a:xfrm>
        </p:spPr>
        <p:txBody>
          <a:bodyPr lIns="0" tIns="36000" rIns="0" bIns="36000"/>
          <a:lstStyle/>
          <a:p>
            <a:fld id="{8346BD07-4451-4F99-9781-57091C949674}" type="slidenum">
              <a:rPr lang="ru-RU" sz="1400" b="1" smtClean="0">
                <a:solidFill>
                  <a:schemeClr val="accent6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16</a:t>
            </a:fld>
            <a:endParaRPr lang="ru-RU" sz="1400" b="1" dirty="0">
              <a:solidFill>
                <a:schemeClr val="accent6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BE61F328-2DF6-4044-946A-CF825C74FE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0000" y="0"/>
            <a:ext cx="10515600" cy="925195"/>
          </a:xfrm>
        </p:spPr>
        <p:txBody>
          <a:bodyPr>
            <a:normAutofit/>
          </a:bodyPr>
          <a:lstStyle/>
          <a:p>
            <a:pPr algn="ctr"/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Метод решения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7497D74-3BD2-4C6E-A429-C1905C349A85}"/>
              </a:ext>
            </a:extLst>
          </p:cNvPr>
          <p:cNvSpPr txBox="1"/>
          <p:nvPr/>
        </p:nvSpPr>
        <p:spPr>
          <a:xfrm>
            <a:off x="729916" y="765728"/>
            <a:ext cx="840492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3. Возможные </a:t>
            </a:r>
            <a:r>
              <a:rPr lang="en-US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4 </a:t>
            </a:r>
            <a:r>
              <a:rPr lang="ru-RU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вариант</a:t>
            </a:r>
            <a:r>
              <a:rPr lang="ru-RU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а</a:t>
            </a:r>
            <a:r>
              <a:rPr lang="ru-RU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взаимного расположения прямоугольника и отрезка</a:t>
            </a:r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91" r="66808" b="51701"/>
          <a:stretch/>
        </p:blipFill>
        <p:spPr>
          <a:xfrm>
            <a:off x="980468" y="1289180"/>
            <a:ext cx="2333626" cy="2298876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902" t="14979" r="31913" b="20582"/>
          <a:stretch/>
        </p:blipFill>
        <p:spPr>
          <a:xfrm>
            <a:off x="4620254" y="1314740"/>
            <a:ext cx="2520000" cy="224775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53003" y="2038376"/>
            <a:ext cx="5619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1</a:t>
            </a:r>
          </a:p>
        </p:txBody>
      </p:sp>
      <p:pic>
        <p:nvPicPr>
          <p:cNvPr id="15" name="Рисунок 14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050" t="15779" r="35227" b="26586"/>
          <a:stretch/>
        </p:blipFill>
        <p:spPr>
          <a:xfrm>
            <a:off x="8719676" y="1357236"/>
            <a:ext cx="2594878" cy="22308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038600" y="2035258"/>
            <a:ext cx="5619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57701" y="2083602"/>
            <a:ext cx="5619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5340" y="4781442"/>
            <a:ext cx="5619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4а</a:t>
            </a:r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38" t="30388" r="55587" b="8375"/>
          <a:stretch/>
        </p:blipFill>
        <p:spPr>
          <a:xfrm>
            <a:off x="7140254" y="4036181"/>
            <a:ext cx="2644425" cy="222918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275850" y="4753509"/>
            <a:ext cx="5619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4б</a:t>
            </a:r>
          </a:p>
        </p:txBody>
      </p:sp>
      <p:pic>
        <p:nvPicPr>
          <p:cNvPr id="22" name="Рисунок 21"/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144" t="21182" r="33333" b="16780"/>
          <a:stretch/>
        </p:blipFill>
        <p:spPr>
          <a:xfrm>
            <a:off x="2356773" y="4019451"/>
            <a:ext cx="2520000" cy="2206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13549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Шестиугольник 6"/>
          <p:cNvSpPr/>
          <p:nvPr/>
        </p:nvSpPr>
        <p:spPr>
          <a:xfrm>
            <a:off x="1036315" y="1062760"/>
            <a:ext cx="2861512" cy="336885"/>
          </a:xfrm>
          <a:prstGeom prst="hexagon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Цикл по массиву</a:t>
            </a:r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rectangles</a:t>
            </a:r>
            <a:endParaRPr lang="ru-RU" sz="1400" b="1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9" name="Прямая со стрелкой 8"/>
          <p:cNvCxnSpPr/>
          <p:nvPr/>
        </p:nvCxnSpPr>
        <p:spPr>
          <a:xfrm flipH="1">
            <a:off x="2401899" y="878275"/>
            <a:ext cx="1" cy="184485"/>
          </a:xfrm>
          <a:prstGeom prst="straightConnector1">
            <a:avLst/>
          </a:prstGeom>
          <a:ln w="317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Шестиугольник 10"/>
          <p:cNvSpPr/>
          <p:nvPr/>
        </p:nvSpPr>
        <p:spPr>
          <a:xfrm>
            <a:off x="1094181" y="2011359"/>
            <a:ext cx="2731167" cy="336884"/>
          </a:xfrm>
          <a:prstGeom prst="hexagon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Цикл по массиву </a:t>
            </a:r>
            <a:r>
              <a:rPr lang="en-US" sz="14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points</a:t>
            </a:r>
            <a:endParaRPr lang="ru-RU" sz="1400" b="1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Блок-схема: знак завершения 18"/>
          <p:cNvSpPr/>
          <p:nvPr/>
        </p:nvSpPr>
        <p:spPr>
          <a:xfrm>
            <a:off x="1368184" y="140340"/>
            <a:ext cx="2067429" cy="737936"/>
          </a:xfrm>
          <a:prstGeom prst="flowChartTerminator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maxLenth</a:t>
            </a: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=0</a:t>
            </a:r>
          </a:p>
          <a:p>
            <a:pPr algn="ctr"/>
            <a:r>
              <a:rPr lang="en-US" sz="1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curPoint</a:t>
            </a: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=null</a:t>
            </a:r>
          </a:p>
          <a:p>
            <a:pPr algn="ctr"/>
            <a:r>
              <a:rPr lang="en-US" sz="1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curRect</a:t>
            </a: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=null</a:t>
            </a:r>
            <a:endParaRPr lang="ru-RU" sz="1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Блок-схема: решение 19"/>
          <p:cNvSpPr/>
          <p:nvPr/>
        </p:nvSpPr>
        <p:spPr>
          <a:xfrm>
            <a:off x="856843" y="2578960"/>
            <a:ext cx="3296653" cy="673769"/>
          </a:xfrm>
          <a:prstGeom prst="flowChartDecision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Центр </a:t>
            </a:r>
            <a:r>
              <a:rPr lang="ru-RU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внутри</a:t>
            </a:r>
            <a:r>
              <a:rPr lang="ru-RU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b="1" dirty="0" err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rect</a:t>
            </a:r>
            <a:endParaRPr lang="en-US" sz="1400" b="1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ru-RU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Точка </a:t>
            </a:r>
            <a:r>
              <a:rPr lang="ru-RU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внутри</a:t>
            </a:r>
            <a:r>
              <a:rPr lang="ru-RU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b="1" dirty="0" err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rect</a:t>
            </a:r>
            <a:endParaRPr lang="ru-RU" sz="1400" b="1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2" name="Прямая со стрелкой 21"/>
          <p:cNvCxnSpPr>
            <a:endCxn id="20" idx="0"/>
          </p:cNvCxnSpPr>
          <p:nvPr/>
        </p:nvCxnSpPr>
        <p:spPr>
          <a:xfrm>
            <a:off x="2497149" y="2348243"/>
            <a:ext cx="8021" cy="230717"/>
          </a:xfrm>
          <a:prstGeom prst="straightConnector1">
            <a:avLst/>
          </a:prstGeom>
          <a:ln w="317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4075290" y="2518764"/>
            <a:ext cx="4042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да</a:t>
            </a:r>
          </a:p>
        </p:txBody>
      </p:sp>
      <p:sp>
        <p:nvSpPr>
          <p:cNvPr id="30" name="Блок-схема: решение 29"/>
          <p:cNvSpPr/>
          <p:nvPr/>
        </p:nvSpPr>
        <p:spPr>
          <a:xfrm>
            <a:off x="848823" y="3445215"/>
            <a:ext cx="3296653" cy="705868"/>
          </a:xfrm>
          <a:prstGeom prst="flowChartDecision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Центр </a:t>
            </a:r>
            <a:r>
              <a:rPr lang="ru-RU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внутри</a:t>
            </a:r>
            <a:r>
              <a:rPr lang="ru-RU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b="1" dirty="0" err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rect</a:t>
            </a:r>
            <a:endParaRPr lang="en-US" sz="1400" b="1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ru-RU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Точка </a:t>
            </a:r>
            <a:r>
              <a:rPr lang="ru-RU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снаружи </a:t>
            </a:r>
            <a:r>
              <a:rPr lang="en-US" sz="1400" b="1" dirty="0" err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rect</a:t>
            </a:r>
            <a:endParaRPr lang="ru-RU" sz="1400" b="1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1" name="Прямая со стрелкой 30"/>
          <p:cNvCxnSpPr>
            <a:cxnSpLocks/>
            <a:endCxn id="30" idx="0"/>
          </p:cNvCxnSpPr>
          <p:nvPr/>
        </p:nvCxnSpPr>
        <p:spPr>
          <a:xfrm>
            <a:off x="2497150" y="3236681"/>
            <a:ext cx="0" cy="208534"/>
          </a:xfrm>
          <a:prstGeom prst="straightConnector1">
            <a:avLst/>
          </a:prstGeom>
          <a:ln w="317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102362" y="3429516"/>
            <a:ext cx="4042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да</a:t>
            </a:r>
          </a:p>
        </p:txBody>
      </p:sp>
      <p:sp>
        <p:nvSpPr>
          <p:cNvPr id="35" name="Блок-схема: решение 34"/>
          <p:cNvSpPr/>
          <p:nvPr/>
        </p:nvSpPr>
        <p:spPr>
          <a:xfrm>
            <a:off x="856845" y="4375666"/>
            <a:ext cx="3296653" cy="673769"/>
          </a:xfrm>
          <a:prstGeom prst="flowChartDecision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Центр </a:t>
            </a:r>
            <a:r>
              <a:rPr lang="ru-RU" sz="13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снаружи </a:t>
            </a:r>
            <a:r>
              <a:rPr lang="en-US" sz="1300" b="1" dirty="0" err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rect</a:t>
            </a:r>
            <a:endParaRPr lang="en-US" sz="1300" b="1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ru-RU" sz="13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Точка </a:t>
            </a:r>
            <a:r>
              <a:rPr lang="ru-RU" sz="13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внутри </a:t>
            </a:r>
            <a:r>
              <a:rPr lang="en-US" sz="1300" b="1" dirty="0" err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rect</a:t>
            </a:r>
            <a:endParaRPr lang="ru-RU" sz="1300" b="1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6" name="Прямая со стрелкой 35"/>
          <p:cNvCxnSpPr>
            <a:endCxn id="35" idx="0"/>
          </p:cNvCxnSpPr>
          <p:nvPr/>
        </p:nvCxnSpPr>
        <p:spPr>
          <a:xfrm>
            <a:off x="2505172" y="4135034"/>
            <a:ext cx="0" cy="240632"/>
          </a:xfrm>
          <a:prstGeom prst="straightConnector1">
            <a:avLst/>
          </a:prstGeom>
          <a:ln w="317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4102362" y="4335161"/>
            <a:ext cx="4042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да</a:t>
            </a:r>
          </a:p>
        </p:txBody>
      </p:sp>
      <p:sp>
        <p:nvSpPr>
          <p:cNvPr id="59" name="Блок-схема: решение 58"/>
          <p:cNvSpPr/>
          <p:nvPr/>
        </p:nvSpPr>
        <p:spPr>
          <a:xfrm>
            <a:off x="836785" y="5273826"/>
            <a:ext cx="3296653" cy="673769"/>
          </a:xfrm>
          <a:prstGeom prst="flowChartDecision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Центр </a:t>
            </a:r>
            <a:r>
              <a:rPr lang="ru-RU" sz="13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снаружи </a:t>
            </a:r>
            <a:r>
              <a:rPr lang="en-US" sz="1300" b="1" dirty="0" err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rect</a:t>
            </a:r>
            <a:endParaRPr lang="en-US" sz="1300" b="1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ru-RU" sz="13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Точка </a:t>
            </a:r>
            <a:r>
              <a:rPr lang="ru-RU" sz="13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снаружи </a:t>
            </a:r>
            <a:r>
              <a:rPr lang="en-US" sz="1300" b="1" dirty="0" err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rect</a:t>
            </a:r>
            <a:endParaRPr lang="ru-RU" sz="1300" b="1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4073687" y="5145688"/>
            <a:ext cx="4251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да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537255" y="3172331"/>
            <a:ext cx="898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нет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2537255" y="4070476"/>
            <a:ext cx="558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нет</a:t>
            </a:r>
          </a:p>
        </p:txBody>
      </p:sp>
      <p:cxnSp>
        <p:nvCxnSpPr>
          <p:cNvPr id="55" name="Прямая со стрелкой 54"/>
          <p:cNvCxnSpPr/>
          <p:nvPr/>
        </p:nvCxnSpPr>
        <p:spPr>
          <a:xfrm>
            <a:off x="2505172" y="5049435"/>
            <a:ext cx="0" cy="240632"/>
          </a:xfrm>
          <a:prstGeom prst="straightConnector1">
            <a:avLst/>
          </a:prstGeom>
          <a:ln w="317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Блок-схема: процесс 55"/>
          <p:cNvSpPr/>
          <p:nvPr/>
        </p:nvSpPr>
        <p:spPr>
          <a:xfrm>
            <a:off x="4498802" y="2603023"/>
            <a:ext cx="1307431" cy="625642"/>
          </a:xfrm>
          <a:prstGeom prst="flowChartProcess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Вариант № 1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P1=center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P2=point</a:t>
            </a:r>
            <a:endParaRPr lang="ru-RU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8" name="Блок-схема: процесс 57"/>
          <p:cNvSpPr/>
          <p:nvPr/>
        </p:nvSpPr>
        <p:spPr>
          <a:xfrm>
            <a:off x="4498804" y="3381242"/>
            <a:ext cx="1748589" cy="858067"/>
          </a:xfrm>
          <a:prstGeom prst="flowChartProcess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Вариант № 2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P1=center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P2=</a:t>
            </a:r>
            <a:r>
              <a:rPr lang="ru-RU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пересечение со стороной </a:t>
            </a:r>
            <a:r>
              <a:rPr lang="en-US" sz="1400" b="1" dirty="0" err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rect</a:t>
            </a:r>
            <a:endParaRPr lang="ru-RU" sz="1400" b="1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" name="Блок-схема: процесс 59"/>
          <p:cNvSpPr/>
          <p:nvPr/>
        </p:nvSpPr>
        <p:spPr>
          <a:xfrm>
            <a:off x="4498802" y="4279775"/>
            <a:ext cx="1748588" cy="850242"/>
          </a:xfrm>
          <a:prstGeom prst="flowChartProcess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Вариант № 3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P1=</a:t>
            </a:r>
            <a:r>
              <a:rPr lang="ru-RU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пересечение со стороной </a:t>
            </a:r>
            <a:r>
              <a:rPr lang="en-US" sz="1400" b="1" dirty="0" err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rect</a:t>
            </a:r>
            <a:endParaRPr 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P2=point</a:t>
            </a:r>
            <a:endParaRPr lang="ru-RU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" name="Прямая со стрелкой 3"/>
          <p:cNvCxnSpPr>
            <a:stCxn id="20" idx="3"/>
            <a:endCxn id="56" idx="1"/>
          </p:cNvCxnSpPr>
          <p:nvPr/>
        </p:nvCxnSpPr>
        <p:spPr>
          <a:xfrm flipV="1">
            <a:off x="4153496" y="2915844"/>
            <a:ext cx="345306" cy="1"/>
          </a:xfrm>
          <a:prstGeom prst="straightConnector1">
            <a:avLst/>
          </a:prstGeom>
          <a:ln w="317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Прямая со стрелкой 9"/>
          <p:cNvCxnSpPr>
            <a:cxnSpLocks/>
            <a:stCxn id="30" idx="3"/>
            <a:endCxn id="58" idx="1"/>
          </p:cNvCxnSpPr>
          <p:nvPr/>
        </p:nvCxnSpPr>
        <p:spPr>
          <a:xfrm>
            <a:off x="4145476" y="3798149"/>
            <a:ext cx="353328" cy="12127"/>
          </a:xfrm>
          <a:prstGeom prst="straightConnector1">
            <a:avLst/>
          </a:prstGeom>
          <a:ln w="317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Прямая со стрелкой 13"/>
          <p:cNvCxnSpPr>
            <a:stCxn id="35" idx="3"/>
            <a:endCxn id="60" idx="1"/>
          </p:cNvCxnSpPr>
          <p:nvPr/>
        </p:nvCxnSpPr>
        <p:spPr>
          <a:xfrm flipV="1">
            <a:off x="4153498" y="4704896"/>
            <a:ext cx="345304" cy="7655"/>
          </a:xfrm>
          <a:prstGeom prst="straightConnector1">
            <a:avLst/>
          </a:prstGeom>
          <a:ln w="317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2538557" y="4953001"/>
            <a:ext cx="558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нет</a:t>
            </a:r>
          </a:p>
        </p:txBody>
      </p:sp>
      <p:sp>
        <p:nvSpPr>
          <p:cNvPr id="70" name="Блок-схема: процесс 69"/>
          <p:cNvSpPr/>
          <p:nvPr/>
        </p:nvSpPr>
        <p:spPr>
          <a:xfrm>
            <a:off x="4498802" y="5273826"/>
            <a:ext cx="2414337" cy="497338"/>
          </a:xfrm>
          <a:prstGeom prst="flowChartProcess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Поиск пересечения со сторонами </a:t>
            </a:r>
            <a:r>
              <a:rPr lang="en-US" sz="1400" b="1" dirty="0" err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rect</a:t>
            </a:r>
            <a:r>
              <a:rPr lang="en-US" sz="14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Map</a:t>
            </a:r>
            <a:r>
              <a:rPr lang="ru-RU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71" name="Блок-схема: решение 70"/>
          <p:cNvSpPr/>
          <p:nvPr/>
        </p:nvSpPr>
        <p:spPr>
          <a:xfrm>
            <a:off x="4535926" y="6076189"/>
            <a:ext cx="2377213" cy="405148"/>
          </a:xfrm>
          <a:prstGeom prst="flowChartDecision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 err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Map.empty</a:t>
            </a:r>
            <a:r>
              <a:rPr lang="en-US" sz="14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  <a:endParaRPr lang="ru-RU" sz="1400" b="1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" name="Блок-схема: процесс 74"/>
          <p:cNvSpPr/>
          <p:nvPr/>
        </p:nvSpPr>
        <p:spPr>
          <a:xfrm>
            <a:off x="7181430" y="5205641"/>
            <a:ext cx="2081463" cy="653738"/>
          </a:xfrm>
          <a:prstGeom prst="flowChartProcess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Вариант № </a:t>
            </a:r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ru-RU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а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P1=</a:t>
            </a:r>
            <a:r>
              <a:rPr lang="ru-RU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пересечение №</a:t>
            </a:r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1 P2=</a:t>
            </a:r>
            <a:r>
              <a:rPr lang="ru-RU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пересечение № 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995174" y="5992424"/>
            <a:ext cx="5393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нет</a:t>
            </a:r>
          </a:p>
        </p:txBody>
      </p:sp>
      <p:sp>
        <p:nvSpPr>
          <p:cNvPr id="78" name="Блок-схема: процесс 77"/>
          <p:cNvSpPr/>
          <p:nvPr/>
        </p:nvSpPr>
        <p:spPr>
          <a:xfrm>
            <a:off x="1788695" y="6144382"/>
            <a:ext cx="1307431" cy="312821"/>
          </a:xfrm>
          <a:prstGeom prst="flowChartProcess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Вариант № 4б</a:t>
            </a:r>
          </a:p>
        </p:txBody>
      </p:sp>
      <p:cxnSp>
        <p:nvCxnSpPr>
          <p:cNvPr id="24" name="Соединительная линия уступом 23"/>
          <p:cNvCxnSpPr>
            <a:stCxn id="59" idx="3"/>
            <a:endCxn id="70" idx="1"/>
          </p:cNvCxnSpPr>
          <p:nvPr/>
        </p:nvCxnSpPr>
        <p:spPr>
          <a:xfrm flipV="1">
            <a:off x="4133438" y="5522495"/>
            <a:ext cx="365364" cy="88216"/>
          </a:xfrm>
          <a:prstGeom prst="bentConnector3">
            <a:avLst/>
          </a:prstGeom>
          <a:ln w="317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Прямая со стрелкой 26"/>
          <p:cNvCxnSpPr>
            <a:stCxn id="70" idx="2"/>
            <a:endCxn id="71" idx="0"/>
          </p:cNvCxnSpPr>
          <p:nvPr/>
        </p:nvCxnSpPr>
        <p:spPr>
          <a:xfrm>
            <a:off x="5705971" y="5771164"/>
            <a:ext cx="18562" cy="305025"/>
          </a:xfrm>
          <a:prstGeom prst="straightConnector1">
            <a:avLst/>
          </a:prstGeom>
          <a:ln w="317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TextBox 101"/>
          <p:cNvSpPr txBox="1"/>
          <p:nvPr/>
        </p:nvSpPr>
        <p:spPr>
          <a:xfrm>
            <a:off x="4032174" y="5987973"/>
            <a:ext cx="4042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да</a:t>
            </a:r>
          </a:p>
        </p:txBody>
      </p:sp>
      <p:sp>
        <p:nvSpPr>
          <p:cNvPr id="104" name="Блок-схема: процесс 103"/>
          <p:cNvSpPr/>
          <p:nvPr/>
        </p:nvSpPr>
        <p:spPr>
          <a:xfrm>
            <a:off x="8001890" y="2824477"/>
            <a:ext cx="3094125" cy="312821"/>
          </a:xfrm>
          <a:prstGeom prst="flowChartProcess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Вычисление длины </a:t>
            </a:r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L=|P2-P1|</a:t>
            </a:r>
            <a:endParaRPr lang="ru-RU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5" name="Блок-схема: решение 104"/>
          <p:cNvSpPr/>
          <p:nvPr/>
        </p:nvSpPr>
        <p:spPr>
          <a:xfrm>
            <a:off x="7901226" y="3321743"/>
            <a:ext cx="3296653" cy="673769"/>
          </a:xfrm>
          <a:prstGeom prst="flowChartDecision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 &gt; </a:t>
            </a:r>
            <a:r>
              <a:rPr lang="en-US" sz="1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maxLength</a:t>
            </a:r>
            <a:endParaRPr lang="ru-RU" sz="1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09" name="Прямая со стрелкой 108"/>
          <p:cNvCxnSpPr>
            <a:endCxn id="105" idx="0"/>
          </p:cNvCxnSpPr>
          <p:nvPr/>
        </p:nvCxnSpPr>
        <p:spPr>
          <a:xfrm>
            <a:off x="9545555" y="3129245"/>
            <a:ext cx="3998" cy="192498"/>
          </a:xfrm>
          <a:prstGeom prst="straightConnector1">
            <a:avLst/>
          </a:prstGeom>
          <a:ln w="317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TextBox 113"/>
          <p:cNvSpPr txBox="1"/>
          <p:nvPr/>
        </p:nvSpPr>
        <p:spPr>
          <a:xfrm>
            <a:off x="8931529" y="3858864"/>
            <a:ext cx="4042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да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1197879" y="3305730"/>
            <a:ext cx="5393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нет</a:t>
            </a:r>
          </a:p>
        </p:txBody>
      </p:sp>
      <p:sp>
        <p:nvSpPr>
          <p:cNvPr id="120" name="Блок-схема: процесс 119"/>
          <p:cNvSpPr/>
          <p:nvPr/>
        </p:nvSpPr>
        <p:spPr>
          <a:xfrm>
            <a:off x="8368007" y="4187498"/>
            <a:ext cx="2359093" cy="850242"/>
          </a:xfrm>
          <a:prstGeom prst="flowChartProcess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maxLength</a:t>
            </a: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L</a:t>
            </a:r>
            <a:endParaRPr lang="ru-RU" sz="1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1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curPoint</a:t>
            </a: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point : points</a:t>
            </a:r>
          </a:p>
          <a:p>
            <a:pPr algn="ctr"/>
            <a:r>
              <a:rPr lang="en-US" sz="1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curRect</a:t>
            </a: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en-US" sz="1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rect</a:t>
            </a: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: rectangles</a:t>
            </a:r>
            <a:endParaRPr lang="ru-RU" sz="1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7" name="Соединительная линия уступом 66"/>
          <p:cNvCxnSpPr>
            <a:stCxn id="56" idx="3"/>
            <a:endCxn id="104" idx="0"/>
          </p:cNvCxnSpPr>
          <p:nvPr/>
        </p:nvCxnSpPr>
        <p:spPr>
          <a:xfrm flipV="1">
            <a:off x="5806233" y="2824477"/>
            <a:ext cx="3742720" cy="91367"/>
          </a:xfrm>
          <a:prstGeom prst="bentConnector4">
            <a:avLst>
              <a:gd name="adj1" fmla="val 29332"/>
              <a:gd name="adj2" fmla="val 592578"/>
            </a:avLst>
          </a:prstGeom>
          <a:ln w="317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Соединительная линия уступом 88"/>
          <p:cNvCxnSpPr>
            <a:stCxn id="58" idx="3"/>
            <a:endCxn id="104" idx="0"/>
          </p:cNvCxnSpPr>
          <p:nvPr/>
        </p:nvCxnSpPr>
        <p:spPr>
          <a:xfrm flipV="1">
            <a:off x="6247393" y="2824477"/>
            <a:ext cx="3301560" cy="985799"/>
          </a:xfrm>
          <a:prstGeom prst="bentConnector4">
            <a:avLst>
              <a:gd name="adj1" fmla="val 26571"/>
              <a:gd name="adj2" fmla="val 123189"/>
            </a:avLst>
          </a:prstGeom>
          <a:ln w="317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Соединительная линия уступом 132"/>
          <p:cNvCxnSpPr>
            <a:stCxn id="60" idx="3"/>
            <a:endCxn id="104" idx="0"/>
          </p:cNvCxnSpPr>
          <p:nvPr/>
        </p:nvCxnSpPr>
        <p:spPr>
          <a:xfrm flipV="1">
            <a:off x="6247390" y="2824477"/>
            <a:ext cx="3301563" cy="1880419"/>
          </a:xfrm>
          <a:prstGeom prst="bentConnector4">
            <a:avLst>
              <a:gd name="adj1" fmla="val 26571"/>
              <a:gd name="adj2" fmla="val 112157"/>
            </a:avLst>
          </a:prstGeom>
          <a:ln w="317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Соединительная линия уступом 138"/>
          <p:cNvCxnSpPr>
            <a:stCxn id="71" idx="3"/>
            <a:endCxn id="75" idx="2"/>
          </p:cNvCxnSpPr>
          <p:nvPr/>
        </p:nvCxnSpPr>
        <p:spPr>
          <a:xfrm flipV="1">
            <a:off x="6913139" y="5859379"/>
            <a:ext cx="1309023" cy="419384"/>
          </a:xfrm>
          <a:prstGeom prst="bentConnector2">
            <a:avLst/>
          </a:prstGeom>
          <a:ln w="317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Соединительная линия уступом 142"/>
          <p:cNvCxnSpPr>
            <a:stCxn id="75" idx="0"/>
            <a:endCxn id="104" idx="1"/>
          </p:cNvCxnSpPr>
          <p:nvPr/>
        </p:nvCxnSpPr>
        <p:spPr>
          <a:xfrm rot="16200000" flipV="1">
            <a:off x="6999650" y="3983129"/>
            <a:ext cx="2224753" cy="220272"/>
          </a:xfrm>
          <a:prstGeom prst="bentConnector4">
            <a:avLst>
              <a:gd name="adj1" fmla="val 46485"/>
              <a:gd name="adj2" fmla="val 252170"/>
            </a:avLst>
          </a:prstGeom>
          <a:ln w="317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Прямая со стрелкой 145"/>
          <p:cNvCxnSpPr>
            <a:stCxn id="105" idx="2"/>
            <a:endCxn id="120" idx="0"/>
          </p:cNvCxnSpPr>
          <p:nvPr/>
        </p:nvCxnSpPr>
        <p:spPr>
          <a:xfrm flipH="1">
            <a:off x="9547554" y="3995512"/>
            <a:ext cx="1999" cy="191986"/>
          </a:xfrm>
          <a:prstGeom prst="straightConnector1">
            <a:avLst/>
          </a:prstGeom>
          <a:ln w="317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Прямая со стрелкой 158"/>
          <p:cNvCxnSpPr>
            <a:stCxn id="71" idx="1"/>
            <a:endCxn id="78" idx="3"/>
          </p:cNvCxnSpPr>
          <p:nvPr/>
        </p:nvCxnSpPr>
        <p:spPr>
          <a:xfrm flipH="1">
            <a:off x="3096126" y="6278763"/>
            <a:ext cx="1439800" cy="22030"/>
          </a:xfrm>
          <a:prstGeom prst="straightConnector1">
            <a:avLst/>
          </a:prstGeom>
          <a:ln w="317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Соединительная линия уступом 163"/>
          <p:cNvCxnSpPr>
            <a:stCxn id="120" idx="2"/>
            <a:endCxn id="11" idx="3"/>
          </p:cNvCxnSpPr>
          <p:nvPr/>
        </p:nvCxnSpPr>
        <p:spPr>
          <a:xfrm rot="5400000" flipH="1">
            <a:off x="3891898" y="-617915"/>
            <a:ext cx="2857939" cy="8453373"/>
          </a:xfrm>
          <a:prstGeom prst="bentConnector4">
            <a:avLst>
              <a:gd name="adj1" fmla="val -57395"/>
              <a:gd name="adj2" fmla="val 108207"/>
            </a:avLst>
          </a:prstGeom>
          <a:ln w="317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Прямая со стрелкой 168"/>
          <p:cNvCxnSpPr>
            <a:stCxn id="78" idx="2"/>
          </p:cNvCxnSpPr>
          <p:nvPr/>
        </p:nvCxnSpPr>
        <p:spPr>
          <a:xfrm flipH="1">
            <a:off x="2442410" y="6457203"/>
            <a:ext cx="1" cy="232482"/>
          </a:xfrm>
          <a:prstGeom prst="straightConnector1">
            <a:avLst/>
          </a:prstGeom>
          <a:ln w="317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Соединительная линия уступом 173"/>
          <p:cNvCxnSpPr>
            <a:stCxn id="105" idx="3"/>
          </p:cNvCxnSpPr>
          <p:nvPr/>
        </p:nvCxnSpPr>
        <p:spPr>
          <a:xfrm flipH="1">
            <a:off x="9558076" y="3658628"/>
            <a:ext cx="1639803" cy="3031057"/>
          </a:xfrm>
          <a:prstGeom prst="bentConnector4">
            <a:avLst>
              <a:gd name="adj1" fmla="val -13941"/>
              <a:gd name="adj2" fmla="val 99750"/>
            </a:avLst>
          </a:prstGeom>
          <a:ln w="317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Прямая со стрелкой 205"/>
          <p:cNvCxnSpPr/>
          <p:nvPr/>
        </p:nvCxnSpPr>
        <p:spPr>
          <a:xfrm flipH="1">
            <a:off x="2459764" y="1399645"/>
            <a:ext cx="7309" cy="501344"/>
          </a:xfrm>
          <a:prstGeom prst="straightConnector1">
            <a:avLst/>
          </a:prstGeom>
          <a:ln w="317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Соединительная линия уступом 209"/>
          <p:cNvCxnSpPr>
            <a:stCxn id="11" idx="0"/>
            <a:endCxn id="7" idx="3"/>
          </p:cNvCxnSpPr>
          <p:nvPr/>
        </p:nvCxnSpPr>
        <p:spPr>
          <a:xfrm flipH="1" flipV="1">
            <a:off x="1036315" y="1231203"/>
            <a:ext cx="2789033" cy="948598"/>
          </a:xfrm>
          <a:prstGeom prst="bentConnector5">
            <a:avLst>
              <a:gd name="adj1" fmla="val -44433"/>
              <a:gd name="adj2" fmla="val 33089"/>
              <a:gd name="adj3" fmla="val 108196"/>
            </a:avLst>
          </a:prstGeom>
          <a:ln w="317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2" name="Блок-схема: знак завершения 211"/>
          <p:cNvSpPr/>
          <p:nvPr/>
        </p:nvSpPr>
        <p:spPr>
          <a:xfrm>
            <a:off x="9910479" y="1392681"/>
            <a:ext cx="1528031" cy="737936"/>
          </a:xfrm>
          <a:prstGeom prst="flowChartTerminator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Вывод на  экран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4114398" y="956997"/>
            <a:ext cx="285046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Конец цикла по массиву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rectangles</a:t>
            </a:r>
            <a:endParaRPr lang="ru-RU" sz="1400" b="1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7" name="TextBox 216"/>
          <p:cNvSpPr txBox="1"/>
          <p:nvPr/>
        </p:nvSpPr>
        <p:spPr>
          <a:xfrm>
            <a:off x="2599767" y="1520491"/>
            <a:ext cx="25527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Конец цикла по массиву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points</a:t>
            </a:r>
            <a:endParaRPr lang="ru-RU" sz="1400" b="1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1" name="Блок-схема: решение 230"/>
          <p:cNvSpPr/>
          <p:nvPr/>
        </p:nvSpPr>
        <p:spPr>
          <a:xfrm>
            <a:off x="7096400" y="1505193"/>
            <a:ext cx="2543213" cy="514836"/>
          </a:xfrm>
          <a:prstGeom prst="flowChartDecision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maxLength</a:t>
            </a: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&gt; 0</a:t>
            </a:r>
            <a:endParaRPr lang="ru-RU" sz="1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2" name="TextBox 231"/>
          <p:cNvSpPr txBox="1"/>
          <p:nvPr/>
        </p:nvSpPr>
        <p:spPr>
          <a:xfrm>
            <a:off x="6887668" y="1417496"/>
            <a:ext cx="5393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нет</a:t>
            </a:r>
          </a:p>
        </p:txBody>
      </p:sp>
      <p:cxnSp>
        <p:nvCxnSpPr>
          <p:cNvPr id="234" name="Соединительная линия уступом 233"/>
          <p:cNvCxnSpPr>
            <a:stCxn id="7" idx="0"/>
            <a:endCxn id="231" idx="0"/>
          </p:cNvCxnSpPr>
          <p:nvPr/>
        </p:nvCxnSpPr>
        <p:spPr>
          <a:xfrm>
            <a:off x="3897827" y="1231203"/>
            <a:ext cx="4470180" cy="273990"/>
          </a:xfrm>
          <a:prstGeom prst="bentConnector2">
            <a:avLst/>
          </a:prstGeom>
          <a:ln w="317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Прямая со стрелкой 236"/>
          <p:cNvCxnSpPr>
            <a:stCxn id="231" idx="3"/>
            <a:endCxn id="212" idx="1"/>
          </p:cNvCxnSpPr>
          <p:nvPr/>
        </p:nvCxnSpPr>
        <p:spPr>
          <a:xfrm flipV="1">
            <a:off x="9639613" y="1761649"/>
            <a:ext cx="270866" cy="962"/>
          </a:xfrm>
          <a:prstGeom prst="straightConnector1">
            <a:avLst/>
          </a:prstGeom>
          <a:ln w="317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Блок-схема: знак завершения 238"/>
          <p:cNvSpPr/>
          <p:nvPr/>
        </p:nvSpPr>
        <p:spPr>
          <a:xfrm>
            <a:off x="5440596" y="1392261"/>
            <a:ext cx="1384641" cy="737936"/>
          </a:xfrm>
          <a:prstGeom prst="flowChartTerminator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Решения нет</a:t>
            </a:r>
          </a:p>
        </p:txBody>
      </p:sp>
      <p:cxnSp>
        <p:nvCxnSpPr>
          <p:cNvPr id="242" name="Прямая со стрелкой 241"/>
          <p:cNvCxnSpPr>
            <a:stCxn id="231" idx="1"/>
            <a:endCxn id="239" idx="3"/>
          </p:cNvCxnSpPr>
          <p:nvPr/>
        </p:nvCxnSpPr>
        <p:spPr>
          <a:xfrm flipH="1" flipV="1">
            <a:off x="6825237" y="1761229"/>
            <a:ext cx="271163" cy="1382"/>
          </a:xfrm>
          <a:prstGeom prst="straightConnector1">
            <a:avLst/>
          </a:prstGeom>
          <a:ln w="317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4" name="TextBox 243"/>
          <p:cNvSpPr txBox="1"/>
          <p:nvPr/>
        </p:nvSpPr>
        <p:spPr>
          <a:xfrm>
            <a:off x="9486965" y="1409475"/>
            <a:ext cx="4042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да</a:t>
            </a:r>
          </a:p>
        </p:txBody>
      </p:sp>
      <p:cxnSp>
        <p:nvCxnSpPr>
          <p:cNvPr id="246" name="Прямая со стрелкой 245"/>
          <p:cNvCxnSpPr>
            <a:stCxn id="59" idx="1"/>
          </p:cNvCxnSpPr>
          <p:nvPr/>
        </p:nvCxnSpPr>
        <p:spPr>
          <a:xfrm flipH="1">
            <a:off x="401053" y="5610711"/>
            <a:ext cx="435732" cy="0"/>
          </a:xfrm>
          <a:prstGeom prst="straightConnector1">
            <a:avLst/>
          </a:prstGeom>
          <a:ln w="317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8" name="TextBox 247"/>
          <p:cNvSpPr txBox="1"/>
          <p:nvPr/>
        </p:nvSpPr>
        <p:spPr>
          <a:xfrm>
            <a:off x="497305" y="5264137"/>
            <a:ext cx="5393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нет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E107FC2-8A52-4E39-B966-B97714E357AC}"/>
              </a:ext>
            </a:extLst>
          </p:cNvPr>
          <p:cNvSpPr txBox="1"/>
          <p:nvPr/>
        </p:nvSpPr>
        <p:spPr>
          <a:xfrm>
            <a:off x="9091041" y="54302"/>
            <a:ext cx="31009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Метод решения</a:t>
            </a:r>
          </a:p>
        </p:txBody>
      </p:sp>
    </p:spTree>
    <p:extLst>
      <p:ext uri="{BB962C8B-B14F-4D97-AF65-F5344CB8AC3E}">
        <p14:creationId xmlns:p14="http://schemas.microsoft.com/office/powerpoint/2010/main" val="16996105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6640FEC-C7EC-4559-BC40-8F39882A5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00000" y="6120000"/>
            <a:ext cx="2743200" cy="365125"/>
          </a:xfrm>
        </p:spPr>
        <p:txBody>
          <a:bodyPr lIns="0" tIns="36000" rIns="0" bIns="36000"/>
          <a:lstStyle/>
          <a:p>
            <a:fld id="{8346BD07-4451-4F99-9781-57091C949674}" type="slidenum">
              <a:rPr lang="ru-RU" sz="1400" b="1" smtClean="0">
                <a:solidFill>
                  <a:schemeClr val="accent6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18</a:t>
            </a:fld>
            <a:endParaRPr lang="ru-RU" sz="1400" b="1" dirty="0">
              <a:solidFill>
                <a:schemeClr val="accent6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B2994271-8424-4FBF-84F0-AC4257A74D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0000" y="0"/>
            <a:ext cx="10515600" cy="925195"/>
          </a:xfrm>
        </p:spPr>
        <p:txBody>
          <a:bodyPr>
            <a:normAutofit/>
          </a:bodyPr>
          <a:lstStyle/>
          <a:p>
            <a:pPr algn="ctr"/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Структура программы</a:t>
            </a: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D5327423-793A-4273-BB64-B8B00B5C712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C74EEF-2CE7-4CB5-9894-E14A257AC8A9}"/>
              </a:ext>
            </a:extLst>
          </p:cNvPr>
          <p:cNvSpPr txBox="1"/>
          <p:nvPr/>
        </p:nvSpPr>
        <p:spPr>
          <a:xfrm>
            <a:off x="206188" y="5932804"/>
            <a:ext cx="5428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* Методы классов приведены на следующих слайдах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313A082-1609-826F-34C9-72309F264E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13" y="925195"/>
            <a:ext cx="12018547" cy="46351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70211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0411BD-7776-11F7-9DF1-CA64B7917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89CE3129-D210-7694-6247-ECF019659F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00000" y="6120000"/>
            <a:ext cx="2743200" cy="365125"/>
          </a:xfrm>
        </p:spPr>
        <p:txBody>
          <a:bodyPr lIns="0" tIns="36000" rIns="0" bIns="36000"/>
          <a:lstStyle/>
          <a:p>
            <a:fld id="{8346BD07-4451-4F99-9781-57091C949674}" type="slidenum">
              <a:rPr lang="ru-RU" sz="1400" b="1" smtClean="0">
                <a:solidFill>
                  <a:schemeClr val="accent6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19</a:t>
            </a:fld>
            <a:endParaRPr lang="ru-RU" sz="1400" b="1" dirty="0">
              <a:solidFill>
                <a:schemeClr val="accent6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C6294CE0-CDA6-E10C-4034-F9AA4EAEF1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683148"/>
          </a:xfrm>
        </p:spPr>
        <p:txBody>
          <a:bodyPr>
            <a:normAutofit/>
          </a:bodyPr>
          <a:lstStyle/>
          <a:p>
            <a:pPr algn="ctr"/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Структура программы</a:t>
            </a: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BA7D3458-341B-74B3-C31D-B680F4639FD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591158F-8C7B-E1A9-1764-68B5F4D0F6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2567" y="537882"/>
            <a:ext cx="7991627" cy="6269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307658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11F40-BBD2-B145-73AC-71FBAF070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823170C8-B79F-DDB0-DEAC-69BD4DD682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00000" y="6120000"/>
            <a:ext cx="2743200" cy="365125"/>
          </a:xfrm>
        </p:spPr>
        <p:txBody>
          <a:bodyPr lIns="0" tIns="36000" rIns="0" bIns="36000"/>
          <a:lstStyle/>
          <a:p>
            <a:fld id="{8346BD07-4451-4F99-9781-57091C949674}" type="slidenum">
              <a:rPr lang="ru-RU" sz="1400" b="1" smtClean="0">
                <a:solidFill>
                  <a:schemeClr val="accent6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fld>
            <a:endParaRPr lang="ru-RU" sz="1400" b="1" dirty="0">
              <a:solidFill>
                <a:schemeClr val="accent6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F667A287-DD7F-C168-2181-E54F6A712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9999" y="-9496"/>
            <a:ext cx="10515600" cy="552320"/>
          </a:xfrm>
        </p:spPr>
        <p:txBody>
          <a:bodyPr>
            <a:normAutofit/>
          </a:bodyPr>
          <a:lstStyle/>
          <a:p>
            <a:pPr algn="ctr"/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Структура программы</a:t>
            </a: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3EB053F5-E271-7BC2-E557-4DF24D6C4E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6C410D9C-6E08-BC58-5250-BD3D5A697A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8754" y="448428"/>
            <a:ext cx="7384934" cy="6362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42579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1267BDD-0B41-4F0A-9A9C-B23195465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00000" y="6120000"/>
            <a:ext cx="2743200" cy="365125"/>
          </a:xfrm>
        </p:spPr>
        <p:txBody>
          <a:bodyPr lIns="0" tIns="36000" rIns="0" bIns="36000"/>
          <a:lstStyle/>
          <a:p>
            <a:fld id="{8346BD07-4451-4F99-9781-57091C949674}" type="slidenum">
              <a:rPr lang="ru-RU" sz="1400" b="1" smtClean="0">
                <a:solidFill>
                  <a:schemeClr val="accent6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21</a:t>
            </a:fld>
            <a:endParaRPr lang="ru-RU" sz="1400" b="1" dirty="0">
              <a:solidFill>
                <a:schemeClr val="accent6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5623C61A-0BEA-4E44-A76D-6D9AB8C46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857" y="43870"/>
            <a:ext cx="10515600" cy="925195"/>
          </a:xfrm>
        </p:spPr>
        <p:txBody>
          <a:bodyPr>
            <a:noAutofit/>
          </a:bodyPr>
          <a:lstStyle/>
          <a:p>
            <a:pPr algn="ctr"/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Пример работы программы</a:t>
            </a:r>
            <a:b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Для каждого случая взаимного расположения прямоугольника и отрезка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b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Стрелка: вправо 7">
            <a:extLst>
              <a:ext uri="{FF2B5EF4-FFF2-40B4-BE49-F238E27FC236}">
                <a16:creationId xmlns:a16="http://schemas.microsoft.com/office/drawing/2014/main" id="{63CCC5B0-D7D4-4DFE-8202-C08D7F088EA2}"/>
              </a:ext>
            </a:extLst>
          </p:cNvPr>
          <p:cNvSpPr/>
          <p:nvPr/>
        </p:nvSpPr>
        <p:spPr>
          <a:xfrm>
            <a:off x="4979505" y="2058248"/>
            <a:ext cx="1629842" cy="64491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3ADB604-275D-4793-B838-2B5BA4B6B61F}"/>
              </a:ext>
            </a:extLst>
          </p:cNvPr>
          <p:cNvSpPr txBox="1"/>
          <p:nvPr/>
        </p:nvSpPr>
        <p:spPr>
          <a:xfrm>
            <a:off x="95593" y="1337204"/>
            <a:ext cx="10518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1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случай</a:t>
            </a:r>
            <a:r>
              <a:rPr lang="en-US" dirty="0">
                <a:solidFill>
                  <a:schemeClr val="accent6">
                    <a:lumMod val="50000"/>
                  </a:schemeClr>
                </a:solidFill>
              </a:rPr>
              <a:t>:</a:t>
            </a:r>
            <a:endParaRPr lang="ru-RU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F147AB7-9C36-4D1C-8735-BC5506502EDC}"/>
              </a:ext>
            </a:extLst>
          </p:cNvPr>
          <p:cNvSpPr txBox="1"/>
          <p:nvPr/>
        </p:nvSpPr>
        <p:spPr>
          <a:xfrm>
            <a:off x="95592" y="3818965"/>
            <a:ext cx="10518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2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случай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Стрелка: вправо 18">
            <a:extLst>
              <a:ext uri="{FF2B5EF4-FFF2-40B4-BE49-F238E27FC236}">
                <a16:creationId xmlns:a16="http://schemas.microsoft.com/office/drawing/2014/main" id="{DAEB4CE1-2DB5-471C-8A3E-51168FBED700}"/>
              </a:ext>
            </a:extLst>
          </p:cNvPr>
          <p:cNvSpPr/>
          <p:nvPr/>
        </p:nvSpPr>
        <p:spPr>
          <a:xfrm>
            <a:off x="4979505" y="4421279"/>
            <a:ext cx="1622612" cy="64491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B5011445-1A99-4E04-A638-91534AEBFD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9722" y="931265"/>
            <a:ext cx="2459555" cy="2761410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B0BA02E5-BC62-48AA-AEB9-9DEC6A37FC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3937" y="885377"/>
            <a:ext cx="1432122" cy="2853186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5D47C441-B0C8-44BA-8223-57D6FEE9454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9722" y="3864780"/>
            <a:ext cx="2552921" cy="2476715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D4D09131-9287-4D67-82DB-CD691563C9E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78081" y="3864780"/>
            <a:ext cx="1643835" cy="2807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18073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E7F61B6-8475-4B90-836E-E12945F7F0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8894" y="0"/>
            <a:ext cx="10515600" cy="681037"/>
          </a:xfrm>
        </p:spPr>
        <p:txBody>
          <a:bodyPr>
            <a:noAutofit/>
          </a:bodyPr>
          <a:lstStyle/>
          <a:p>
            <a:pPr algn="ctr"/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Пример работы программы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CA2E5F6A-BD98-4C01-B0A3-E39C24E042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46BD07-4451-4F99-9781-57091C949674}" type="slidenum">
              <a:rPr lang="ru-RU" smtClean="0"/>
              <a:t>22</a:t>
            </a:fld>
            <a:endParaRPr lang="ru-R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F1A690-907E-4A2B-AA1C-F86FD90EC016}"/>
              </a:ext>
            </a:extLst>
          </p:cNvPr>
          <p:cNvSpPr txBox="1"/>
          <p:nvPr/>
        </p:nvSpPr>
        <p:spPr>
          <a:xfrm>
            <a:off x="76199" y="2035400"/>
            <a:ext cx="12729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3 случай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5B7D0C4-5760-4CE8-882C-75248682456B}"/>
              </a:ext>
            </a:extLst>
          </p:cNvPr>
          <p:cNvSpPr txBox="1"/>
          <p:nvPr/>
        </p:nvSpPr>
        <p:spPr>
          <a:xfrm>
            <a:off x="228600" y="4957482"/>
            <a:ext cx="11205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а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случай</a:t>
            </a:r>
            <a:r>
              <a:rPr lang="en-US" dirty="0">
                <a:solidFill>
                  <a:schemeClr val="accent6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ru-RU" dirty="0">
              <a:solidFill>
                <a:schemeClr val="accent6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Стрелка: вправо 10">
            <a:extLst>
              <a:ext uri="{FF2B5EF4-FFF2-40B4-BE49-F238E27FC236}">
                <a16:creationId xmlns:a16="http://schemas.microsoft.com/office/drawing/2014/main" id="{5E528D57-6796-45DC-BF14-C8B148049540}"/>
              </a:ext>
            </a:extLst>
          </p:cNvPr>
          <p:cNvSpPr/>
          <p:nvPr/>
        </p:nvSpPr>
        <p:spPr>
          <a:xfrm>
            <a:off x="5057074" y="2035400"/>
            <a:ext cx="1622612" cy="64491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Стрелка: вправо 13">
            <a:extLst>
              <a:ext uri="{FF2B5EF4-FFF2-40B4-BE49-F238E27FC236}">
                <a16:creationId xmlns:a16="http://schemas.microsoft.com/office/drawing/2014/main" id="{1D74BAF2-767D-477F-9CA3-A00BB989DF6F}"/>
              </a:ext>
            </a:extLst>
          </p:cNvPr>
          <p:cNvSpPr/>
          <p:nvPr/>
        </p:nvSpPr>
        <p:spPr>
          <a:xfrm>
            <a:off x="5057074" y="5004356"/>
            <a:ext cx="1622612" cy="64491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8AA9A60C-1349-4246-BC9A-D1D7AC2209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6754" y="3807135"/>
            <a:ext cx="2459555" cy="2830808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29C18793-1DEC-4CE2-9799-8A117DFC41D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10160" y="4027414"/>
            <a:ext cx="1622612" cy="2754639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16E41FA-7DC9-4326-A5A6-1F786AD88C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8047" y="1177250"/>
            <a:ext cx="1856223" cy="219677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2B4EEBAB-D6B0-4996-85B7-C87F16BA228B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77028" y="805239"/>
            <a:ext cx="1518732" cy="3222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894841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BEC9160-62C3-4E07-B45F-42E7909930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0"/>
            <a:ext cx="10515600" cy="629957"/>
          </a:xfrm>
        </p:spPr>
        <p:txBody>
          <a:bodyPr>
            <a:normAutofit/>
          </a:bodyPr>
          <a:lstStyle/>
          <a:p>
            <a:pPr algn="ctr"/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Пример работы программы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C1015319-4C21-40DB-A68D-0F426E1F8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46BD07-4451-4F99-9781-57091C949674}" type="slidenum">
              <a:rPr lang="ru-RU" smtClean="0"/>
              <a:t>23</a:t>
            </a:fld>
            <a:endParaRPr lang="ru-R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DDF224E-A8A8-43EB-9F61-8E87CEED1A34}"/>
              </a:ext>
            </a:extLst>
          </p:cNvPr>
          <p:cNvSpPr txBox="1"/>
          <p:nvPr/>
        </p:nvSpPr>
        <p:spPr>
          <a:xfrm>
            <a:off x="282388" y="1066801"/>
            <a:ext cx="11116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4 б случай</a:t>
            </a:r>
            <a:r>
              <a:rPr lang="en-US" dirty="0">
                <a:solidFill>
                  <a:schemeClr val="accent6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ru-RU" dirty="0">
              <a:solidFill>
                <a:schemeClr val="accent6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66062338-7DBB-4CEB-8B48-67EA911B5D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6031" y="1066801"/>
            <a:ext cx="2545301" cy="2789162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B1A22476-ED8F-41A0-8AA2-BF5D0813E7F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2397" y="1066801"/>
            <a:ext cx="1790221" cy="3218328"/>
          </a:xfrm>
          <a:prstGeom prst="rect">
            <a:avLst/>
          </a:prstGeom>
        </p:spPr>
      </p:pic>
      <p:sp>
        <p:nvSpPr>
          <p:cNvPr id="11" name="Стрелка: вправо 10">
            <a:extLst>
              <a:ext uri="{FF2B5EF4-FFF2-40B4-BE49-F238E27FC236}">
                <a16:creationId xmlns:a16="http://schemas.microsoft.com/office/drawing/2014/main" id="{FC5407F9-6E8E-4AAD-B671-A5361B30527B}"/>
              </a:ext>
            </a:extLst>
          </p:cNvPr>
          <p:cNvSpPr/>
          <p:nvPr/>
        </p:nvSpPr>
        <p:spPr>
          <a:xfrm>
            <a:off x="5033487" y="2031050"/>
            <a:ext cx="1622612" cy="64491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1971191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C277AD16-F027-4971-876F-AB0735695E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00000" y="6120000"/>
            <a:ext cx="2743200" cy="365125"/>
          </a:xfrm>
        </p:spPr>
        <p:txBody>
          <a:bodyPr lIns="0" tIns="36000" rIns="0" bIns="36000"/>
          <a:lstStyle/>
          <a:p>
            <a:fld id="{8346BD07-4451-4F99-9781-57091C949674}" type="slidenum">
              <a:rPr lang="ru-RU" sz="1400" b="1" smtClean="0">
                <a:solidFill>
                  <a:schemeClr val="accent6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24</a:t>
            </a:fld>
            <a:endParaRPr lang="ru-RU" sz="1400" b="1" dirty="0">
              <a:solidFill>
                <a:schemeClr val="accent6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A75D682C-6E82-4A85-BA9B-AC06BAEACB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0000" y="0"/>
            <a:ext cx="10515600" cy="836146"/>
          </a:xfrm>
        </p:spPr>
        <p:txBody>
          <a:bodyPr>
            <a:normAutofit/>
          </a:bodyPr>
          <a:lstStyle/>
          <a:p>
            <a:pPr algn="ctr"/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Возникшие затруднения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378FCCC-42EA-46E2-9B9D-F24ABD8BD933}"/>
              </a:ext>
            </a:extLst>
          </p:cNvPr>
          <p:cNvSpPr txBox="1"/>
          <p:nvPr/>
        </p:nvSpPr>
        <p:spPr>
          <a:xfrm>
            <a:off x="323009" y="677305"/>
            <a:ext cx="11545981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Затруднение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случай, когда отрезок пересекает вершину прямоугольника.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Проблема возникает тогда, когда ни начальная, ни конечная точка отрезка не лежат внутри прямоугольника, при этом программа найдет лишь одну точку пересечения, считая ее за 2. </a:t>
            </a:r>
          </a:p>
          <a:p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Решение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сначала стоит вспомнить, что все вершины пронумерованы против часовой стрелки.1 шаг - находим пересечение с 1 стороной, если оно есть, сохраняем. Затем находим со второй, если оно есть – проверяем, является ли параметр 1 стороны равным 1, если да, то не сохраняем эту точку. Тоже делаем с 3 стороной. А для 4 стороны проверяем, является ли параметр 3 стороны равным 1  и, является ли параметр 1 стороны равным 0, если да, то не сохраняем эту точку. </a:t>
            </a:r>
          </a:p>
          <a:p>
            <a:endParaRPr lang="ru-RU" sz="2000" dirty="0">
              <a:solidFill>
                <a:schemeClr val="accent6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B18B5C9A-3F5B-48C2-8D13-C7F3F09486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81456" y="3578412"/>
            <a:ext cx="3952688" cy="2724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504905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C3203404-9FBC-4A7D-AF14-20F9BB2D24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43550" y="2105771"/>
            <a:ext cx="6457950" cy="1811804"/>
          </a:xfrm>
        </p:spPr>
        <p:txBody>
          <a:bodyPr>
            <a:normAutofit fontScale="70000" lnSpcReduction="20000"/>
          </a:bodyPr>
          <a:lstStyle/>
          <a:p>
            <a:pPr marL="0" indent="0" algn="ctr">
              <a:buNone/>
            </a:pPr>
            <a:r>
              <a:rPr lang="ru-RU" sz="4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Спасибо за внимание!!!</a:t>
            </a:r>
          </a:p>
          <a:p>
            <a:pPr marL="0" indent="0" algn="ctr">
              <a:buNone/>
            </a:pPr>
            <a:endParaRPr lang="ru-RU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Филиппов Артем, класс 10-7</a:t>
            </a:r>
          </a:p>
          <a:p>
            <a:pPr marL="0" indent="0" algn="ctr">
              <a:buNone/>
            </a:pPr>
            <a:endParaRPr lang="ru-RU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Artem.a.filippov@gmail.com</a:t>
            </a:r>
            <a:endParaRPr lang="ru-RU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2BF1BD34-65A7-47B1-BBDC-4013D87DB7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46BD07-4451-4F99-9781-57091C949674}" type="slidenum">
              <a:rPr lang="ru-RU" smtClean="0"/>
              <a:t>25</a:t>
            </a:fld>
            <a:endParaRPr lang="ru-RU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4179"/>
          <a:stretch/>
        </p:blipFill>
        <p:spPr>
          <a:xfrm>
            <a:off x="602639" y="784226"/>
            <a:ext cx="4479085" cy="509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255680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C65C1A1-D9F1-4523-ABCC-8C4B0F695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00000" y="6120000"/>
            <a:ext cx="2743200" cy="365125"/>
          </a:xfrm>
        </p:spPr>
        <p:txBody>
          <a:bodyPr lIns="0" tIns="36000" rIns="0" bIns="36000"/>
          <a:lstStyle/>
          <a:p>
            <a:fld id="{8346BD07-4451-4F99-9781-57091C949674}" type="slidenum">
              <a:rPr lang="ru-RU" sz="1400" b="1" smtClean="0">
                <a:solidFill>
                  <a:schemeClr val="accent6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26</a:t>
            </a:fld>
            <a:endParaRPr lang="ru-RU" sz="1400" b="1" dirty="0">
              <a:solidFill>
                <a:schemeClr val="accent6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1DB6DBA3-C25E-47F7-8D71-3C2320B9E2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0000" y="0"/>
            <a:ext cx="10515600" cy="925195"/>
          </a:xfrm>
        </p:spPr>
        <p:txBody>
          <a:bodyPr>
            <a:normAutofit/>
          </a:bodyPr>
          <a:lstStyle/>
          <a:p>
            <a:pPr algn="ctr"/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Метод решения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3141481-EFF4-42FA-9B89-F98D5D974D17}"/>
                  </a:ext>
                </a:extLst>
              </p:cNvPr>
              <p:cNvSpPr txBox="1"/>
              <p:nvPr/>
            </p:nvSpPr>
            <p:spPr>
              <a:xfrm>
                <a:off x="295835" y="794320"/>
                <a:ext cx="11057965" cy="49032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600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Задание прямоугольника</a:t>
                </a:r>
              </a:p>
              <a:p>
                <a:endParaRPr lang="ru-RU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r>
                  <a:rPr lang="ru-RU" sz="1600" b="1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Дано:</a:t>
                </a:r>
              </a:p>
              <a:p>
                <a:r>
                  <a:rPr lang="ru-RU" sz="160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а) Две точки </a:t>
                </a:r>
                <a:r>
                  <a:rPr lang="en-US" sz="160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P</a:t>
                </a:r>
                <a:r>
                  <a:rPr lang="ru-RU" sz="160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1 и </a:t>
                </a:r>
                <a:r>
                  <a:rPr lang="en-US" sz="160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P</a:t>
                </a:r>
                <a:r>
                  <a:rPr lang="ru-RU" sz="160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2, являющиеся вершинами одной из сторон прямоугольника; </a:t>
                </a:r>
              </a:p>
              <a:p>
                <a:r>
                  <a:rPr lang="ru-RU" sz="160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б) </a:t>
                </a:r>
                <a:r>
                  <a:rPr lang="ru-RU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Т</a:t>
                </a:r>
                <a:r>
                  <a:rPr lang="ru-RU" sz="160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очка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sz="16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accPr>
                      <m:e>
                        <m:r>
                          <a:rPr lang="en-US" sz="16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𝑇</m:t>
                        </m:r>
                      </m:e>
                    </m:acc>
                  </m:oMath>
                </a14:m>
                <a:r>
                  <a:rPr lang="ru-RU" sz="160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на плоскости, лежащая на прямой, проходящей через две другие вершины.</a:t>
                </a:r>
              </a:p>
              <a:p>
                <a:r>
                  <a:rPr lang="ru-RU" sz="160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 </a:t>
                </a:r>
              </a:p>
              <a:p>
                <a:r>
                  <a:rPr lang="ru-RU" sz="1600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Решение:</a:t>
                </a:r>
              </a:p>
              <a:p>
                <a:pPr marL="285750" indent="-285750">
                  <a:buFontTx/>
                  <a:buChar char="-"/>
                </a:pPr>
                <a:r>
                  <a:rPr lang="ru-RU" sz="160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Проведение прямой через </a:t>
                </a:r>
                <a:r>
                  <a:rPr lang="ru-RU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две точки, являющиеся вершинами одной из сторон;</a:t>
                </a:r>
              </a:p>
              <a:p>
                <a:pPr marL="285750" indent="-285750">
                  <a:buFontTx/>
                  <a:buChar char="-"/>
                </a:pPr>
                <a:r>
                  <a:rPr lang="ru-RU" sz="160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Опускание перпендикуляра из точки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sz="160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accPr>
                      <m:e>
                        <m:r>
                          <a:rPr lang="en-US" sz="16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𝑇</m:t>
                        </m:r>
                      </m:e>
                    </m:acc>
                  </m:oMath>
                </a14:m>
                <a:r>
                  <a:rPr lang="ru-RU" sz="160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на прямую:</a:t>
                </a:r>
              </a:p>
              <a:p>
                <a:r>
                  <a:rPr lang="ru-RU" sz="160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Вспомогательный вектор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sz="16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6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𝑉</m:t>
                        </m:r>
                      </m:e>
                    </m:acc>
                  </m:oMath>
                </a14:m>
                <a:r>
                  <a:rPr lang="ru-RU" sz="160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 -    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acc>
                    <m:r>
                      <a:rPr lang="ru-RU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  <m:ctrlPr>
                          <a:rPr lang="ru-RU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ru-RU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acc>
                    <m:r>
                      <a:rPr lang="ru-RU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−</m:t>
                    </m:r>
                    <m:acc>
                      <m:accPr>
                        <m:chr m:val="⃗"/>
                        <m:ctrlPr>
                          <a:rPr lang="ru-RU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ru-RU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ru-RU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acc>
                  </m:oMath>
                </a14:m>
                <a:endParaRPr lang="ru-RU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r>
                  <a:rPr lang="ru-RU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Д</a:t>
                </a:r>
                <a:r>
                  <a:rPr lang="ru-RU" sz="160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лина вектора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sz="16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6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𝑅</m:t>
                        </m:r>
                      </m:e>
                    </m:acc>
                  </m:oMath>
                </a14:m>
                <a:r>
                  <a:rPr lang="ru-RU" sz="160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 :</a:t>
                </a:r>
                <a:r>
                  <a:rPr lang="ru-RU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ru-RU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ru-RU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ru-RU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ru-RU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</m:acc>
                      </m:e>
                    </m:d>
                    <m:r>
                      <a:rPr lang="ru-RU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ru-RU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ru-RU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ru-RU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𝑅𝑥</m:t>
                            </m:r>
                          </m:e>
                          <m:sup>
                            <m:r>
                              <a:rPr lang="ru-RU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ru-RU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ru-RU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ru-RU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𝑅𝑦</m:t>
                            </m:r>
                          </m:e>
                          <m:sup>
                            <m:r>
                              <a:rPr lang="ru-RU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</m:oMath>
                </a14:m>
                <a:endParaRPr lang="ru-RU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r>
                  <a:rPr lang="ru-RU" sz="160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Длина катета </a:t>
                </a:r>
                <a:r>
                  <a:rPr lang="en-US" sz="1600" i="1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x</a:t>
                </a:r>
                <a:r>
                  <a:rPr lang="ru-RU" sz="1600" i="1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</a:t>
                </a:r>
                <a:r>
                  <a:rPr lang="ru-RU" sz="160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(треугольник </a:t>
                </a:r>
                <a:r>
                  <a:rPr lang="en-US" sz="1600" i="1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P</a:t>
                </a:r>
                <a:r>
                  <a:rPr lang="ru-RU" sz="1600" i="1" baseline="-2500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0</a:t>
                </a:r>
                <a:r>
                  <a:rPr lang="ru-RU" sz="1600" i="1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, </a:t>
                </a:r>
                <a:r>
                  <a:rPr lang="en-US" sz="1600" i="1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T</a:t>
                </a:r>
                <a:r>
                  <a:rPr lang="ru-RU" sz="1600" i="1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, </a:t>
                </a:r>
                <a:r>
                  <a:rPr lang="en-US" sz="1600" i="1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A</a:t>
                </a:r>
                <a:r>
                  <a:rPr lang="ru-RU" sz="160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): </a:t>
                </a:r>
                <a14:m>
                  <m:oMath xmlns:m="http://schemas.openxmlformats.org/officeDocument/2006/math">
                    <m:r>
                      <a:rPr lang="en-US" sz="160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ru-RU" sz="1600" i="1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ru-RU" sz="16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16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𝑉</m:t>
                        </m:r>
                      </m:e>
                      <m:sub>
                        <m:r>
                          <a:rPr lang="ru-RU" sz="16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𝐿</m:t>
                        </m:r>
                      </m:sub>
                    </m:sSub>
                    <m:func>
                      <m:funcPr>
                        <m:ctrlPr>
                          <a:rPr lang="ru-RU" sz="16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ru-RU" sz="16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cos</m:t>
                        </m:r>
                      </m:fName>
                      <m:e>
                        <m:r>
                          <a:rPr lang="ru-RU" sz="16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𝛼</m:t>
                        </m:r>
                      </m:e>
                    </m:func>
                  </m:oMath>
                </a14:m>
                <a:endParaRPr lang="ru-RU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r>
                  <a:rPr lang="ru-RU" sz="160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Скалярное произведение векторов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sz="16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6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𝑉</m:t>
                        </m:r>
                      </m:e>
                    </m:acc>
                  </m:oMath>
                </a14:m>
                <a:r>
                  <a:rPr lang="ru-RU" sz="160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 и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sz="16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6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𝑅</m:t>
                        </m:r>
                      </m:e>
                    </m:acc>
                  </m:oMath>
                </a14:m>
                <a:r>
                  <a:rPr lang="ru-RU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: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𝑆</m:t>
                    </m:r>
                    <m:r>
                      <a:rPr lang="ru-RU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ru-RU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ru-RU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sSub>
                      <m:sSubPr>
                        <m:ctrlPr>
                          <a:rPr lang="ru-RU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ru-RU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func>
                      <m:funcPr>
                        <m:ctrlPr>
                          <a:rPr lang="ru-RU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ru-RU" sz="16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ru-RU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</m:func>
                    <m:r>
                      <a:rPr lang="ru-RU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ru-RU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𝑉𝑥</m:t>
                    </m:r>
                    <m:r>
                      <a:rPr lang="ru-RU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∙</m:t>
                    </m:r>
                    <m:r>
                      <a:rPr lang="ru-RU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𝑅𝑥</m:t>
                    </m:r>
                    <m:r>
                      <a:rPr lang="ru-RU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ru-RU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𝑉𝑦</m:t>
                    </m:r>
                    <m:r>
                      <a:rPr lang="ru-RU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∙</m:t>
                    </m:r>
                    <m:r>
                      <a:rPr lang="ru-RU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𝑅𝑦</m:t>
                    </m:r>
                  </m:oMath>
                </a14:m>
                <a:endParaRPr lang="ru-RU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r>
                  <a:rPr lang="ru-RU" sz="160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Расстояние от точки </a:t>
                </a:r>
                <a:r>
                  <a:rPr lang="en-US" sz="1600" i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P</a:t>
                </a:r>
                <a:r>
                  <a:rPr lang="ru-RU" sz="1600" i="1" baseline="-250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0</a:t>
                </a:r>
                <a:r>
                  <a:rPr lang="ru-RU" sz="160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до точки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sz="16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ru-RU" sz="16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𝐴</m:t>
                        </m:r>
                      </m:e>
                    </m:acc>
                  </m:oMath>
                </a14:m>
                <a:r>
                  <a:rPr lang="ru-RU" sz="160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: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ru-RU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ru-RU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⃗"/>
                            <m:ctrlPr>
                              <a:rPr lang="ru-RU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ru-RU" sz="16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sz="16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  <m:sub>
                                <m:r>
                                  <a:rPr lang="ru-RU" sz="16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e>
                    </m:d>
                    <m:r>
                      <a:rPr lang="en-US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ru-RU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ru-RU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∙</m:t>
                    </m:r>
                    <m:d>
                      <m:dPr>
                        <m:begChr m:val="|"/>
                        <m:endChr m:val="|"/>
                        <m:ctrlPr>
                          <a:rPr lang="ru-RU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ru-RU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ru-RU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</m:acc>
                      </m:e>
                    </m:d>
                  </m:oMath>
                </a14:m>
                <a:endParaRPr lang="ru-RU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r>
                  <a:rPr lang="ru-RU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Параметр        </a:t>
                </a:r>
                <a14:m>
                  <m:oMath xmlns:m="http://schemas.openxmlformats.org/officeDocument/2006/math">
                    <m:r>
                      <a:rPr lang="en-US" sz="160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𝑡</m:t>
                    </m:r>
                    <m:r>
                      <a:rPr lang="en-US" sz="160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ru-RU" sz="16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</m:num>
                      <m:den>
                        <m:sSub>
                          <m:sSubPr>
                            <m:ctrlPr>
                              <a:rPr lang="ru-RU" sz="1600" i="1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600" i="1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𝐿</m:t>
                            </m:r>
                          </m:sub>
                        </m:sSub>
                      </m:den>
                    </m:f>
                    <m:r>
                      <a:rPr lang="en-US" sz="1600" i="1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ru-RU" sz="16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𝑆</m:t>
                        </m:r>
                      </m:num>
                      <m:den>
                        <m:sSubSup>
                          <m:sSubSupPr>
                            <m:ctrlPr>
                              <a:rPr lang="ru-RU" sz="1600" i="1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600" i="1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600" i="1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𝐿</m:t>
                            </m:r>
                          </m:sub>
                          <m:sup>
                            <m:r>
                              <a:rPr lang="en-US" sz="1600" i="1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</m:oMath>
                </a14:m>
                <a:endParaRPr lang="ru-RU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endParaRPr lang="ru-RU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r>
                  <a:rPr lang="ru-RU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Проверка существования прямоугольника    </a:t>
                </a:r>
                <a:r>
                  <a:rPr 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0 ≤ </a:t>
                </a:r>
                <a:r>
                  <a:rPr lang="en-US" sz="1600" i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t</a:t>
                </a:r>
                <a:r>
                  <a:rPr 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≤  1</a:t>
                </a:r>
                <a:endParaRPr lang="ru-RU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endParaRPr lang="ru-RU" sz="1600" dirty="0">
                  <a:solidFill>
                    <a:schemeClr val="accent6">
                      <a:lumMod val="50000"/>
                    </a:schemeClr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C3141481-EFF4-42FA-9B89-F98D5D974D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835" y="794320"/>
                <a:ext cx="11057965" cy="4903265"/>
              </a:xfrm>
              <a:prstGeom prst="rect">
                <a:avLst/>
              </a:prstGeom>
              <a:blipFill rotWithShape="1">
                <a:blip r:embed="rId2"/>
                <a:stretch>
                  <a:fillRect l="-331" t="-37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01983" y="2946400"/>
            <a:ext cx="4511487" cy="30987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Заголовок 1"/>
          <p:cNvSpPr txBox="1">
            <a:spLocks/>
          </p:cNvSpPr>
          <p:nvPr/>
        </p:nvSpPr>
        <p:spPr>
          <a:xfrm>
            <a:off x="10096701" y="260853"/>
            <a:ext cx="1816769" cy="46906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1600" b="1" dirty="0">
                <a:latin typeface="Times New Roman" pitchFamily="18" charset="0"/>
                <a:cs typeface="Times New Roman" pitchFamily="18" charset="0"/>
              </a:rPr>
              <a:t>ПРИЛОЖЕНИЕ 1</a:t>
            </a:r>
          </a:p>
        </p:txBody>
      </p:sp>
    </p:spTree>
    <p:extLst>
      <p:ext uri="{BB962C8B-B14F-4D97-AF65-F5344CB8AC3E}">
        <p14:creationId xmlns:p14="http://schemas.microsoft.com/office/powerpoint/2010/main" val="211812193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EC3C29A5-8BBD-4116-897A-2FCC914B17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00000" y="6120000"/>
            <a:ext cx="2743200" cy="365125"/>
          </a:xfrm>
        </p:spPr>
        <p:txBody>
          <a:bodyPr lIns="0" tIns="36000" rIns="0" bIns="36000"/>
          <a:lstStyle/>
          <a:p>
            <a:fld id="{8346BD07-4451-4F99-9781-57091C949674}" type="slidenum">
              <a:rPr lang="ru-RU" sz="1400" b="1" smtClean="0">
                <a:solidFill>
                  <a:schemeClr val="accent6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27</a:t>
            </a:fld>
            <a:endParaRPr lang="ru-RU" sz="1400" b="1" dirty="0">
              <a:solidFill>
                <a:schemeClr val="accent6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010A682E-B571-48F8-8C60-183177EA4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0000" y="0"/>
            <a:ext cx="10515600" cy="925195"/>
          </a:xfrm>
        </p:spPr>
        <p:txBody>
          <a:bodyPr>
            <a:normAutofit/>
          </a:bodyPr>
          <a:lstStyle/>
          <a:p>
            <a:pPr algn="ctr"/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Метод решения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FAAB187-F7EA-405C-BE5F-7C25CE1E0040}"/>
                  </a:ext>
                </a:extLst>
              </p:cNvPr>
              <p:cNvSpPr txBox="1"/>
              <p:nvPr/>
            </p:nvSpPr>
            <p:spPr>
              <a:xfrm>
                <a:off x="206188" y="879251"/>
                <a:ext cx="11057965" cy="490647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600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Построение прямоугольника по трем точкам </a:t>
                </a:r>
                <a:r>
                  <a:rPr lang="ru-RU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– нахождение координат всех вершин</a:t>
                </a:r>
              </a:p>
              <a:p>
                <a:pPr marL="285750" indent="-285750">
                  <a:buFontTx/>
                  <a:buChar char="-"/>
                </a:pPr>
                <a:endParaRPr lang="ru-RU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r>
                  <a:rPr lang="ru-RU" sz="160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Направляющий вектор </a:t>
                </a:r>
                <a:r>
                  <a:rPr lang="en-US" sz="1600" i="1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R</a:t>
                </a:r>
                <a:r>
                  <a:rPr lang="en-US" sz="160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</a:t>
                </a:r>
                <a:r>
                  <a:rPr lang="ru-RU" sz="160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для линии, проходящей через точки </a:t>
                </a:r>
                <a:r>
                  <a:rPr lang="en-US" sz="1600" i="1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P</a:t>
                </a:r>
                <a:r>
                  <a:rPr lang="ru-RU" sz="1600" i="1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1</a:t>
                </a:r>
                <a:r>
                  <a:rPr lang="ru-RU" sz="160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и </a:t>
                </a:r>
                <a:r>
                  <a:rPr lang="en-US" sz="1600" i="1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P</a:t>
                </a:r>
                <a:r>
                  <a:rPr lang="ru-RU" sz="1600" i="1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2   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sz="160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6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𝑅</m:t>
                        </m:r>
                      </m:e>
                    </m:acc>
                    <m:r>
                      <a:rPr lang="ru-RU" sz="1600" i="1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acc>
                      <m:accPr>
                        <m:chr m:val="⃗"/>
                        <m:ctrlPr>
                          <a:rPr lang="ru-RU" sz="16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ru-RU" sz="16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𝑃</m:t>
                        </m:r>
                        <m:r>
                          <a:rPr lang="ru-RU" sz="16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e>
                    </m:acc>
                    <m:r>
                      <a:rPr lang="ru-RU" sz="1600" i="1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−</m:t>
                    </m:r>
                    <m:acc>
                      <m:accPr>
                        <m:chr m:val="⃗"/>
                        <m:ctrlPr>
                          <a:rPr lang="ru-RU" sz="16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ru-RU" sz="16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𝑃</m:t>
                        </m:r>
                        <m:r>
                          <a:rPr lang="ru-RU" sz="16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e>
                    </m:acc>
                  </m:oMath>
                </a14:m>
                <a:endParaRPr lang="ru-RU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endParaRPr lang="ru-RU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r>
                  <a:rPr lang="ru-RU" sz="160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Вспомогательный вектор V от точки T до точки P1: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sz="160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6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𝑉</m:t>
                        </m:r>
                      </m:e>
                    </m:acc>
                    <m:r>
                      <a:rPr lang="ru-RU" sz="1600" i="1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acc>
                      <m:accPr>
                        <m:chr m:val="⃗"/>
                        <m:ctrlPr>
                          <a:rPr lang="ru-RU" sz="16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ru-RU" sz="16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𝑇</m:t>
                        </m:r>
                      </m:e>
                    </m:acc>
                    <m:r>
                      <a:rPr lang="ru-RU" sz="1600" i="1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−</m:t>
                    </m:r>
                    <m:acc>
                      <m:accPr>
                        <m:chr m:val="⃗"/>
                        <m:ctrlPr>
                          <a:rPr lang="ru-RU" sz="16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ru-RU" sz="16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𝑃</m:t>
                        </m:r>
                        <m:r>
                          <a:rPr lang="ru-RU" sz="16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e>
                    </m:acc>
                  </m:oMath>
                </a14:m>
                <a:endParaRPr lang="ru-RU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endParaRPr lang="ru-RU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r>
                  <a:rPr lang="ru-RU" sz="160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Угол между векторами </a:t>
                </a:r>
                <a:r>
                  <a:rPr lang="ru-RU" sz="1600" i="1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V</a:t>
                </a:r>
                <a:r>
                  <a:rPr lang="ru-RU" sz="160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и </a:t>
                </a:r>
                <a:r>
                  <a:rPr lang="ru-RU" sz="1600" i="1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R </a:t>
                </a:r>
                <a:r>
                  <a:rPr lang="ru-RU" sz="160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определяется </a:t>
                </a:r>
                <a:r>
                  <a:rPr lang="ru-RU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знаком </a:t>
                </a:r>
                <a:r>
                  <a:rPr lang="ru-RU" sz="160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косого произведения</a:t>
                </a:r>
                <a:r>
                  <a:rPr lang="en-US" sz="1600" i="1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:</a:t>
                </a:r>
                <a:endParaRPr lang="ru-RU" sz="1600" i="1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r>
                  <a:rPr lang="en-US" sz="1600" i="1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60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𝑆</m:t>
                    </m:r>
                    <m:r>
                      <a:rPr lang="ru-RU" sz="1600" i="1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ru-RU" sz="1600" i="1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𝑅𝑥</m:t>
                    </m:r>
                    <m:r>
                      <a:rPr lang="ru-RU" sz="1600" i="1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∙</m:t>
                    </m:r>
                    <m:r>
                      <a:rPr lang="ru-RU" sz="1600" i="1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𝑉𝑦</m:t>
                    </m:r>
                    <m:r>
                      <a:rPr lang="ru-RU" sz="1600" i="1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−</m:t>
                    </m:r>
                    <m:r>
                      <a:rPr lang="ru-RU" sz="1600" i="1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𝑉𝑥</m:t>
                    </m:r>
                    <m:r>
                      <a:rPr lang="ru-RU" sz="1600" i="1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∙</m:t>
                    </m:r>
                    <m:r>
                      <a:rPr lang="ru-RU" sz="1600" i="1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𝑅𝑦</m:t>
                    </m:r>
                  </m:oMath>
                </a14:m>
                <a:endParaRPr lang="ru-RU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endParaRPr lang="ru-RU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r>
                  <a:rPr lang="ru-RU" sz="1600" i="1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S = 0, то V и R параллельны, точка T лежит на стороне P1 и P2 - построение </a:t>
                </a:r>
                <a:endParaRPr lang="en-US" sz="1600" i="1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r>
                  <a:rPr lang="ru-RU" sz="1600" i="1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прямоугольника невозможно</a:t>
                </a:r>
              </a:p>
              <a:p>
                <a:endParaRPr lang="ru-RU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r>
                  <a:rPr lang="en-US" sz="1600" i="1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S</a:t>
                </a:r>
                <a:r>
                  <a:rPr lang="ru-RU" sz="1600" i="1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&lt;0, точка T лежит справа от прямой P1</a:t>
                </a:r>
                <a:r>
                  <a:rPr lang="ru-RU" sz="160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</a:t>
                </a:r>
                <a:r>
                  <a:rPr lang="ru-RU" sz="1600" i="1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и</a:t>
                </a:r>
                <a:r>
                  <a:rPr lang="ru-RU" sz="160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</a:t>
                </a:r>
                <a:r>
                  <a:rPr lang="ru-RU" sz="1600" i="1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P2 – требование направления обхода </a:t>
                </a:r>
                <a:endParaRPr lang="en-US" sz="1600" i="1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r>
                  <a:rPr lang="ru-RU" sz="1600" i="1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узлов против часовой стрелки не выполняется - меняем местами точки P1</a:t>
                </a:r>
                <a:r>
                  <a:rPr lang="ru-RU" sz="160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</a:t>
                </a:r>
                <a:r>
                  <a:rPr lang="ru-RU" sz="1600" i="1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и</a:t>
                </a:r>
                <a:r>
                  <a:rPr lang="ru-RU" sz="160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</a:t>
                </a:r>
                <a:r>
                  <a:rPr lang="ru-RU" sz="1600" i="1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P2 </a:t>
                </a:r>
                <a:endParaRPr lang="ru-RU" sz="1600" b="1" i="1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endParaRPr lang="ru-RU" sz="1600" b="1" i="1" dirty="0">
                  <a:solidFill>
                    <a:schemeClr val="tx1"/>
                  </a:solidFill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r>
                  <a:rPr lang="ru-RU" sz="160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Перпендикуляр из точки </a:t>
                </a:r>
                <a:r>
                  <a:rPr lang="ru-RU" sz="1600" i="1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T</a:t>
                </a:r>
                <a:r>
                  <a:rPr lang="ru-RU" sz="160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на вектор </a:t>
                </a:r>
                <a:r>
                  <a:rPr lang="en-US" sz="1600" i="1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R</a:t>
                </a:r>
                <a:r>
                  <a:rPr lang="ru-RU" sz="1600" i="1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 </a:t>
                </a:r>
                <a:r>
                  <a:rPr lang="ru-RU" sz="160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– точка </a:t>
                </a:r>
                <a:r>
                  <a:rPr lang="en-US" sz="1600" i="1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A</a:t>
                </a:r>
                <a:endParaRPr lang="ru-RU" sz="1600" i="1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r>
                  <a:rPr lang="ru-RU" sz="160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Вектор </a:t>
                </a:r>
                <a:r>
                  <a:rPr lang="en-US" sz="1600" i="1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h</a:t>
                </a:r>
                <a:r>
                  <a:rPr lang="ru-RU" sz="160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(перпендикуляр к вектору </a:t>
                </a:r>
                <a:r>
                  <a:rPr lang="en-US" sz="1600" i="1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R</a:t>
                </a:r>
                <a:r>
                  <a:rPr lang="ru-RU" sz="160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)    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sz="160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6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</m:e>
                    </m:acc>
                    <m:r>
                      <a:rPr lang="ru-RU" sz="1600" i="1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acc>
                      <m:accPr>
                        <m:chr m:val="⃗"/>
                        <m:ctrlPr>
                          <a:rPr lang="ru-RU" sz="16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ru-RU" sz="16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𝑇</m:t>
                        </m:r>
                      </m:e>
                    </m:acc>
                    <m:r>
                      <a:rPr lang="ru-RU" sz="1600" i="1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−</m:t>
                    </m:r>
                    <m:acc>
                      <m:accPr>
                        <m:chr m:val="⃗"/>
                        <m:ctrlPr>
                          <a:rPr lang="ru-RU" sz="16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ru-RU" sz="16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𝐴</m:t>
                        </m:r>
                      </m:e>
                    </m:acc>
                  </m:oMath>
                </a14:m>
                <a:endParaRPr lang="ru-RU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ru-RU" sz="160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Точки </a:t>
                </a:r>
                <a:r>
                  <a:rPr lang="ru-RU" sz="1600" i="1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P3</a:t>
                </a:r>
                <a:r>
                  <a:rPr lang="ru-RU" sz="160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и </a:t>
                </a:r>
                <a:r>
                  <a:rPr lang="ru-RU" sz="1600" i="1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P4</a:t>
                </a:r>
                <a:r>
                  <a:rPr lang="ru-RU" sz="160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: 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sz="160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accPr>
                      <m:e>
                        <m:r>
                          <a:rPr lang="en-US" sz="16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𝑃</m:t>
                        </m:r>
                        <m:r>
                          <a:rPr lang="en-US" sz="16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3</m:t>
                        </m:r>
                      </m:e>
                    </m:acc>
                    <m:r>
                      <a:rPr lang="ru-RU" sz="1600" i="1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=</m:t>
                    </m:r>
                    <m:acc>
                      <m:accPr>
                        <m:chr m:val="⃗"/>
                        <m:ctrlPr>
                          <a:rPr lang="ru-RU" sz="16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accPr>
                      <m:e>
                        <m:r>
                          <a:rPr lang="ru-RU" sz="16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𝑃</m:t>
                        </m:r>
                        <m:r>
                          <a:rPr lang="ru-RU" sz="16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2</m:t>
                        </m:r>
                      </m:e>
                    </m:acc>
                    <m:r>
                      <a:rPr lang="ru-RU" sz="1600" i="1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+</m:t>
                    </m:r>
                    <m:acc>
                      <m:accPr>
                        <m:chr m:val="⃗"/>
                        <m:ctrlPr>
                          <a:rPr lang="ru-RU" sz="16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accPr>
                      <m:e>
                        <m:r>
                          <a:rPr lang="ru-RU" sz="1600" i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h</m:t>
                        </m:r>
                      </m:e>
                    </m:acc>
                    <m:r>
                      <a:rPr lang="ru-RU" sz="1600" b="0" i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,</m:t>
                    </m:r>
                    <m:acc>
                      <m:accPr>
                        <m:chr m:val="⃗"/>
                        <m:ctrlPr>
                          <a:rPr lang="ru-RU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ru-RU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𝑃</m:t>
                        </m:r>
                        <m:r>
                          <a:rPr lang="en-US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4</m:t>
                        </m:r>
                      </m:e>
                    </m:acc>
                    <m:r>
                      <a:rPr lang="ru-RU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acc>
                      <m:accPr>
                        <m:chr m:val="⃗"/>
                        <m:ctrlPr>
                          <a:rPr lang="ru-RU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ru-RU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𝑃</m:t>
                        </m:r>
                        <m:r>
                          <a:rPr lang="ru-RU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e>
                    </m:acc>
                    <m:r>
                      <a:rPr lang="ru-RU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+</m:t>
                    </m:r>
                    <m:acc>
                      <m:accPr>
                        <m:chr m:val="⃗"/>
                        <m:ctrlPr>
                          <a:rPr lang="ru-RU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ru-RU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</m:e>
                    </m:acc>
                  </m:oMath>
                </a14:m>
                <a:endParaRPr lang="ru-RU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endParaRPr lang="ru-RU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3FAAB187-F7EA-405C-BE5F-7C25CE1E00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188" y="879251"/>
                <a:ext cx="11057965" cy="4906471"/>
              </a:xfrm>
              <a:prstGeom prst="rect">
                <a:avLst/>
              </a:prstGeom>
              <a:blipFill rotWithShape="1">
                <a:blip r:embed="rId2"/>
                <a:stretch>
                  <a:fillRect l="-331" t="-37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06087" y="1717451"/>
            <a:ext cx="3843078" cy="322708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8" name="Заголовок 1"/>
          <p:cNvSpPr txBox="1">
            <a:spLocks/>
          </p:cNvSpPr>
          <p:nvPr/>
        </p:nvSpPr>
        <p:spPr>
          <a:xfrm>
            <a:off x="10096701" y="260853"/>
            <a:ext cx="1816769" cy="46906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1600" b="1" dirty="0">
                <a:latin typeface="Times New Roman" pitchFamily="18" charset="0"/>
                <a:cs typeface="Times New Roman" pitchFamily="18" charset="0"/>
              </a:rPr>
              <a:t>ПРИЛОЖЕНИЕ 2</a:t>
            </a:r>
          </a:p>
        </p:txBody>
      </p:sp>
    </p:spTree>
    <p:extLst>
      <p:ext uri="{BB962C8B-B14F-4D97-AF65-F5344CB8AC3E}">
        <p14:creationId xmlns:p14="http://schemas.microsoft.com/office/powerpoint/2010/main" val="1731322202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1730</TotalTime>
  <Words>2114</Words>
  <Application>Microsoft Office PowerPoint</Application>
  <PresentationFormat>Широкоэкранный</PresentationFormat>
  <Paragraphs>378</Paragraphs>
  <Slides>27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27</vt:i4>
      </vt:variant>
    </vt:vector>
  </HeadingPairs>
  <TitlesOfParts>
    <vt:vector size="35" baseType="lpstr">
      <vt:lpstr>Arial</vt:lpstr>
      <vt:lpstr>Calibri</vt:lpstr>
      <vt:lpstr>Calibri Light</vt:lpstr>
      <vt:lpstr>Cambria Math</vt:lpstr>
      <vt:lpstr>JetBrains Mono</vt:lpstr>
      <vt:lpstr>Symbol</vt:lpstr>
      <vt:lpstr>Times New Roman</vt:lpstr>
      <vt:lpstr>Тема Office</vt:lpstr>
      <vt:lpstr>Нахождение отрезка максимальной длины,  находящегося внутри прямоугольника  </vt:lpstr>
      <vt:lpstr>Постановка задачи</vt:lpstr>
      <vt:lpstr>Презентация PowerPoint</vt:lpstr>
      <vt:lpstr>Входные данные</vt:lpstr>
      <vt:lpstr>Выходные данные</vt:lpstr>
      <vt:lpstr>Математическая модель</vt:lpstr>
      <vt:lpstr>Математическая модель</vt:lpstr>
      <vt:lpstr>Математическая модель</vt:lpstr>
      <vt:lpstr>Математическая модель</vt:lpstr>
      <vt:lpstr>Математическая модель</vt:lpstr>
      <vt:lpstr>Математическая модель</vt:lpstr>
      <vt:lpstr>Математическая модель</vt:lpstr>
      <vt:lpstr>Структура данных</vt:lpstr>
      <vt:lpstr>Метод решения</vt:lpstr>
      <vt:lpstr>Метод решения</vt:lpstr>
      <vt:lpstr>Метод решения</vt:lpstr>
      <vt:lpstr>Презентация PowerPoint</vt:lpstr>
      <vt:lpstr>Структура программы</vt:lpstr>
      <vt:lpstr>Структура программы</vt:lpstr>
      <vt:lpstr>Структура программы</vt:lpstr>
      <vt:lpstr>Пример работы программы Для каждого случая взаимного расположения прямоугольника и отрезка: </vt:lpstr>
      <vt:lpstr>Пример работы программы</vt:lpstr>
      <vt:lpstr>Пример работы программы</vt:lpstr>
      <vt:lpstr>Возникшие затруднения</vt:lpstr>
      <vt:lpstr>Презентация PowerPoint</vt:lpstr>
      <vt:lpstr>Метод решения</vt:lpstr>
      <vt:lpstr>Метод решения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Нахождение отрезка, находящегося внутри прямоугольника, максимальной длины</dc:title>
  <dc:creator>Artem</dc:creator>
  <cp:lastModifiedBy>Artem</cp:lastModifiedBy>
  <cp:revision>190</cp:revision>
  <dcterms:created xsi:type="dcterms:W3CDTF">2026-03-03T15:09:02Z</dcterms:created>
  <dcterms:modified xsi:type="dcterms:W3CDTF">2026-04-28T18:38:32Z</dcterms:modified>
</cp:coreProperties>
</file>
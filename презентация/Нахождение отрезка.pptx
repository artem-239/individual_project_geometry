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56" r:id="rId2"/>
    <p:sldId id="257" r:id="rId3"/>
    <p:sldId id="258" r:id="rId4"/>
    <p:sldId id="260" r:id="rId5"/>
    <p:sldId id="261" r:id="rId6"/>
    <p:sldId id="262" r:id="rId7"/>
    <p:sldId id="275" r:id="rId8"/>
    <p:sldId id="271" r:id="rId9"/>
    <p:sldId id="272" r:id="rId10"/>
    <p:sldId id="273" r:id="rId11"/>
    <p:sldId id="265" r:id="rId12"/>
    <p:sldId id="274" r:id="rId13"/>
    <p:sldId id="276" r:id="rId14"/>
    <p:sldId id="277" r:id="rId15"/>
    <p:sldId id="278" r:id="rId16"/>
    <p:sldId id="279" r:id="rId17"/>
    <p:sldId id="283" r:id="rId18"/>
    <p:sldId id="284" r:id="rId19"/>
    <p:sldId id="285" r:id="rId20"/>
    <p:sldId id="282" r:id="rId21"/>
    <p:sldId id="263" r:id="rId22"/>
    <p:sldId id="264" r:id="rId23"/>
    <p:sldId id="266" r:id="rId24"/>
    <p:sldId id="286" r:id="rId25"/>
    <p:sldId id="287" r:id="rId26"/>
    <p:sldId id="268" r:id="rId27"/>
    <p:sldId id="269" r:id="rId2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CD0"/>
    <a:srgbClr val="D5E9C9"/>
    <a:srgbClr val="D4F0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53" autoAdjust="0"/>
    <p:restoredTop sz="94660"/>
  </p:normalViewPr>
  <p:slideViewPr>
    <p:cSldViewPr snapToGrid="0">
      <p:cViewPr varScale="1">
        <p:scale>
          <a:sx n="85" d="100"/>
          <a:sy n="85" d="100"/>
        </p:scale>
        <p:origin x="528"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86AB17-56FD-4EDD-9EEB-F3D57CEC3577}" type="datetimeFigureOut">
              <a:rPr lang="ru-RU" smtClean="0"/>
              <a:t>31.03.2026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C6FC69-6161-4ADE-884D-818228B5EF17}" type="slidenum">
              <a:rPr lang="ru-RU" smtClean="0"/>
              <a:t>‹#›</a:t>
            </a:fld>
            <a:endParaRPr lang="ru-RU"/>
          </a:p>
        </p:txBody>
      </p:sp>
    </p:spTree>
    <p:extLst>
      <p:ext uri="{BB962C8B-B14F-4D97-AF65-F5344CB8AC3E}">
        <p14:creationId xmlns:p14="http://schemas.microsoft.com/office/powerpoint/2010/main" val="1894978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24C6FC69-6161-4ADE-884D-818228B5EF17}" type="slidenum">
              <a:rPr lang="ru-RU" smtClean="0"/>
              <a:t>2</a:t>
            </a:fld>
            <a:endParaRPr lang="ru-RU"/>
          </a:p>
        </p:txBody>
      </p:sp>
    </p:spTree>
    <p:extLst>
      <p:ext uri="{BB962C8B-B14F-4D97-AF65-F5344CB8AC3E}">
        <p14:creationId xmlns:p14="http://schemas.microsoft.com/office/powerpoint/2010/main" val="562948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24C6FC69-6161-4ADE-884D-818228B5EF17}" type="slidenum">
              <a:rPr lang="ru-RU" smtClean="0"/>
              <a:t>11</a:t>
            </a:fld>
            <a:endParaRPr lang="ru-RU"/>
          </a:p>
        </p:txBody>
      </p:sp>
    </p:spTree>
    <p:extLst>
      <p:ext uri="{BB962C8B-B14F-4D97-AF65-F5344CB8AC3E}">
        <p14:creationId xmlns:p14="http://schemas.microsoft.com/office/powerpoint/2010/main" val="556452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CD05A1-53D0-4D78-8ACE-AD95BC4DA87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696F2A61-7066-45A5-B361-C031DEDD51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E3154A1A-5EA0-4449-B316-D43EFB2BE555}"/>
              </a:ext>
            </a:extLst>
          </p:cNvPr>
          <p:cNvSpPr>
            <a:spLocks noGrp="1"/>
          </p:cNvSpPr>
          <p:nvPr>
            <p:ph type="dt" sz="half" idx="10"/>
          </p:nvPr>
        </p:nvSpPr>
        <p:spPr/>
        <p:txBody>
          <a:bodyPr/>
          <a:lstStyle/>
          <a:p>
            <a:fld id="{72A4CADC-3382-474D-A975-F78C8D475467}" type="datetime1">
              <a:rPr lang="ru-RU" smtClean="0"/>
              <a:t>31.03.2026</a:t>
            </a:fld>
            <a:endParaRPr lang="ru-RU"/>
          </a:p>
        </p:txBody>
      </p:sp>
      <p:sp>
        <p:nvSpPr>
          <p:cNvPr id="5" name="Нижний колонтитул 4">
            <a:extLst>
              <a:ext uri="{FF2B5EF4-FFF2-40B4-BE49-F238E27FC236}">
                <a16:creationId xmlns:a16="http://schemas.microsoft.com/office/drawing/2014/main" id="{B1DA88BE-E801-483C-916A-210C9848DC8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42BA9D6-A3D9-4B3B-AC50-1C0F24F89217}"/>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2670045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E55187-2D91-42D5-AE9B-7DEF62C124E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99395D1-690A-414A-94D8-9DEAD08CFF3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3E1F971-46EF-45FF-9EDF-2BF7E45357A3}"/>
              </a:ext>
            </a:extLst>
          </p:cNvPr>
          <p:cNvSpPr>
            <a:spLocks noGrp="1"/>
          </p:cNvSpPr>
          <p:nvPr>
            <p:ph type="dt" sz="half" idx="10"/>
          </p:nvPr>
        </p:nvSpPr>
        <p:spPr/>
        <p:txBody>
          <a:bodyPr/>
          <a:lstStyle/>
          <a:p>
            <a:fld id="{D8743EA2-CCF3-45C7-9117-7104088D4F6E}" type="datetime1">
              <a:rPr lang="ru-RU" smtClean="0"/>
              <a:t>31.03.2026</a:t>
            </a:fld>
            <a:endParaRPr lang="ru-RU"/>
          </a:p>
        </p:txBody>
      </p:sp>
      <p:sp>
        <p:nvSpPr>
          <p:cNvPr id="5" name="Нижний колонтитул 4">
            <a:extLst>
              <a:ext uri="{FF2B5EF4-FFF2-40B4-BE49-F238E27FC236}">
                <a16:creationId xmlns:a16="http://schemas.microsoft.com/office/drawing/2014/main" id="{FB4D8D50-DB1A-4E4D-BAF9-336AC864D35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2F750DD-5175-40D7-9163-3787048ABF67}"/>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3946757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465448-7CD2-451C-A86A-03AA5716C0F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6E7AA154-4035-4E58-B0DA-D09D11E9DB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E45E216-2196-494F-AD8F-F557BBAEC8B9}"/>
              </a:ext>
            </a:extLst>
          </p:cNvPr>
          <p:cNvSpPr>
            <a:spLocks noGrp="1"/>
          </p:cNvSpPr>
          <p:nvPr>
            <p:ph type="dt" sz="half" idx="10"/>
          </p:nvPr>
        </p:nvSpPr>
        <p:spPr/>
        <p:txBody>
          <a:bodyPr/>
          <a:lstStyle/>
          <a:p>
            <a:fld id="{589EA51A-F4B2-4EEF-A983-7B6329173CF4}" type="datetime1">
              <a:rPr lang="ru-RU" smtClean="0"/>
              <a:t>31.03.2026</a:t>
            </a:fld>
            <a:endParaRPr lang="ru-RU"/>
          </a:p>
        </p:txBody>
      </p:sp>
      <p:sp>
        <p:nvSpPr>
          <p:cNvPr id="5" name="Нижний колонтитул 4">
            <a:extLst>
              <a:ext uri="{FF2B5EF4-FFF2-40B4-BE49-F238E27FC236}">
                <a16:creationId xmlns:a16="http://schemas.microsoft.com/office/drawing/2014/main" id="{1B64E37A-F949-4336-9F27-3770FB176DD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6410F28-AD63-4E27-A981-3E2F2D61EB9C}"/>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2651697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AFA685-2DA8-4B50-8BF8-DB2C1375125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41A9131-9986-4541-8A9A-4D3517EB73A5}"/>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46B354D-DB87-4BFE-89AC-B80B0BBE59D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F60BA98-44AD-4535-AD50-B3D9DD1F65E2}"/>
              </a:ext>
            </a:extLst>
          </p:cNvPr>
          <p:cNvSpPr>
            <a:spLocks noGrp="1"/>
          </p:cNvSpPr>
          <p:nvPr>
            <p:ph type="dt" sz="half" idx="10"/>
          </p:nvPr>
        </p:nvSpPr>
        <p:spPr/>
        <p:txBody>
          <a:bodyPr/>
          <a:lstStyle/>
          <a:p>
            <a:fld id="{40D6CEC6-DCF2-4957-99A2-338F0D0C7DB9}" type="datetime1">
              <a:rPr lang="ru-RU" smtClean="0"/>
              <a:t>31.03.2026</a:t>
            </a:fld>
            <a:endParaRPr lang="ru-RU"/>
          </a:p>
        </p:txBody>
      </p:sp>
      <p:sp>
        <p:nvSpPr>
          <p:cNvPr id="6" name="Нижний колонтитул 5">
            <a:extLst>
              <a:ext uri="{FF2B5EF4-FFF2-40B4-BE49-F238E27FC236}">
                <a16:creationId xmlns:a16="http://schemas.microsoft.com/office/drawing/2014/main" id="{D802EB0A-BEB2-420C-98CD-CD822940FF4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65423ED-BB28-49C1-BB7B-BCAC77DD896C}"/>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326139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C07F5E-70AA-466A-A086-7DC1BCF4C95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4FF645F-2C4E-4B26-8DF4-F2CD4F082F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1F2B7D8-BF93-4791-A5F0-96A324521702}"/>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C80ED9E-8A5B-490B-8E5E-D04E37A3F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49FE0C14-5EC9-4F51-A8E8-B9C100457C5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DC9205F-69C6-4E01-BBF9-BB2210D9AD44}"/>
              </a:ext>
            </a:extLst>
          </p:cNvPr>
          <p:cNvSpPr>
            <a:spLocks noGrp="1"/>
          </p:cNvSpPr>
          <p:nvPr>
            <p:ph type="dt" sz="half" idx="10"/>
          </p:nvPr>
        </p:nvSpPr>
        <p:spPr/>
        <p:txBody>
          <a:bodyPr/>
          <a:lstStyle/>
          <a:p>
            <a:fld id="{7796AADA-1886-4D87-B0DD-D7F3FE984392}" type="datetime1">
              <a:rPr lang="ru-RU" smtClean="0"/>
              <a:t>31.03.2026</a:t>
            </a:fld>
            <a:endParaRPr lang="ru-RU"/>
          </a:p>
        </p:txBody>
      </p:sp>
      <p:sp>
        <p:nvSpPr>
          <p:cNvPr id="8" name="Нижний колонтитул 7">
            <a:extLst>
              <a:ext uri="{FF2B5EF4-FFF2-40B4-BE49-F238E27FC236}">
                <a16:creationId xmlns:a16="http://schemas.microsoft.com/office/drawing/2014/main" id="{29C87052-FE35-4593-A440-66AD1A0E503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70B9889E-AA67-4E97-B252-D60A0D1EEB62}"/>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849142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0F710-F4D7-4F15-88B5-B5817AD021B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5E940847-DE57-4BCF-B091-F1A75ABDDB2A}"/>
              </a:ext>
            </a:extLst>
          </p:cNvPr>
          <p:cNvSpPr>
            <a:spLocks noGrp="1"/>
          </p:cNvSpPr>
          <p:nvPr>
            <p:ph type="dt" sz="half" idx="10"/>
          </p:nvPr>
        </p:nvSpPr>
        <p:spPr/>
        <p:txBody>
          <a:bodyPr/>
          <a:lstStyle/>
          <a:p>
            <a:fld id="{0BF9FE6E-4BA1-440F-A046-DF16E394809F}" type="datetime1">
              <a:rPr lang="ru-RU" smtClean="0"/>
              <a:t>31.03.2026</a:t>
            </a:fld>
            <a:endParaRPr lang="ru-RU"/>
          </a:p>
        </p:txBody>
      </p:sp>
      <p:sp>
        <p:nvSpPr>
          <p:cNvPr id="4" name="Нижний колонтитул 3">
            <a:extLst>
              <a:ext uri="{FF2B5EF4-FFF2-40B4-BE49-F238E27FC236}">
                <a16:creationId xmlns:a16="http://schemas.microsoft.com/office/drawing/2014/main" id="{A39BDE33-F1B1-43ED-8D98-04B1743B594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0EDFF8D-68A8-4C0E-AA3E-3D80057E7642}"/>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23354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7470248-DFB3-4CCF-A78B-4BB22A05B26C}"/>
              </a:ext>
            </a:extLst>
          </p:cNvPr>
          <p:cNvSpPr>
            <a:spLocks noGrp="1"/>
          </p:cNvSpPr>
          <p:nvPr>
            <p:ph type="dt" sz="half" idx="10"/>
          </p:nvPr>
        </p:nvSpPr>
        <p:spPr/>
        <p:txBody>
          <a:bodyPr/>
          <a:lstStyle/>
          <a:p>
            <a:fld id="{E844C97D-4141-4FE1-A15E-912A6DAC5A4C}" type="datetime1">
              <a:rPr lang="ru-RU" smtClean="0"/>
              <a:t>31.03.2026</a:t>
            </a:fld>
            <a:endParaRPr lang="ru-RU"/>
          </a:p>
        </p:txBody>
      </p:sp>
      <p:sp>
        <p:nvSpPr>
          <p:cNvPr id="3" name="Нижний колонтитул 2">
            <a:extLst>
              <a:ext uri="{FF2B5EF4-FFF2-40B4-BE49-F238E27FC236}">
                <a16:creationId xmlns:a16="http://schemas.microsoft.com/office/drawing/2014/main" id="{0D05EE47-AC69-4A6C-9DB2-EFF5F41BAAF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96B9724A-BED0-4E0E-95E0-B69576F12A66}"/>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2456904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061E25-364E-42AE-961C-6850D073990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E97F939-FC57-4931-8732-A9BC2D205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54B8A5B-B798-4023-AC7C-B585154FC2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18399A7-6154-4419-B297-E9D72CABB7D9}"/>
              </a:ext>
            </a:extLst>
          </p:cNvPr>
          <p:cNvSpPr>
            <a:spLocks noGrp="1"/>
          </p:cNvSpPr>
          <p:nvPr>
            <p:ph type="dt" sz="half" idx="10"/>
          </p:nvPr>
        </p:nvSpPr>
        <p:spPr/>
        <p:txBody>
          <a:bodyPr/>
          <a:lstStyle/>
          <a:p>
            <a:fld id="{6E7ECAD8-8884-4249-8250-598957BF1BDE}" type="datetime1">
              <a:rPr lang="ru-RU" smtClean="0"/>
              <a:t>31.03.2026</a:t>
            </a:fld>
            <a:endParaRPr lang="ru-RU"/>
          </a:p>
        </p:txBody>
      </p:sp>
      <p:sp>
        <p:nvSpPr>
          <p:cNvPr id="6" name="Нижний колонтитул 5">
            <a:extLst>
              <a:ext uri="{FF2B5EF4-FFF2-40B4-BE49-F238E27FC236}">
                <a16:creationId xmlns:a16="http://schemas.microsoft.com/office/drawing/2014/main" id="{1119BC00-2BC2-4F91-941F-5C5D51F4A29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1B7414D-58D1-42B1-BB50-0332DCFDAFB4}"/>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147590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416B51-26DA-4919-B257-CC36B0128F5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18475B9D-A8C4-46B5-B61A-9F13990AB7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600BE66A-2C2C-49DE-8C9F-373AA2B51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1B48897-0B6A-43E2-9071-87C02A6585A9}"/>
              </a:ext>
            </a:extLst>
          </p:cNvPr>
          <p:cNvSpPr>
            <a:spLocks noGrp="1"/>
          </p:cNvSpPr>
          <p:nvPr>
            <p:ph type="dt" sz="half" idx="10"/>
          </p:nvPr>
        </p:nvSpPr>
        <p:spPr/>
        <p:txBody>
          <a:bodyPr/>
          <a:lstStyle/>
          <a:p>
            <a:fld id="{5417CA92-FD4B-42BB-9539-C886DE833EC1}" type="datetime1">
              <a:rPr lang="ru-RU" smtClean="0"/>
              <a:t>31.03.2026</a:t>
            </a:fld>
            <a:endParaRPr lang="ru-RU"/>
          </a:p>
        </p:txBody>
      </p:sp>
      <p:sp>
        <p:nvSpPr>
          <p:cNvPr id="6" name="Нижний колонтитул 5">
            <a:extLst>
              <a:ext uri="{FF2B5EF4-FFF2-40B4-BE49-F238E27FC236}">
                <a16:creationId xmlns:a16="http://schemas.microsoft.com/office/drawing/2014/main" id="{1198A808-8E69-474B-91CC-A3F587FB401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FD489B2-2D29-458D-B093-FBD8C00BE744}"/>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47030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4CC42D-5977-4365-97BB-E3731A13B14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8751A45-18DE-4508-B996-C7DE8C8E477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8A027DC-62CD-467A-A4E9-E615A7A3C081}"/>
              </a:ext>
            </a:extLst>
          </p:cNvPr>
          <p:cNvSpPr>
            <a:spLocks noGrp="1"/>
          </p:cNvSpPr>
          <p:nvPr>
            <p:ph type="dt" sz="half" idx="10"/>
          </p:nvPr>
        </p:nvSpPr>
        <p:spPr/>
        <p:txBody>
          <a:bodyPr/>
          <a:lstStyle/>
          <a:p>
            <a:fld id="{B358BA30-D9A6-428E-A4C8-54552A86351F}" type="datetime1">
              <a:rPr lang="ru-RU" smtClean="0"/>
              <a:t>31.03.2026</a:t>
            </a:fld>
            <a:endParaRPr lang="ru-RU"/>
          </a:p>
        </p:txBody>
      </p:sp>
      <p:sp>
        <p:nvSpPr>
          <p:cNvPr id="5" name="Нижний колонтитул 4">
            <a:extLst>
              <a:ext uri="{FF2B5EF4-FFF2-40B4-BE49-F238E27FC236}">
                <a16:creationId xmlns:a16="http://schemas.microsoft.com/office/drawing/2014/main" id="{64E13408-9E66-4981-899B-BCA8E18C6FF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217D18B-0CFB-45ED-8993-1855A7212DBC}"/>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116051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7979651-ED00-4622-97A5-4E8272B9E01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D995B53-A8A5-4493-9236-268B2391ADA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1BC87D9-5BDE-4F68-80B1-1FC44A35147A}"/>
              </a:ext>
            </a:extLst>
          </p:cNvPr>
          <p:cNvSpPr>
            <a:spLocks noGrp="1"/>
          </p:cNvSpPr>
          <p:nvPr>
            <p:ph type="dt" sz="half" idx="10"/>
          </p:nvPr>
        </p:nvSpPr>
        <p:spPr/>
        <p:txBody>
          <a:bodyPr/>
          <a:lstStyle/>
          <a:p>
            <a:fld id="{EF123AC5-0029-452E-8876-F32F9297054F}" type="datetime1">
              <a:rPr lang="ru-RU" smtClean="0"/>
              <a:t>31.03.2026</a:t>
            </a:fld>
            <a:endParaRPr lang="ru-RU"/>
          </a:p>
        </p:txBody>
      </p:sp>
      <p:sp>
        <p:nvSpPr>
          <p:cNvPr id="5" name="Нижний колонтитул 4">
            <a:extLst>
              <a:ext uri="{FF2B5EF4-FFF2-40B4-BE49-F238E27FC236}">
                <a16:creationId xmlns:a16="http://schemas.microsoft.com/office/drawing/2014/main" id="{BEB1E9C2-49C2-475D-977A-616953E9E3F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4BAC580-498B-4374-829C-5C3B7A89387D}"/>
              </a:ext>
            </a:extLst>
          </p:cNvPr>
          <p:cNvSpPr>
            <a:spLocks noGrp="1"/>
          </p:cNvSpPr>
          <p:nvPr>
            <p:ph type="sldNum" sz="quarter" idx="12"/>
          </p:nvPr>
        </p:nvSpPr>
        <p:spPr/>
        <p:txBody>
          <a:bodyPr/>
          <a:lstStyle/>
          <a:p>
            <a:fld id="{8346BD07-4451-4F99-9781-57091C949674}" type="slidenum">
              <a:rPr lang="ru-RU" smtClean="0"/>
              <a:t>‹#›</a:t>
            </a:fld>
            <a:endParaRPr lang="ru-RU"/>
          </a:p>
        </p:txBody>
      </p:sp>
    </p:spTree>
    <p:extLst>
      <p:ext uri="{BB962C8B-B14F-4D97-AF65-F5344CB8AC3E}">
        <p14:creationId xmlns:p14="http://schemas.microsoft.com/office/powerpoint/2010/main" val="173690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BECD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E64711-369E-46DD-B5FD-04C594056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4DBCC27-52DD-4E94-A53C-A8695B8E38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E05C58F-4A8C-4A46-B4DF-D585DF15C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15E6B-9DC2-458B-81A7-FDE905116530}" type="datetime1">
              <a:rPr lang="ru-RU" smtClean="0"/>
              <a:t>31.03.2026</a:t>
            </a:fld>
            <a:endParaRPr lang="ru-RU"/>
          </a:p>
        </p:txBody>
      </p:sp>
      <p:sp>
        <p:nvSpPr>
          <p:cNvPr id="5" name="Нижний колонтитул 4">
            <a:extLst>
              <a:ext uri="{FF2B5EF4-FFF2-40B4-BE49-F238E27FC236}">
                <a16:creationId xmlns:a16="http://schemas.microsoft.com/office/drawing/2014/main" id="{1F2A36E2-F525-46DA-9CA9-FE55C6B40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D4797006-BDE1-4C5A-BF05-4F443CBCBA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6BD07-4451-4F99-9781-57091C949674}" type="slidenum">
              <a:rPr lang="ru-RU" smtClean="0"/>
              <a:t>‹#›</a:t>
            </a:fld>
            <a:endParaRPr lang="ru-RU"/>
          </a:p>
        </p:txBody>
      </p:sp>
    </p:spTree>
    <p:extLst>
      <p:ext uri="{BB962C8B-B14F-4D97-AF65-F5344CB8AC3E}">
        <p14:creationId xmlns:p14="http://schemas.microsoft.com/office/powerpoint/2010/main" val="2116227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636A50-87BB-43E9-8C9C-8B9B07D7A3A5}"/>
              </a:ext>
            </a:extLst>
          </p:cNvPr>
          <p:cNvSpPr>
            <a:spLocks noGrp="1"/>
          </p:cNvSpPr>
          <p:nvPr>
            <p:ph type="ctrTitle"/>
          </p:nvPr>
        </p:nvSpPr>
        <p:spPr>
          <a:xfrm>
            <a:off x="1224280" y="190114"/>
            <a:ext cx="9743440" cy="2387600"/>
          </a:xfrm>
        </p:spPr>
        <p:txBody>
          <a:bodyPr>
            <a:normAutofit/>
          </a:bodyPr>
          <a:lstStyle/>
          <a:p>
            <a:r>
              <a:rPr lang="ru-RU" sz="4000" b="1" dirty="0">
                <a:solidFill>
                  <a:schemeClr val="accent6">
                    <a:lumMod val="50000"/>
                  </a:schemeClr>
                </a:solidFill>
                <a:latin typeface="Times New Roman" panose="02020603050405020304" pitchFamily="18" charset="0"/>
                <a:cs typeface="Times New Roman" panose="02020603050405020304" pitchFamily="18" charset="0"/>
              </a:rPr>
              <a:t>Нахождение отрезка</a:t>
            </a:r>
            <a:br>
              <a:rPr lang="en-US" sz="4000" b="1" dirty="0">
                <a:solidFill>
                  <a:schemeClr val="accent6">
                    <a:lumMod val="50000"/>
                  </a:schemeClr>
                </a:solidFill>
                <a:latin typeface="Times New Roman" panose="02020603050405020304" pitchFamily="18" charset="0"/>
                <a:cs typeface="Times New Roman" panose="02020603050405020304" pitchFamily="18" charset="0"/>
              </a:rPr>
            </a:br>
            <a:r>
              <a:rPr lang="ru-RU" sz="4000" b="1" dirty="0">
                <a:solidFill>
                  <a:schemeClr val="accent6">
                    <a:lumMod val="50000"/>
                  </a:schemeClr>
                </a:solidFill>
                <a:latin typeface="Times New Roman" panose="02020603050405020304" pitchFamily="18" charset="0"/>
                <a:cs typeface="Times New Roman" panose="02020603050405020304" pitchFamily="18" charset="0"/>
              </a:rPr>
              <a:t>максимальной длины, </a:t>
            </a:r>
            <a:br>
              <a:rPr lang="ru-RU" sz="4000" b="1" dirty="0">
                <a:solidFill>
                  <a:schemeClr val="accent6">
                    <a:lumMod val="50000"/>
                  </a:schemeClr>
                </a:solidFill>
                <a:latin typeface="Times New Roman" panose="02020603050405020304" pitchFamily="18" charset="0"/>
                <a:cs typeface="Times New Roman" panose="02020603050405020304" pitchFamily="18" charset="0"/>
              </a:rPr>
            </a:br>
            <a:r>
              <a:rPr lang="ru-RU" sz="4000" b="1" dirty="0">
                <a:solidFill>
                  <a:schemeClr val="accent6">
                    <a:lumMod val="50000"/>
                  </a:schemeClr>
                </a:solidFill>
                <a:latin typeface="Times New Roman" panose="02020603050405020304" pitchFamily="18" charset="0"/>
                <a:cs typeface="Times New Roman" panose="02020603050405020304" pitchFamily="18" charset="0"/>
              </a:rPr>
              <a:t>находящегося внутри прямоугольника, </a:t>
            </a:r>
            <a:br>
              <a:rPr lang="ru-RU" sz="4000" b="1" dirty="0">
                <a:solidFill>
                  <a:schemeClr val="accent6">
                    <a:lumMod val="50000"/>
                  </a:schemeClr>
                </a:solidFill>
                <a:latin typeface="Times New Roman" panose="02020603050405020304" pitchFamily="18" charset="0"/>
                <a:cs typeface="Times New Roman" panose="02020603050405020304" pitchFamily="18" charset="0"/>
              </a:rPr>
            </a:br>
            <a:endParaRPr lang="ru-RU" sz="4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28884EA8-FD37-4477-BDE0-2CBDF2943EA5}"/>
              </a:ext>
            </a:extLst>
          </p:cNvPr>
          <p:cNvSpPr>
            <a:spLocks noGrp="1"/>
          </p:cNvSpPr>
          <p:nvPr>
            <p:ph type="subTitle" idx="1"/>
          </p:nvPr>
        </p:nvSpPr>
        <p:spPr>
          <a:xfrm>
            <a:off x="1524000" y="2801938"/>
            <a:ext cx="9144000" cy="1655762"/>
          </a:xfrm>
        </p:spPr>
        <p:txBody>
          <a:bodyPr>
            <a:normAutofit fontScale="77500" lnSpcReduction="20000"/>
          </a:bodyPr>
          <a:lstStyle/>
          <a:p>
            <a:r>
              <a:rPr lang="ru-RU" dirty="0">
                <a:solidFill>
                  <a:schemeClr val="accent6">
                    <a:lumMod val="50000"/>
                  </a:schemeClr>
                </a:solidFill>
              </a:rPr>
              <a:t>Годовой индивидуальный проект </a:t>
            </a:r>
          </a:p>
          <a:p>
            <a:endParaRPr lang="ru-RU" dirty="0">
              <a:solidFill>
                <a:schemeClr val="accent6">
                  <a:lumMod val="50000"/>
                </a:schemeClr>
              </a:solidFill>
            </a:endParaRPr>
          </a:p>
          <a:p>
            <a:r>
              <a:rPr lang="ru-RU" dirty="0">
                <a:solidFill>
                  <a:schemeClr val="accent6">
                    <a:lumMod val="50000"/>
                  </a:schemeClr>
                </a:solidFill>
              </a:rPr>
              <a:t>Автор проекта      Филиппов Артём,  класс    10-7</a:t>
            </a:r>
          </a:p>
          <a:p>
            <a:endParaRPr lang="ru-RU" dirty="0">
              <a:solidFill>
                <a:schemeClr val="accent6">
                  <a:lumMod val="50000"/>
                </a:schemeClr>
              </a:solidFill>
            </a:endParaRPr>
          </a:p>
          <a:p>
            <a:r>
              <a:rPr lang="ru-RU" dirty="0">
                <a:solidFill>
                  <a:schemeClr val="accent6">
                    <a:lumMod val="50000"/>
                  </a:schemeClr>
                </a:solidFill>
              </a:rPr>
              <a:t>Руководитель проекта   </a:t>
            </a:r>
            <a:r>
              <a:rPr lang="ru-RU" dirty="0" err="1">
                <a:solidFill>
                  <a:schemeClr val="accent6">
                    <a:lumMod val="50000"/>
                  </a:schemeClr>
                </a:solidFill>
              </a:rPr>
              <a:t>Петраневская</a:t>
            </a:r>
            <a:r>
              <a:rPr lang="ru-RU" dirty="0">
                <a:solidFill>
                  <a:schemeClr val="accent6">
                    <a:lumMod val="50000"/>
                  </a:schemeClr>
                </a:solidFill>
              </a:rPr>
              <a:t> Мария Владимировна</a:t>
            </a:r>
          </a:p>
        </p:txBody>
      </p:sp>
      <p:pic>
        <p:nvPicPr>
          <p:cNvPr id="4" name="Рисунок 3"/>
          <p:cNvPicPr>
            <a:picLocks noChangeAspect="1"/>
          </p:cNvPicPr>
          <p:nvPr/>
        </p:nvPicPr>
        <p:blipFill rotWithShape="1">
          <a:blip r:embed="rId2" cstate="print">
            <a:extLst>
              <a:ext uri="{28A0092B-C50C-407E-A947-70E740481C1C}">
                <a14:useLocalDpi xmlns:a14="http://schemas.microsoft.com/office/drawing/2010/main" val="0"/>
              </a:ext>
            </a:extLst>
          </a:blip>
          <a:srcRect l="36118" r="29976" b="35456"/>
          <a:stretch/>
        </p:blipFill>
        <p:spPr>
          <a:xfrm>
            <a:off x="131805" y="4263757"/>
            <a:ext cx="2573665" cy="2318275"/>
          </a:xfrm>
          <a:prstGeom prst="rect">
            <a:avLst/>
          </a:prstGeom>
          <a:noFill/>
          <a:ln>
            <a:noFill/>
          </a:ln>
        </p:spPr>
      </p:pic>
    </p:spTree>
    <p:extLst>
      <p:ext uri="{BB962C8B-B14F-4D97-AF65-F5344CB8AC3E}">
        <p14:creationId xmlns:p14="http://schemas.microsoft.com/office/powerpoint/2010/main" val="1656481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03DC78-A7C1-488B-95C2-0C0FFEF88D1B}"/>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Постановка задачи</a:t>
            </a:r>
          </a:p>
        </p:txBody>
      </p:sp>
      <p:sp>
        <p:nvSpPr>
          <p:cNvPr id="3" name="Объект 2">
            <a:extLst>
              <a:ext uri="{FF2B5EF4-FFF2-40B4-BE49-F238E27FC236}">
                <a16:creationId xmlns:a16="http://schemas.microsoft.com/office/drawing/2014/main" id="{EB370A29-0C9D-46BE-A6FF-18D7B8412E68}"/>
              </a:ext>
            </a:extLst>
          </p:cNvPr>
          <p:cNvSpPr>
            <a:spLocks noGrp="1"/>
          </p:cNvSpPr>
          <p:nvPr>
            <p:ph idx="1"/>
          </p:nvPr>
        </p:nvSpPr>
        <p:spPr>
          <a:xfrm>
            <a:off x="549275" y="1290320"/>
            <a:ext cx="11008360" cy="4351338"/>
          </a:xfrm>
        </p:spPr>
        <p:txBody>
          <a:bodyPr>
            <a:norm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На плоскости задано множество точек и множество прямоугольников. </a:t>
            </a:r>
          </a:p>
          <a:p>
            <a:r>
              <a:rPr lang="ru-RU" dirty="0">
                <a:solidFill>
                  <a:schemeClr val="accent6">
                    <a:lumMod val="50000"/>
                  </a:schemeClr>
                </a:solidFill>
                <a:latin typeface="Times New Roman" panose="02020603050405020304" pitchFamily="18" charset="0"/>
                <a:cs typeface="Times New Roman" panose="02020603050405020304" pitchFamily="18" charset="0"/>
              </a:rPr>
              <a:t>Прямоугольник задается двумя вершинами одной из сторон и точкой, лежащей на прямой, проходящей через две другие вершины.</a:t>
            </a:r>
          </a:p>
          <a:p>
            <a:r>
              <a:rPr lang="ru-RU" dirty="0">
                <a:solidFill>
                  <a:schemeClr val="accent6">
                    <a:lumMod val="50000"/>
                  </a:schemeClr>
                </a:solidFill>
                <a:latin typeface="Times New Roman" panose="02020603050405020304" pitchFamily="18" charset="0"/>
                <a:cs typeface="Times New Roman" panose="02020603050405020304" pitchFamily="18" charset="0"/>
              </a:rPr>
              <a:t>Требуется построить отрезки, которые начинаются в начале координат и заканчиваются в заданных точках. </a:t>
            </a:r>
          </a:p>
          <a:p>
            <a:r>
              <a:rPr lang="ru-RU" dirty="0">
                <a:solidFill>
                  <a:schemeClr val="accent6">
                    <a:lumMod val="50000"/>
                  </a:schemeClr>
                </a:solidFill>
                <a:latin typeface="Times New Roman" panose="02020603050405020304" pitchFamily="18" charset="0"/>
                <a:cs typeface="Times New Roman" panose="02020603050405020304" pitchFamily="18" charset="0"/>
              </a:rPr>
              <a:t>Необходимо найти такой прямоугольник и такой отрезок, чтобы этот прямоугольник содержал в себе часть отрезка наибольшей длины (из всех возможных пар «отрезок-прямоугольник»).</a:t>
            </a:r>
          </a:p>
        </p:txBody>
      </p:sp>
      <p:sp>
        <p:nvSpPr>
          <p:cNvPr id="6" name="Номер слайда 5"/>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200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494B72CE-EBE0-48B5-BAF7-D8638EE60CAC}"/>
              </a:ext>
            </a:extLst>
          </p:cNvPr>
          <p:cNvPicPr>
            <a:picLocks noChangeAspect="1"/>
          </p:cNvPicPr>
          <p:nvPr/>
        </p:nvPicPr>
        <p:blipFill>
          <a:blip r:embed="rId2"/>
          <a:stretch>
            <a:fillRect/>
          </a:stretch>
        </p:blipFill>
        <p:spPr>
          <a:xfrm>
            <a:off x="2289516" y="847830"/>
            <a:ext cx="7540919" cy="5137045"/>
          </a:xfrm>
          <a:prstGeom prst="rect">
            <a:avLst/>
          </a:prstGeom>
        </p:spPr>
      </p:pic>
      <p:sp>
        <p:nvSpPr>
          <p:cNvPr id="7" name="Номер слайда 6">
            <a:extLst>
              <a:ext uri="{FF2B5EF4-FFF2-40B4-BE49-F238E27FC236}">
                <a16:creationId xmlns:a16="http://schemas.microsoft.com/office/drawing/2014/main" id="{A3205F57-223D-4E0F-83BC-43ECAD2DC626}"/>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3</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A4BE138E-13B7-4429-8402-B62CAF2D96CF}"/>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Постановка задачи</a:t>
            </a:r>
          </a:p>
        </p:txBody>
      </p:sp>
    </p:spTree>
    <p:extLst>
      <p:ext uri="{BB962C8B-B14F-4D97-AF65-F5344CB8AC3E}">
        <p14:creationId xmlns:p14="http://schemas.microsoft.com/office/powerpoint/2010/main" val="2552873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1EC3FB53-7AE1-4BA6-8D62-6543C5C895A9}"/>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4</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5A4420F8-7B16-4C71-A9E1-D3224140C935}"/>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Входные данные</a:t>
            </a:r>
          </a:p>
        </p:txBody>
      </p:sp>
      <p:pic>
        <p:nvPicPr>
          <p:cNvPr id="3" name="Рисунок 2">
            <a:extLst>
              <a:ext uri="{FF2B5EF4-FFF2-40B4-BE49-F238E27FC236}">
                <a16:creationId xmlns:a16="http://schemas.microsoft.com/office/drawing/2014/main" id="{A990D84F-D6E3-4324-8BFD-53B830FAE9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6407" y="936000"/>
            <a:ext cx="3464030" cy="2870815"/>
          </a:xfrm>
          <a:prstGeom prst="rect">
            <a:avLst/>
          </a:prstGeom>
        </p:spPr>
      </p:pic>
      <p:pic>
        <p:nvPicPr>
          <p:cNvPr id="18" name="Рисунок 17">
            <a:extLst>
              <a:ext uri="{FF2B5EF4-FFF2-40B4-BE49-F238E27FC236}">
                <a16:creationId xmlns:a16="http://schemas.microsoft.com/office/drawing/2014/main" id="{D10BA397-C740-43C1-A879-149400188B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1051" y="936000"/>
            <a:ext cx="3245269" cy="2870815"/>
          </a:xfrm>
          <a:prstGeom prst="rect">
            <a:avLst/>
          </a:prstGeom>
        </p:spPr>
      </p:pic>
      <p:sp>
        <p:nvSpPr>
          <p:cNvPr id="2" name="TextBox 1">
            <a:extLst>
              <a:ext uri="{FF2B5EF4-FFF2-40B4-BE49-F238E27FC236}">
                <a16:creationId xmlns:a16="http://schemas.microsoft.com/office/drawing/2014/main" id="{1D1C7D41-EC64-4A23-8FE9-68090F862703}"/>
              </a:ext>
            </a:extLst>
          </p:cNvPr>
          <p:cNvSpPr txBox="1"/>
          <p:nvPr/>
        </p:nvSpPr>
        <p:spPr>
          <a:xfrm>
            <a:off x="230841" y="3960000"/>
            <a:ext cx="5655609" cy="2031325"/>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rPr>
              <a:t>Точки для прямоугольников</a:t>
            </a:r>
          </a:p>
          <a:p>
            <a:endParaRPr lang="ru-RU" dirty="0">
              <a:solidFill>
                <a:schemeClr val="accent6">
                  <a:lumMod val="50000"/>
                </a:schemeClr>
              </a:solidFill>
              <a:latin typeface="Times New Roman" panose="02020603050405020304" pitchFamily="18" charset="0"/>
            </a:endParaRPr>
          </a:p>
          <a:p>
            <a:r>
              <a:rPr lang="ru-RU" dirty="0">
                <a:solidFill>
                  <a:schemeClr val="accent6">
                    <a:lumMod val="50000"/>
                  </a:schemeClr>
                </a:solidFill>
                <a:latin typeface="Times New Roman" panose="02020603050405020304" pitchFamily="18" charset="0"/>
              </a:rPr>
              <a:t>Пользователь разными способами ввода задаёт координаты  трех точек типа </a:t>
            </a:r>
            <a:r>
              <a:rPr lang="en-US" dirty="0">
                <a:solidFill>
                  <a:schemeClr val="accent6">
                    <a:lumMod val="50000"/>
                  </a:schemeClr>
                </a:solidFill>
                <a:latin typeface="Times New Roman" panose="02020603050405020304" pitchFamily="18" charset="0"/>
              </a:rPr>
              <a:t>double </a:t>
            </a:r>
            <a:r>
              <a:rPr lang="ru-RU" dirty="0">
                <a:solidFill>
                  <a:schemeClr val="accent6">
                    <a:lumMod val="50000"/>
                  </a:schemeClr>
                </a:solidFill>
                <a:latin typeface="Times New Roman" panose="02020603050405020304" pitchFamily="18" charset="0"/>
              </a:rPr>
              <a:t>для каждого прямоугольника. </a:t>
            </a:r>
          </a:p>
          <a:p>
            <a:r>
              <a:rPr lang="ru-RU" dirty="0">
                <a:solidFill>
                  <a:schemeClr val="accent6">
                    <a:lumMod val="50000"/>
                  </a:schemeClr>
                </a:solidFill>
                <a:latin typeface="Times New Roman" panose="02020603050405020304" pitchFamily="18" charset="0"/>
              </a:rPr>
              <a:t>Алгоритм определяет существует ли такой </a:t>
            </a:r>
          </a:p>
          <a:p>
            <a:r>
              <a:rPr lang="ru-RU" dirty="0">
                <a:solidFill>
                  <a:schemeClr val="accent6">
                    <a:lumMod val="50000"/>
                  </a:schemeClr>
                </a:solidFill>
                <a:latin typeface="Times New Roman" panose="02020603050405020304" pitchFamily="18" charset="0"/>
              </a:rPr>
              <a:t>прямоугольник и рисует его, если да.</a:t>
            </a:r>
          </a:p>
        </p:txBody>
      </p:sp>
      <p:sp>
        <p:nvSpPr>
          <p:cNvPr id="19" name="TextBox 18">
            <a:extLst>
              <a:ext uri="{FF2B5EF4-FFF2-40B4-BE49-F238E27FC236}">
                <a16:creationId xmlns:a16="http://schemas.microsoft.com/office/drawing/2014/main" id="{604A30DC-AF95-4E4A-8D1B-BD26059E27D1}"/>
              </a:ext>
            </a:extLst>
          </p:cNvPr>
          <p:cNvSpPr txBox="1"/>
          <p:nvPr/>
        </p:nvSpPr>
        <p:spPr>
          <a:xfrm>
            <a:off x="6361014" y="3960000"/>
            <a:ext cx="5248836" cy="1754326"/>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cs typeface="Times New Roman" panose="02020603050405020304" pitchFamily="18" charset="0"/>
              </a:rPr>
              <a:t>Точки для отрезков</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r>
              <a:rPr lang="ru-RU" dirty="0">
                <a:solidFill>
                  <a:schemeClr val="accent6">
                    <a:lumMod val="50000"/>
                  </a:schemeClr>
                </a:solidFill>
                <a:latin typeface="Times New Roman" panose="02020603050405020304" pitchFamily="18" charset="0"/>
                <a:cs typeface="Times New Roman" panose="02020603050405020304" pitchFamily="18" charset="0"/>
              </a:rPr>
              <a:t>Пользователь разными способами ввода задаёт </a:t>
            </a:r>
          </a:p>
          <a:p>
            <a:r>
              <a:rPr lang="ru-RU" dirty="0">
                <a:solidFill>
                  <a:schemeClr val="accent6">
                    <a:lumMod val="50000"/>
                  </a:schemeClr>
                </a:solidFill>
                <a:latin typeface="Times New Roman" panose="02020603050405020304" pitchFamily="18" charset="0"/>
                <a:cs typeface="Times New Roman" panose="02020603050405020304" pitchFamily="18" charset="0"/>
              </a:rPr>
              <a:t>координаты точек типа </a:t>
            </a:r>
            <a:r>
              <a:rPr lang="en-US" dirty="0">
                <a:solidFill>
                  <a:schemeClr val="accent6">
                    <a:lumMod val="50000"/>
                  </a:schemeClr>
                </a:solidFill>
                <a:latin typeface="Times New Roman" panose="02020603050405020304" pitchFamily="18" charset="0"/>
                <a:cs typeface="Times New Roman" panose="02020603050405020304" pitchFamily="18" charset="0"/>
              </a:rPr>
              <a:t>double </a:t>
            </a:r>
            <a:r>
              <a:rPr lang="ru-RU" dirty="0">
                <a:solidFill>
                  <a:schemeClr val="accent6">
                    <a:lumMod val="50000"/>
                  </a:schemeClr>
                </a:solidFill>
                <a:latin typeface="Times New Roman" panose="02020603050405020304" pitchFamily="18" charset="0"/>
                <a:cs typeface="Times New Roman" panose="02020603050405020304" pitchFamily="18" charset="0"/>
              </a:rPr>
              <a:t>для отрезков.  Программа рисует отрезок от начала координат </a:t>
            </a:r>
          </a:p>
          <a:p>
            <a:r>
              <a:rPr lang="ru-RU" dirty="0">
                <a:solidFill>
                  <a:schemeClr val="accent6">
                    <a:lumMod val="50000"/>
                  </a:schemeClr>
                </a:solidFill>
                <a:latin typeface="Times New Roman" panose="02020603050405020304" pitchFamily="18" charset="0"/>
                <a:cs typeface="Times New Roman" panose="02020603050405020304" pitchFamily="18" charset="0"/>
              </a:rPr>
              <a:t>до этой точки</a:t>
            </a:r>
          </a:p>
        </p:txBody>
      </p:sp>
    </p:spTree>
    <p:extLst>
      <p:ext uri="{BB962C8B-B14F-4D97-AF65-F5344CB8AC3E}">
        <p14:creationId xmlns:p14="http://schemas.microsoft.com/office/powerpoint/2010/main" val="60304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1">
            <a:extLst>
              <a:ext uri="{FF2B5EF4-FFF2-40B4-BE49-F238E27FC236}">
                <a16:creationId xmlns:a16="http://schemas.microsoft.com/office/drawing/2014/main" id="{C06EB980-19D1-432B-9F6B-B30EB3A803CE}"/>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Выходные данные</a:t>
            </a:r>
          </a:p>
        </p:txBody>
      </p:sp>
      <p:pic>
        <p:nvPicPr>
          <p:cNvPr id="17" name="Рисунок 16">
            <a:extLst>
              <a:ext uri="{FF2B5EF4-FFF2-40B4-BE49-F238E27FC236}">
                <a16:creationId xmlns:a16="http://schemas.microsoft.com/office/drawing/2014/main" id="{62F924A4-FCF3-4EBD-B802-FC532F060F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224" y="1052793"/>
            <a:ext cx="5055076" cy="4984376"/>
          </a:xfrm>
          <a:prstGeom prst="rect">
            <a:avLst/>
          </a:prstGeom>
        </p:spPr>
      </p:pic>
      <p:sp>
        <p:nvSpPr>
          <p:cNvPr id="2" name="TextBox 1">
            <a:extLst>
              <a:ext uri="{FF2B5EF4-FFF2-40B4-BE49-F238E27FC236}">
                <a16:creationId xmlns:a16="http://schemas.microsoft.com/office/drawing/2014/main" id="{83C65A90-F214-471A-91C8-088C6219A7C2}"/>
              </a:ext>
            </a:extLst>
          </p:cNvPr>
          <p:cNvSpPr txBox="1"/>
          <p:nvPr/>
        </p:nvSpPr>
        <p:spPr>
          <a:xfrm>
            <a:off x="133350" y="2138643"/>
            <a:ext cx="6153150" cy="1754326"/>
          </a:xfrm>
          <a:prstGeom prst="rect">
            <a:avLst/>
          </a:prstGeom>
          <a:noFill/>
        </p:spPr>
        <p:txBody>
          <a:bodyPr wrap="squar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К выходным данным относятся:</a:t>
            </a:r>
          </a:p>
          <a:p>
            <a:pPr marL="285750" indent="-285750">
              <a:buFont typeface="Arial" panose="020B0604020202020204" pitchFamily="34" charset="0"/>
              <a:buChar char="•"/>
            </a:pPr>
            <a:r>
              <a:rPr lang="ru-RU" dirty="0">
                <a:solidFill>
                  <a:schemeClr val="accent6">
                    <a:lumMod val="50000"/>
                  </a:schemeClr>
                </a:solidFill>
                <a:latin typeface="Times New Roman" panose="02020603050405020304" pitchFamily="18" charset="0"/>
                <a:cs typeface="Times New Roman" panose="02020603050405020304" pitchFamily="18" charset="0"/>
              </a:rPr>
              <a:t>координаты 2 точек – концов отрезка максимальной длины из всех пар отрезок – прямоугольник</a:t>
            </a:r>
          </a:p>
          <a:p>
            <a:pPr marL="285750" indent="-285750">
              <a:buFont typeface="Arial" panose="020B0604020202020204" pitchFamily="34" charset="0"/>
              <a:buChar char="•"/>
            </a:pPr>
            <a:r>
              <a:rPr lang="ru-RU" dirty="0">
                <a:solidFill>
                  <a:schemeClr val="accent6">
                    <a:lumMod val="50000"/>
                  </a:schemeClr>
                </a:solidFill>
                <a:latin typeface="Times New Roman" panose="02020603050405020304" pitchFamily="18" charset="0"/>
                <a:cs typeface="Times New Roman" panose="02020603050405020304" pitchFamily="18" charset="0"/>
              </a:rPr>
              <a:t>координаты точки, по которой построен отрезок максимальной длины</a:t>
            </a:r>
          </a:p>
          <a:p>
            <a:pPr marL="285750" indent="-285750">
              <a:buFont typeface="Arial" panose="020B0604020202020204" pitchFamily="34" charset="0"/>
              <a:buChar char="•"/>
            </a:pPr>
            <a:r>
              <a:rPr lang="ru-RU" dirty="0">
                <a:solidFill>
                  <a:schemeClr val="accent6">
                    <a:lumMod val="50000"/>
                  </a:schemeClr>
                </a:solidFill>
                <a:latin typeface="Times New Roman" panose="02020603050405020304" pitchFamily="18" charset="0"/>
                <a:cs typeface="Times New Roman" panose="02020603050405020304" pitchFamily="18" charset="0"/>
              </a:rPr>
              <a:t>длина найденного максимального отрезка</a:t>
            </a:r>
          </a:p>
        </p:txBody>
      </p:sp>
      <p:sp>
        <p:nvSpPr>
          <p:cNvPr id="4" name="Номер слайда 3"/>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5</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40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53177297-0D86-4801-B0DC-7E10F0AEE09C}"/>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6</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EED2A59B-8A45-478C-8F3E-9F846603C074}"/>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a:t>
            </a:r>
          </a:p>
        </p:txBody>
      </p:sp>
      <p:sp>
        <p:nvSpPr>
          <p:cNvPr id="7" name="Заголовок 1">
            <a:extLst>
              <a:ext uri="{FF2B5EF4-FFF2-40B4-BE49-F238E27FC236}">
                <a16:creationId xmlns:a16="http://schemas.microsoft.com/office/drawing/2014/main" id="{52D99CD6-2512-425B-AA65-90AA756CFC91}"/>
              </a:ext>
            </a:extLst>
          </p:cNvPr>
          <p:cNvSpPr txBox="1">
            <a:spLocks/>
          </p:cNvSpPr>
          <p:nvPr/>
        </p:nvSpPr>
        <p:spPr>
          <a:xfrm>
            <a:off x="838200" y="829945"/>
            <a:ext cx="10515600" cy="9251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18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 на основе вычислительной геометрии – использование векторов и точек</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76ED211-E5D6-417F-BB0E-028894422EB7}"/>
                  </a:ext>
                </a:extLst>
              </p:cNvPr>
              <p:cNvSpPr txBox="1"/>
              <p:nvPr/>
            </p:nvSpPr>
            <p:spPr>
              <a:xfrm>
                <a:off x="276225" y="1529886"/>
                <a:ext cx="10515600" cy="2259401"/>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cs typeface="Times New Roman" panose="02020603050405020304" pitchFamily="18" charset="0"/>
                  </a:rPr>
                  <a:t>Основные понятия :</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buFontTx/>
                  <a:buAutoNum type="arabicPeriod"/>
                </a:pPr>
                <a:r>
                  <a:rPr lang="ru-RU" dirty="0">
                    <a:solidFill>
                      <a:schemeClr val="accent6">
                        <a:lumMod val="50000"/>
                      </a:schemeClr>
                    </a:solidFill>
                    <a:latin typeface="Times New Roman" panose="02020603050405020304" pitchFamily="18" charset="0"/>
                    <a:cs typeface="Times New Roman" panose="02020603050405020304" pitchFamily="18" charset="0"/>
                  </a:rPr>
                  <a:t>Точка задается двумя координатами  </a:t>
                </a:r>
                <a:r>
                  <a:rPr lang="en-US" dirty="0">
                    <a:solidFill>
                      <a:schemeClr val="accent6">
                        <a:lumMod val="50000"/>
                      </a:schemeClr>
                    </a:solidFill>
                    <a:latin typeface="Times New Roman" panose="02020603050405020304" pitchFamily="18" charset="0"/>
                    <a:cs typeface="Times New Roman" panose="02020603050405020304" pitchFamily="18" charset="0"/>
                  </a:rPr>
                  <a:t>x</a:t>
                </a:r>
                <a:r>
                  <a:rPr lang="ru-RU" dirty="0">
                    <a:solidFill>
                      <a:schemeClr val="accent6">
                        <a:lumMod val="50000"/>
                      </a:schemeClr>
                    </a:solidFill>
                    <a:latin typeface="Times New Roman" panose="02020603050405020304" pitchFamily="18" charset="0"/>
                    <a:cs typeface="Times New Roman" panose="02020603050405020304" pitchFamily="18" charset="0"/>
                  </a:rPr>
                  <a:t>, </a:t>
                </a:r>
                <a:r>
                  <a:rPr lang="en-US" dirty="0">
                    <a:solidFill>
                      <a:schemeClr val="accent6">
                        <a:lumMod val="50000"/>
                      </a:schemeClr>
                    </a:solidFill>
                    <a:latin typeface="Times New Roman" panose="02020603050405020304" pitchFamily="18" charset="0"/>
                    <a:cs typeface="Times New Roman" panose="02020603050405020304" pitchFamily="18" charset="0"/>
                  </a:rPr>
                  <a:t>y</a:t>
                </a:r>
                <a:r>
                  <a:rPr lang="ru-RU" dirty="0">
                    <a:solidFill>
                      <a:schemeClr val="accent6">
                        <a:lumMod val="50000"/>
                      </a:schemeClr>
                    </a:solidFill>
                    <a:latin typeface="Times New Roman" panose="02020603050405020304" pitchFamily="18" charset="0"/>
                    <a:cs typeface="Times New Roman" panose="02020603050405020304" pitchFamily="18" charset="0"/>
                  </a:rPr>
                  <a:t> - </a:t>
                </a:r>
                <a14:m>
                  <m:oMath xmlns:m="http://schemas.openxmlformats.org/officeDocument/2006/math">
                    <m:acc>
                      <m:accPr>
                        <m:chr m:val="⃗"/>
                        <m:ctrlPr>
                          <a:rPr lang="ru-RU" sz="1800"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800" b="0" i="1" smtClean="0">
                            <a:solidFill>
                              <a:schemeClr val="accent6">
                                <a:lumMod val="50000"/>
                              </a:schemeClr>
                            </a:solidFill>
                            <a:effectLst/>
                            <a:latin typeface="Cambria Math" panose="02040503050406030204" pitchFamily="18" charset="0"/>
                            <a:ea typeface="Times New Roman" panose="02020603050405020304" pitchFamily="18" charset="0"/>
                          </a:rPr>
                          <m:t>𝑃</m:t>
                        </m:r>
                      </m:e>
                    </m:acc>
                    <m:r>
                      <a:rPr lang="ru-RU" sz="1800" i="0">
                        <a:solidFill>
                          <a:schemeClr val="accent6">
                            <a:lumMod val="50000"/>
                          </a:schemeClr>
                        </a:solidFill>
                        <a:effectLst/>
                        <a:latin typeface="Cambria Math" panose="02040503050406030204" pitchFamily="18" charset="0"/>
                        <a:ea typeface="Times New Roman" panose="02020603050405020304" pitchFamily="18" charset="0"/>
                      </a:rPr>
                      <m:t>=</m:t>
                    </m:r>
                    <m:d>
                      <m:d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r>
                          <a:rPr lang="en-US" sz="1800" b="0" i="1" smtClean="0">
                            <a:solidFill>
                              <a:schemeClr val="accent6">
                                <a:lumMod val="50000"/>
                              </a:schemeClr>
                            </a:solidFill>
                            <a:effectLst/>
                            <a:latin typeface="Cambria Math"/>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𝑥</m:t>
                        </m:r>
                        <m:r>
                          <a:rPr lang="ru-RU" sz="1800" i="0">
                            <a:solidFill>
                              <a:schemeClr val="accent6">
                                <a:lumMod val="50000"/>
                              </a:schemeClr>
                            </a:solidFill>
                            <a:effectLst/>
                            <a:latin typeface="Cambria Math" panose="02040503050406030204" pitchFamily="18" charset="0"/>
                            <a:ea typeface="Times New Roman" panose="02020603050405020304" pitchFamily="18" charset="0"/>
                          </a:rPr>
                          <m:t>, </m:t>
                        </m:r>
                        <m:r>
                          <a:rPr lang="en-US" sz="1800" b="0" i="1" smtClean="0">
                            <a:solidFill>
                              <a:schemeClr val="accent6">
                                <a:lumMod val="50000"/>
                              </a:schemeClr>
                            </a:solidFill>
                            <a:effectLst/>
                            <a:latin typeface="Cambria Math"/>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𝑦</m:t>
                        </m:r>
                      </m:e>
                    </m:d>
                  </m:oMath>
                </a14:m>
                <a:endPar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AutoNum type="arabicPeriod" startAt="2"/>
                </a:pPr>
                <a:r>
                  <a:rPr lang="ru-RU" dirty="0">
                    <a:solidFill>
                      <a:schemeClr val="accent6">
                        <a:lumMod val="50000"/>
                      </a:schemeClr>
                    </a:solidFill>
                    <a:latin typeface="Times New Roman" panose="02020603050405020304" pitchFamily="18" charset="0"/>
                    <a:cs typeface="Times New Roman" panose="02020603050405020304" pitchFamily="18" charset="0"/>
                  </a:rPr>
                  <a:t>Вектор </a:t>
                </a: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задается двумя координатами – </a:t>
                </a:r>
                <a:r>
                  <a:rPr lang="en-US" sz="18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y</a:t>
                </a: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т.е. эквивалентен точке </a:t>
                </a:r>
                <a14:m>
                  <m:oMath xmlns:m="http://schemas.openxmlformats.org/officeDocument/2006/math">
                    <m:r>
                      <a:rPr lang="ru-RU" sz="1800" b="0" i="0" smtClean="0">
                        <a:solidFill>
                          <a:schemeClr val="accent6">
                            <a:lumMod val="50000"/>
                          </a:schemeClr>
                        </a:solidFill>
                        <a:effectLst/>
                        <a:latin typeface="Cambria Math" panose="02040503050406030204" pitchFamily="18" charset="0"/>
                        <a:ea typeface="Times New Roman" panose="02020603050405020304" pitchFamily="18" charset="0"/>
                      </a:rPr>
                      <m:t>       </m:t>
                    </m:r>
                    <m:acc>
                      <m:accPr>
                        <m:chr m:val="⃗"/>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m:t>
                        </m:r>
                      </m:e>
                    </m:acc>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d>
                      <m:d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𝑉𝑥</m:t>
                        </m:r>
                        <m:r>
                          <a:rPr lang="ru-RU" sz="1800" i="1">
                            <a:solidFill>
                              <a:schemeClr val="accent6">
                                <a:lumMod val="50000"/>
                              </a:schemeClr>
                            </a:solidFill>
                            <a:effectLst/>
                            <a:latin typeface="Cambria Math" panose="02040503050406030204" pitchFamily="18" charset="0"/>
                            <a:ea typeface="Times New Roman" panose="02020603050405020304" pitchFamily="18" charset="0"/>
                          </a:rPr>
                          <m:t>, </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𝑉𝑦</m:t>
                        </m:r>
                      </m:e>
                    </m:d>
                  </m:oMath>
                </a14:m>
                <a:endParaRPr lang="ru-RU" sz="18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Tx/>
                  <a:buAutoNum type="arabicPeriod" startAt="2"/>
                </a:pP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Расстояние между двумя точками </a:t>
                </a:r>
                <a:r>
                  <a:rPr lang="en-US"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 и </a:t>
                </a:r>
                <a:r>
                  <a:rPr lang="en-US"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2 - </a:t>
                </a:r>
                <a14:m>
                  <m:oMath xmlns:m="http://schemas.openxmlformats.org/officeDocument/2006/math">
                    <m:r>
                      <a:rPr lang="en-US" sz="1800" i="1" smtClean="0">
                        <a:solidFill>
                          <a:schemeClr val="accent6">
                            <a:lumMod val="50000"/>
                          </a:schemeClr>
                        </a:solidFill>
                        <a:effectLst/>
                        <a:latin typeface="Cambria Math" panose="02040503050406030204" pitchFamily="18" charset="0"/>
                        <a:ea typeface="Times New Roman" panose="02020603050405020304" pitchFamily="18" charset="0"/>
                      </a:rPr>
                      <m:t>𝐷</m:t>
                    </m:r>
                    <m:r>
                      <a:rPr lang="en-US" sz="1800" i="0" smtClean="0">
                        <a:solidFill>
                          <a:schemeClr val="accent6">
                            <a:lumMod val="50000"/>
                          </a:schemeClr>
                        </a:solidFill>
                        <a:effectLst/>
                        <a:latin typeface="Cambria Math" panose="02040503050406030204" pitchFamily="18" charset="0"/>
                        <a:ea typeface="Times New Roman" panose="02020603050405020304" pitchFamily="18" charset="0"/>
                      </a:rPr>
                      <m:t>=</m:t>
                    </m:r>
                    <m:rad>
                      <m:radPr>
                        <m:degHide m:val="on"/>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radPr>
                      <m:deg/>
                      <m:e>
                        <m:sSup>
                          <m:sSup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sSupPr>
                          <m:e>
                            <m:d>
                              <m:d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r>
                                  <a:rPr lang="en-US" sz="1800" i="1">
                                    <a:solidFill>
                                      <a:schemeClr val="accent6">
                                        <a:lumMod val="50000"/>
                                      </a:schemeClr>
                                    </a:solidFill>
                                    <a:effectLst/>
                                    <a:latin typeface="Cambria Math" panose="02040503050406030204" pitchFamily="18" charset="0"/>
                                    <a:ea typeface="Times New Roman" panose="02020603050405020304" pitchFamily="18" charset="0"/>
                                  </a:rPr>
                                  <m:t>𝑃</m:t>
                                </m:r>
                                <m:r>
                                  <a:rPr lang="en-US" sz="1800" i="1">
                                    <a:solidFill>
                                      <a:schemeClr val="accent6">
                                        <a:lumMod val="50000"/>
                                      </a:schemeClr>
                                    </a:solidFill>
                                    <a:effectLst/>
                                    <a:latin typeface="Cambria Math" panose="02040503050406030204" pitchFamily="18" charset="0"/>
                                    <a:ea typeface="Times New Roman" panose="02020603050405020304" pitchFamily="18" charset="0"/>
                                  </a:rPr>
                                  <m:t>2</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𝑥</m:t>
                                </m:r>
                                <m:r>
                                  <a:rPr lang="en-US" sz="1800" i="1">
                                    <a:solidFill>
                                      <a:schemeClr val="accent6">
                                        <a:lumMod val="50000"/>
                                      </a:schemeClr>
                                    </a:solidFill>
                                    <a:effectLst/>
                                    <a:latin typeface="Cambria Math" panose="02040503050406030204" pitchFamily="18" charset="0"/>
                                    <a:ea typeface="Times New Roman" panose="02020603050405020304" pitchFamily="18" charset="0"/>
                                  </a:rPr>
                                  <m:t>−</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𝑃</m:t>
                                </m:r>
                                <m:r>
                                  <a:rPr lang="en-US" sz="1800" i="1">
                                    <a:solidFill>
                                      <a:schemeClr val="accent6">
                                        <a:lumMod val="50000"/>
                                      </a:schemeClr>
                                    </a:solidFill>
                                    <a:effectLst/>
                                    <a:latin typeface="Cambria Math" panose="02040503050406030204" pitchFamily="18" charset="0"/>
                                    <a:ea typeface="Times New Roman" panose="02020603050405020304" pitchFamily="18" charset="0"/>
                                  </a:rPr>
                                  <m:t>1</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𝑥</m:t>
                                </m:r>
                              </m:e>
                            </m:d>
                          </m:e>
                          <m:sup>
                            <m:r>
                              <a:rPr lang="en-US" sz="1800" i="0">
                                <a:solidFill>
                                  <a:schemeClr val="accent6">
                                    <a:lumMod val="50000"/>
                                  </a:schemeClr>
                                </a:solidFill>
                                <a:effectLst/>
                                <a:latin typeface="Cambria Math" panose="02040503050406030204" pitchFamily="18" charset="0"/>
                                <a:ea typeface="Times New Roman" panose="02020603050405020304" pitchFamily="18" charset="0"/>
                              </a:rPr>
                              <m:t>2</m:t>
                            </m:r>
                          </m:sup>
                        </m:sSup>
                        <m:r>
                          <a:rPr lang="en-US" sz="1800" i="0">
                            <a:solidFill>
                              <a:schemeClr val="accent6">
                                <a:lumMod val="50000"/>
                              </a:schemeClr>
                            </a:solidFill>
                            <a:effectLst/>
                            <a:latin typeface="Cambria Math" panose="02040503050406030204" pitchFamily="18" charset="0"/>
                            <a:ea typeface="Times New Roman" panose="02020603050405020304" pitchFamily="18" charset="0"/>
                          </a:rPr>
                          <m:t>+</m:t>
                        </m:r>
                        <m:sSup>
                          <m:sSup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sSupPr>
                          <m:e>
                            <m:d>
                              <m:d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r>
                                  <a:rPr lang="en-US" sz="1800" i="1">
                                    <a:solidFill>
                                      <a:schemeClr val="accent6">
                                        <a:lumMod val="50000"/>
                                      </a:schemeClr>
                                    </a:solidFill>
                                    <a:effectLst/>
                                    <a:latin typeface="Cambria Math" panose="02040503050406030204" pitchFamily="18" charset="0"/>
                                    <a:ea typeface="Times New Roman" panose="02020603050405020304" pitchFamily="18" charset="0"/>
                                  </a:rPr>
                                  <m:t>𝑃</m:t>
                                </m:r>
                                <m:r>
                                  <a:rPr lang="en-US" sz="1800" i="1">
                                    <a:solidFill>
                                      <a:schemeClr val="accent6">
                                        <a:lumMod val="50000"/>
                                      </a:schemeClr>
                                    </a:solidFill>
                                    <a:effectLst/>
                                    <a:latin typeface="Cambria Math" panose="02040503050406030204" pitchFamily="18" charset="0"/>
                                    <a:ea typeface="Times New Roman" panose="02020603050405020304" pitchFamily="18" charset="0"/>
                                  </a:rPr>
                                  <m:t>2</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𝑦</m:t>
                                </m:r>
                                <m:r>
                                  <a:rPr lang="en-US" sz="1800" i="1">
                                    <a:solidFill>
                                      <a:schemeClr val="accent6">
                                        <a:lumMod val="50000"/>
                                      </a:schemeClr>
                                    </a:solidFill>
                                    <a:effectLst/>
                                    <a:latin typeface="Cambria Math" panose="02040503050406030204" pitchFamily="18" charset="0"/>
                                    <a:ea typeface="Times New Roman" panose="02020603050405020304" pitchFamily="18" charset="0"/>
                                  </a:rPr>
                                  <m:t>−</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𝑃</m:t>
                                </m:r>
                                <m:r>
                                  <a:rPr lang="en-US" sz="1800" i="1">
                                    <a:solidFill>
                                      <a:schemeClr val="accent6">
                                        <a:lumMod val="50000"/>
                                      </a:schemeClr>
                                    </a:solidFill>
                                    <a:effectLst/>
                                    <a:latin typeface="Cambria Math" panose="02040503050406030204" pitchFamily="18" charset="0"/>
                                    <a:ea typeface="Times New Roman" panose="02020603050405020304" pitchFamily="18" charset="0"/>
                                  </a:rPr>
                                  <m:t>1</m:t>
                                </m:r>
                                <m:r>
                                  <a:rPr lang="en-US" sz="1800" i="1">
                                    <a:solidFill>
                                      <a:schemeClr val="accent6">
                                        <a:lumMod val="50000"/>
                                      </a:schemeClr>
                                    </a:solidFill>
                                    <a:effectLst/>
                                    <a:latin typeface="Cambria Math" panose="02040503050406030204" pitchFamily="18" charset="0"/>
                                    <a:ea typeface="Times New Roman" panose="02020603050405020304" pitchFamily="18" charset="0"/>
                                  </a:rPr>
                                  <m:t>𝑦</m:t>
                                </m:r>
                              </m:e>
                            </m:d>
                          </m:e>
                          <m:sup>
                            <m:r>
                              <a:rPr lang="en-US" sz="1800" i="0">
                                <a:solidFill>
                                  <a:schemeClr val="accent6">
                                    <a:lumMod val="50000"/>
                                  </a:schemeClr>
                                </a:solidFill>
                                <a:effectLst/>
                                <a:latin typeface="Cambria Math" panose="02040503050406030204" pitchFamily="18" charset="0"/>
                                <a:ea typeface="Times New Roman" panose="02020603050405020304" pitchFamily="18" charset="0"/>
                              </a:rPr>
                              <m:t>2</m:t>
                            </m:r>
                          </m:sup>
                        </m:sSup>
                      </m:e>
                    </m:rad>
                  </m:oMath>
                </a14:m>
                <a:endPar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Tx/>
                  <a:buAutoNum type="arabicPeriod" startAt="2"/>
                </a:pP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Построение вектора по двум точкам  </a:t>
                </a:r>
                <a14:m>
                  <m:oMath xmlns:m="http://schemas.openxmlformats.org/officeDocument/2006/math">
                    <m:acc>
                      <m:accPr>
                        <m:chr m:val="⃗"/>
                        <m:ctrlPr>
                          <a:rPr lang="ru-RU" sz="1800"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800" i="1">
                            <a:solidFill>
                              <a:schemeClr val="accent6">
                                <a:lumMod val="50000"/>
                              </a:schemeClr>
                            </a:solidFill>
                            <a:effectLst/>
                            <a:latin typeface="Cambria Math" panose="02040503050406030204" pitchFamily="18" charset="0"/>
                            <a:ea typeface="Times New Roman" panose="02020603050405020304" pitchFamily="18" charset="0"/>
                          </a:rPr>
                          <m:t>𝑉</m:t>
                        </m:r>
                      </m:e>
                    </m:acc>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2</m:t>
                        </m:r>
                      </m:e>
                    </m:acc>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1</m:t>
                        </m:r>
                      </m:e>
                    </m:acc>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d>
                      <m:d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2</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𝑥</m:t>
                        </m:r>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1</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𝑥</m:t>
                        </m:r>
                        <m:r>
                          <a:rPr lang="ru-RU" sz="1800" i="1">
                            <a:solidFill>
                              <a:schemeClr val="accent6">
                                <a:lumMod val="50000"/>
                              </a:schemeClr>
                            </a:solidFill>
                            <a:effectLst/>
                            <a:latin typeface="Cambria Math" panose="02040503050406030204" pitchFamily="18" charset="0"/>
                            <a:ea typeface="Times New Roman" panose="02020603050405020304" pitchFamily="18" charset="0"/>
                          </a:rPr>
                          <m:t>, </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2</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𝑦</m:t>
                        </m:r>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800" i="1">
                            <a:solidFill>
                              <a:schemeClr val="accent6">
                                <a:lumMod val="50000"/>
                              </a:schemeClr>
                            </a:solidFill>
                            <a:effectLst/>
                            <a:latin typeface="Cambria Math" panose="02040503050406030204" pitchFamily="18" charset="0"/>
                            <a:ea typeface="Times New Roman" panose="02020603050405020304" pitchFamily="18" charset="0"/>
                          </a:rPr>
                          <m:t>1</m:t>
                        </m:r>
                        <m:r>
                          <a:rPr lang="ru-RU" sz="1800" i="1">
                            <a:solidFill>
                              <a:schemeClr val="accent6">
                                <a:lumMod val="50000"/>
                              </a:schemeClr>
                            </a:solidFill>
                            <a:effectLst/>
                            <a:latin typeface="Cambria Math" panose="02040503050406030204" pitchFamily="18" charset="0"/>
                            <a:ea typeface="Times New Roman" panose="02020603050405020304" pitchFamily="18" charset="0"/>
                          </a:rPr>
                          <m:t>𝑦</m:t>
                        </m:r>
                      </m:e>
                    </m:d>
                  </m:oMath>
                </a14:m>
                <a:endParaRPr lang="ru-RU" sz="1800" dirty="0">
                  <a:solidFill>
                    <a:schemeClr val="accent6">
                      <a:lumMod val="50000"/>
                    </a:schemeClr>
                  </a:solidFill>
                  <a:effectLst/>
                  <a:latin typeface="Times New Roman" panose="02020603050405020304" pitchFamily="18" charset="0"/>
                  <a:ea typeface="Times New Roman" panose="02020603050405020304" pitchFamily="18" charset="0"/>
                </a:endParaRPr>
              </a:p>
              <a:p>
                <a:pPr marL="342900" indent="-342900">
                  <a:buFontTx/>
                  <a:buAutoNum type="arabicPeriod" startAt="2"/>
                </a:pPr>
                <a:r>
                  <a:rPr lang="ru-RU" sz="18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Длина вектора </a:t>
                </a:r>
                <a14:m>
                  <m:oMath xmlns:m="http://schemas.openxmlformats.org/officeDocument/2006/math">
                    <m:sSub>
                      <m:sSubPr>
                        <m:ctrlPr>
                          <a:rPr lang="ru-RU" sz="1800" i="1" smtClean="0">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m:t>
                        </m:r>
                      </m:e>
                      <m:sub>
                        <m:r>
                          <a:rPr lang="ru-RU" sz="1800" i="1">
                            <a:solidFill>
                              <a:schemeClr val="accent6">
                                <a:lumMod val="50000"/>
                              </a:schemeClr>
                            </a:solidFill>
                            <a:effectLst/>
                            <a:latin typeface="Cambria Math" panose="02040503050406030204" pitchFamily="18" charset="0"/>
                            <a:ea typeface="Times New Roman" panose="02020603050405020304" pitchFamily="18" charset="0"/>
                          </a:rPr>
                          <m:t>𝐿</m:t>
                        </m:r>
                      </m:sub>
                    </m:sSub>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d>
                      <m:dPr>
                        <m:begChr m:val="|"/>
                        <m:endChr m:val="|"/>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dPr>
                      <m:e>
                        <m:acc>
                          <m:accPr>
                            <m:chr m:val="⃗"/>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m:t>
                            </m:r>
                          </m:e>
                        </m:acc>
                      </m:e>
                    </m:d>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rad>
                      <m:radPr>
                        <m:degHide m:val="on"/>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radPr>
                      <m:deg/>
                      <m:e>
                        <m:sSup>
                          <m:sSup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sSup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𝑉𝑥</m:t>
                            </m:r>
                          </m:e>
                          <m:sup>
                            <m:r>
                              <a:rPr lang="ru-RU" sz="1800" i="1">
                                <a:solidFill>
                                  <a:schemeClr val="accent6">
                                    <a:lumMod val="50000"/>
                                  </a:schemeClr>
                                </a:solidFill>
                                <a:effectLst/>
                                <a:latin typeface="Cambria Math" panose="02040503050406030204" pitchFamily="18" charset="0"/>
                                <a:ea typeface="Times New Roman" panose="02020603050405020304" pitchFamily="18" charset="0"/>
                              </a:rPr>
                              <m:t>2</m:t>
                            </m:r>
                          </m:sup>
                        </m:sSup>
                        <m:r>
                          <a:rPr lang="ru-RU" sz="1800" i="1">
                            <a:solidFill>
                              <a:schemeClr val="accent6">
                                <a:lumMod val="50000"/>
                              </a:schemeClr>
                            </a:solidFill>
                            <a:effectLst/>
                            <a:latin typeface="Cambria Math" panose="02040503050406030204" pitchFamily="18" charset="0"/>
                            <a:ea typeface="Times New Roman" panose="02020603050405020304" pitchFamily="18" charset="0"/>
                          </a:rPr>
                          <m:t>+</m:t>
                        </m:r>
                        <m:sSup>
                          <m:sSupPr>
                            <m:ctrlPr>
                              <a:rPr lang="ru-RU" sz="1800" i="1">
                                <a:solidFill>
                                  <a:schemeClr val="accent6">
                                    <a:lumMod val="50000"/>
                                  </a:schemeClr>
                                </a:solidFill>
                                <a:effectLst/>
                                <a:latin typeface="Cambria Math" panose="02040503050406030204" pitchFamily="18" charset="0"/>
                                <a:ea typeface="Times New Roman" panose="02020603050405020304" pitchFamily="18" charset="0"/>
                              </a:rPr>
                            </m:ctrlPr>
                          </m:sSupPr>
                          <m:e>
                            <m:r>
                              <a:rPr lang="ru-RU" sz="1800" i="1">
                                <a:solidFill>
                                  <a:schemeClr val="accent6">
                                    <a:lumMod val="50000"/>
                                  </a:schemeClr>
                                </a:solidFill>
                                <a:effectLst/>
                                <a:latin typeface="Cambria Math" panose="02040503050406030204" pitchFamily="18" charset="0"/>
                                <a:ea typeface="Times New Roman" panose="02020603050405020304" pitchFamily="18" charset="0"/>
                              </a:rPr>
                              <m:t>𝑉𝑦</m:t>
                            </m:r>
                          </m:e>
                          <m:sup>
                            <m:r>
                              <a:rPr lang="ru-RU" sz="1800" i="1">
                                <a:solidFill>
                                  <a:schemeClr val="accent6">
                                    <a:lumMod val="50000"/>
                                  </a:schemeClr>
                                </a:solidFill>
                                <a:effectLst/>
                                <a:latin typeface="Cambria Math" panose="02040503050406030204" pitchFamily="18" charset="0"/>
                                <a:ea typeface="Times New Roman" panose="02020603050405020304" pitchFamily="18" charset="0"/>
                              </a:rPr>
                              <m:t>2</m:t>
                            </m:r>
                          </m:sup>
                        </m:sSup>
                      </m:e>
                    </m:rad>
                  </m:oMath>
                </a14:m>
                <a:endParaRPr lang="ru-RU" sz="18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 xmlns:a16="http://schemas.microsoft.com/office/drawing/2014/main" xmlns:a14="http://schemas.microsoft.com/office/drawing/2010/main" id="{576ED211-E5D6-417F-BB0E-028894422EB7}"/>
                  </a:ext>
                </a:extLst>
              </p:cNvPr>
              <p:cNvSpPr txBox="1">
                <a:spLocks noRot="1" noChangeAspect="1" noMove="1" noResize="1" noEditPoints="1" noAdjustHandles="1" noChangeArrowheads="1" noChangeShapeType="1" noTextEdit="1"/>
              </p:cNvSpPr>
              <p:nvPr/>
            </p:nvSpPr>
            <p:spPr>
              <a:xfrm>
                <a:off x="276225" y="1529886"/>
                <a:ext cx="10515600" cy="2259401"/>
              </a:xfrm>
              <a:prstGeom prst="rect">
                <a:avLst/>
              </a:prstGeom>
              <a:blipFill rotWithShape="1">
                <a:blip r:embed="rId2"/>
                <a:stretch>
                  <a:fillRect l="-464" t="-1348" b="-2426"/>
                </a:stretch>
              </a:blipFill>
            </p:spPr>
            <p:txBody>
              <a:bodyPr/>
              <a:lstStyle/>
              <a:p>
                <a:r>
                  <a:rPr lang="ru-RU">
                    <a:noFill/>
                  </a:rPr>
                  <a:t> </a:t>
                </a:r>
              </a:p>
            </p:txBody>
          </p:sp>
        </mc:Fallback>
      </mc:AlternateContent>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4" y="3949613"/>
            <a:ext cx="3345392" cy="2809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5008" y="3949613"/>
            <a:ext cx="3345392" cy="2809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14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FBAFC95C-B5BB-4F4F-A3B0-10F9D05EB505}"/>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7</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EA27BE69-5415-4B28-A51B-00E21CE4C76D}"/>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A4E347E-A942-4BFB-9D3C-24D988F3E476}"/>
                  </a:ext>
                </a:extLst>
              </p:cNvPr>
              <p:cNvSpPr txBox="1"/>
              <p:nvPr/>
            </p:nvSpPr>
            <p:spPr>
              <a:xfrm>
                <a:off x="332815" y="796158"/>
                <a:ext cx="10515600" cy="4703403"/>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cs typeface="Times New Roman" panose="02020603050405020304" pitchFamily="18" charset="0"/>
                  </a:rPr>
                  <a:t>Основные понятия </a:t>
                </a:r>
                <a:r>
                  <a:rPr lang="ru-RU" dirty="0">
                    <a:solidFill>
                      <a:schemeClr val="accent6">
                        <a:lumMod val="50000"/>
                      </a:schemeClr>
                    </a:solidFill>
                    <a:latin typeface="Times New Roman" panose="02020603050405020304" pitchFamily="18" charset="0"/>
                    <a:cs typeface="Times New Roman" panose="02020603050405020304" pitchFamily="18" charset="0"/>
                  </a:rPr>
                  <a:t>:</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Прямая на плоскости   </a:t>
                </a:r>
                <a14:m>
                  <m:oMath xmlns:m="http://schemas.openxmlformats.org/officeDocument/2006/math">
                    <m:acc>
                      <m:accPr>
                        <m:chr m:val="⃗"/>
                        <m:ctrlPr>
                          <a:rPr lang="ru-RU"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rPr>
                          <m:t>𝑃</m:t>
                        </m:r>
                      </m:e>
                    </m:acc>
                    <m:r>
                      <a:rPr lang="ru-RU"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i="1">
                                <a:solidFill>
                                  <a:schemeClr val="accent6">
                                    <a:lumMod val="50000"/>
                                  </a:schemeClr>
                                </a:solidFill>
                                <a:effectLst/>
                                <a:latin typeface="Cambria Math" panose="02040503050406030204" pitchFamily="18" charset="0"/>
                                <a:ea typeface="Times New Roman" panose="02020603050405020304" pitchFamily="18" charset="0"/>
                              </a:rPr>
                              <m:t>𝑃</m:t>
                            </m:r>
                          </m:e>
                          <m:sub>
                            <m:r>
                              <a:rPr lang="ru-RU" i="1">
                                <a:solidFill>
                                  <a:schemeClr val="accent6">
                                    <a:lumMod val="50000"/>
                                  </a:schemeClr>
                                </a:solidFill>
                                <a:effectLst/>
                                <a:latin typeface="Cambria Math" panose="02040503050406030204" pitchFamily="18" charset="0"/>
                                <a:ea typeface="Times New Roman" panose="02020603050405020304" pitchFamily="18" charset="0"/>
                              </a:rPr>
                              <m:t>0</m:t>
                            </m:r>
                          </m:sub>
                        </m:sSub>
                      </m:e>
                    </m:acc>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𝑡</m:t>
                    </m:r>
                    <m:r>
                      <a:rPr lang="ru-RU"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rPr>
                          <m:t>𝑅</m:t>
                        </m:r>
                      </m:e>
                    </m:acc>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где</a:t>
                </a:r>
              </a:p>
              <a:p>
                <a14:m>
                  <m:oMath xmlns:m="http://schemas.openxmlformats.org/officeDocument/2006/math">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rPr>
                          <m:t>𝑃</m:t>
                        </m:r>
                      </m:e>
                    </m:acc>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радиус-вектор произвольной точки, лежащей на прямой;</a:t>
                </a:r>
              </a:p>
              <a:p>
                <a14:m>
                  <m:oMath xmlns:m="http://schemas.openxmlformats.org/officeDocument/2006/math">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i="1">
                                <a:solidFill>
                                  <a:schemeClr val="accent6">
                                    <a:lumMod val="50000"/>
                                  </a:schemeClr>
                                </a:solidFill>
                                <a:effectLst/>
                                <a:latin typeface="Cambria Math" panose="02040503050406030204" pitchFamily="18" charset="0"/>
                                <a:ea typeface="Times New Roman" panose="02020603050405020304" pitchFamily="18" charset="0"/>
                              </a:rPr>
                              <m:t>𝑃</m:t>
                            </m:r>
                          </m:e>
                          <m:sub>
                            <m:r>
                              <a:rPr lang="ru-RU" i="1">
                                <a:solidFill>
                                  <a:schemeClr val="accent6">
                                    <a:lumMod val="50000"/>
                                  </a:schemeClr>
                                </a:solidFill>
                                <a:effectLst/>
                                <a:latin typeface="Cambria Math" panose="02040503050406030204" pitchFamily="18" charset="0"/>
                                <a:ea typeface="Times New Roman" panose="02020603050405020304" pitchFamily="18" charset="0"/>
                              </a:rPr>
                              <m:t>0</m:t>
                            </m:r>
                          </m:sub>
                        </m:sSub>
                      </m:e>
                    </m:acc>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радиус-вектор некоторой начальной (фиксированной) точки, лежащей на прямой; </a:t>
                </a:r>
              </a:p>
              <a:p>
                <a14:m>
                  <m:oMath xmlns:m="http://schemas.openxmlformats.org/officeDocument/2006/math">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rPr>
                          <m:t>𝑅</m:t>
                        </m:r>
                      </m:e>
                    </m:acc>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направляющий ненулевой вектор, коллинеарный этой прямой; </a:t>
                </a:r>
              </a:p>
              <a:p>
                <a:r>
                  <a:rPr lang="en-US"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параметр (вещественное число),  -∞ &lt; </a:t>
                </a:r>
                <a:r>
                  <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&lt; +∞.</a:t>
                </a:r>
              </a:p>
              <a:p>
                <a:endPar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Векторное параметрическое уравнение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прямой в декартовых </a:t>
                </a:r>
                <a:endPar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Координатах</a:t>
                </a:r>
                <a:r>
                  <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i="1" dirty="0" err="1">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Px</a:t>
                </a:r>
                <a:r>
                  <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и </a:t>
                </a:r>
                <a:r>
                  <a:rPr lang="en-US" i="1" dirty="0" err="1">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Py</a:t>
                </a:r>
                <a:r>
                  <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координаты произвольной точки </a:t>
                </a:r>
                <a14:m>
                  <m:oMath xmlns:m="http://schemas.openxmlformats.org/officeDocument/2006/math">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rPr>
                          <m:t>𝑃</m:t>
                        </m:r>
                      </m:e>
                    </m:acc>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d>
                        <m:dPr>
                          <m:begChr m:val="{"/>
                          <m:end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dPr>
                        <m:e>
                          <m:eqArr>
                            <m:eqArrPr>
                              <m:ctrlPr>
                                <a:rPr lang="ru-RU" i="1">
                                  <a:solidFill>
                                    <a:schemeClr val="accent6">
                                      <a:lumMod val="50000"/>
                                    </a:schemeClr>
                                  </a:solidFill>
                                  <a:effectLst/>
                                  <a:latin typeface="Cambria Math" panose="02040503050406030204" pitchFamily="18" charset="0"/>
                                  <a:ea typeface="Times New Roman" panose="02020603050405020304" pitchFamily="18" charset="0"/>
                                </a:rPr>
                              </m:ctrlPr>
                            </m:eqArrPr>
                            <m:e>
                              <m:r>
                                <a:rPr lang="en-US" b="0" i="1" smtClean="0">
                                  <a:solidFill>
                                    <a:schemeClr val="accent6">
                                      <a:lumMod val="50000"/>
                                    </a:schemeClr>
                                  </a:solidFill>
                                  <a:effectLst/>
                                  <a:latin typeface="Cambria Math"/>
                                  <a:ea typeface="Times New Roman" panose="02020603050405020304" pitchFamily="18" charset="0"/>
                                </a:rPr>
                                <m:t>𝑃</m:t>
                              </m:r>
                              <m:r>
                                <a:rPr lang="ru-RU" i="1">
                                  <a:solidFill>
                                    <a:schemeClr val="accent6">
                                      <a:lumMod val="50000"/>
                                    </a:schemeClr>
                                  </a:solidFill>
                                  <a:effectLst/>
                                  <a:latin typeface="Cambria Math" panose="02040503050406030204" pitchFamily="18" charset="0"/>
                                  <a:ea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𝑃</m:t>
                              </m:r>
                              <m:r>
                                <a:rPr lang="ru-RU" i="1">
                                  <a:solidFill>
                                    <a:schemeClr val="accent6">
                                      <a:lumMod val="50000"/>
                                    </a:schemeClr>
                                  </a:solidFill>
                                  <a:effectLst/>
                                  <a:latin typeface="Cambria Math" panose="02040503050406030204" pitchFamily="18" charset="0"/>
                                  <a:ea typeface="Times New Roman" panose="02020603050405020304" pitchFamily="18" charset="0"/>
                                </a:rPr>
                                <m:t>0</m:t>
                              </m:r>
                              <m:r>
                                <a:rPr lang="ru-RU" i="1">
                                  <a:solidFill>
                                    <a:schemeClr val="accent6">
                                      <a:lumMod val="50000"/>
                                    </a:schemeClr>
                                  </a:solidFill>
                                  <a:effectLst/>
                                  <a:latin typeface="Cambria Math" panose="02040503050406030204" pitchFamily="18" charset="0"/>
                                  <a:ea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𝑡</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𝑅𝑥</m:t>
                              </m:r>
                            </m:e>
                            <m:e>
                              <m:r>
                                <a:rPr lang="en-US" b="0" i="1" smtClean="0">
                                  <a:solidFill>
                                    <a:schemeClr val="accent6">
                                      <a:lumMod val="50000"/>
                                    </a:schemeClr>
                                  </a:solidFill>
                                  <a:effectLst/>
                                  <a:latin typeface="Cambria Math"/>
                                  <a:ea typeface="Times New Roman" panose="02020603050405020304" pitchFamily="18" charset="0"/>
                                </a:rPr>
                                <m:t>𝑃</m:t>
                              </m:r>
                              <m:r>
                                <a:rPr lang="ru-RU" i="1">
                                  <a:solidFill>
                                    <a:schemeClr val="accent6">
                                      <a:lumMod val="50000"/>
                                    </a:schemeClr>
                                  </a:solidFill>
                                  <a:effectLst/>
                                  <a:latin typeface="Cambria Math" panose="02040503050406030204" pitchFamily="18" charset="0"/>
                                  <a:ea typeface="Times New Roman" panose="02020603050405020304" pitchFamily="18" charset="0"/>
                                </a:rPr>
                                <m:t>𝑦</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𝑃</m:t>
                              </m:r>
                              <m:r>
                                <a:rPr lang="ru-RU" i="1">
                                  <a:solidFill>
                                    <a:schemeClr val="accent6">
                                      <a:lumMod val="50000"/>
                                    </a:schemeClr>
                                  </a:solidFill>
                                  <a:effectLst/>
                                  <a:latin typeface="Cambria Math" panose="02040503050406030204" pitchFamily="18" charset="0"/>
                                  <a:ea typeface="Times New Roman" panose="02020603050405020304" pitchFamily="18" charset="0"/>
                                </a:rPr>
                                <m:t>0</m:t>
                              </m:r>
                              <m:r>
                                <a:rPr lang="ru-RU" i="1">
                                  <a:solidFill>
                                    <a:schemeClr val="accent6">
                                      <a:lumMod val="50000"/>
                                    </a:schemeClr>
                                  </a:solidFill>
                                  <a:effectLst/>
                                  <a:latin typeface="Cambria Math" panose="02040503050406030204" pitchFamily="18" charset="0"/>
                                  <a:ea typeface="Times New Roman" panose="02020603050405020304" pitchFamily="18" charset="0"/>
                                </a:rPr>
                                <m:t>𝑦</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𝑡</m:t>
                              </m:r>
                              <m:r>
                                <a:rPr lang="ru-RU" i="1">
                                  <a:solidFill>
                                    <a:schemeClr val="accent6">
                                      <a:lumMod val="50000"/>
                                    </a:schemeClr>
                                  </a:solidFill>
                                  <a:effectLst/>
                                  <a:latin typeface="Cambria Math" panose="02040503050406030204" pitchFamily="18" charset="0"/>
                                  <a:ea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rPr>
                                <m:t>𝑅𝑦</m:t>
                              </m:r>
                            </m:e>
                          </m:eqArr>
                        </m:e>
                      </m:d>
                    </m:oMath>
                  </m:oMathPara>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ru-RU" dirty="0">
                    <a:solidFill>
                      <a:schemeClr val="accent6">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Расстояние от начальной точки до произвольной точки на прямой равно:</a:t>
                </a:r>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rPr>
                          </m:ctrlPr>
                        </m:dPr>
                        <m:e>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e>
                          </m:acc>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sSub>
                                <m:sSubPr>
                                  <m:ctrlPr>
                                    <a:rPr lang="ru-RU" i="1">
                                      <a:solidFill>
                                        <a:schemeClr val="accent6">
                                          <a:lumMod val="50000"/>
                                        </a:schemeClr>
                                      </a:solidFill>
                                      <a:effectLst/>
                                      <a:latin typeface="Cambria Math" panose="02040503050406030204" pitchFamily="18" charset="0"/>
                                    </a:rPr>
                                  </m:ctrlPr>
                                </m:sSubP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0</m:t>
                                  </m:r>
                                </m:sub>
                              </m:sSub>
                            </m:e>
                          </m:acc>
                        </m:e>
                      </m:d>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rPr>
                          </m:ctrlPr>
                        </m:dPr>
                        <m:e>
                          <m:acc>
                            <m:accPr>
                              <m:chr m:val="⃗"/>
                              <m:ctrlPr>
                                <a:rPr lang="ru-RU" i="1">
                                  <a:solidFill>
                                    <a:schemeClr val="accent6">
                                      <a:lumMod val="50000"/>
                                    </a:schemeClr>
                                  </a:solidFill>
                                  <a:effectLst/>
                                  <a:latin typeface="Cambria Math" panose="020405030504060302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e>
                      </m:d>
                    </m:oMath>
                  </m:oMathPara>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AutoNum type="arabicPeriod" startAt="2"/>
                </a:pPr>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AA4E347E-A942-4BFB-9D3C-24D988F3E476}"/>
                  </a:ext>
                </a:extLst>
              </p:cNvPr>
              <p:cNvSpPr txBox="1">
                <a:spLocks noRot="1" noChangeAspect="1" noMove="1" noResize="1" noEditPoints="1" noAdjustHandles="1" noChangeArrowheads="1" noChangeShapeType="1" noTextEdit="1"/>
              </p:cNvSpPr>
              <p:nvPr/>
            </p:nvSpPr>
            <p:spPr>
              <a:xfrm>
                <a:off x="332815" y="796158"/>
                <a:ext cx="10515600" cy="4703403"/>
              </a:xfrm>
              <a:prstGeom prst="rect">
                <a:avLst/>
              </a:prstGeom>
              <a:blipFill rotWithShape="1">
                <a:blip r:embed="rId2"/>
                <a:stretch>
                  <a:fillRect l="-522" t="-649"/>
                </a:stretch>
              </a:blipFill>
            </p:spPr>
            <p:txBody>
              <a:bodyPr/>
              <a:lstStyle/>
              <a:p>
                <a:r>
                  <a:rPr lang="ru-RU">
                    <a:noFill/>
                  </a:rPr>
                  <a:t> </a:t>
                </a:r>
              </a:p>
            </p:txBody>
          </p:sp>
        </mc:Fallback>
      </mc:AlternateContent>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2809" y="2637896"/>
            <a:ext cx="3981450" cy="334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777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6730CDAA-C08A-448B-A4EC-6044C66B6CC2}"/>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8</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ACFABECA-3D57-44E1-AE6B-613E079A4CBF}"/>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842304-63BE-469E-AAA5-279122C6C9C1}"/>
                  </a:ext>
                </a:extLst>
              </p:cNvPr>
              <p:cNvSpPr txBox="1"/>
              <p:nvPr/>
            </p:nvSpPr>
            <p:spPr>
              <a:xfrm>
                <a:off x="437757" y="1115120"/>
                <a:ext cx="10515600" cy="3615862"/>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cs typeface="Times New Roman" panose="02020603050405020304" pitchFamily="18" charset="0"/>
                  </a:rPr>
                  <a:t>Действия с векторами:</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 Умножение вектора на константу   </a:t>
                </a:r>
                <a14:m>
                  <m:oMath xmlns:m="http://schemas.openxmlformats.org/officeDocument/2006/math">
                    <m:acc>
                      <m:accPr>
                        <m:chr m:val="⃗"/>
                        <m:ctrlPr>
                          <a:rPr lang="ru-RU"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e>
                    </m:acc>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𝑎</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𝑉</m:t>
                        </m:r>
                      </m:e>
                    </m:acc>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d>
                      <m:dPr>
                        <m:ctrlPr>
                          <a:rPr lang="ru-RU" i="1">
                            <a:solidFill>
                              <a:schemeClr val="accent6">
                                <a:lumMod val="50000"/>
                              </a:schemeClr>
                            </a:solidFill>
                            <a:effectLst/>
                            <a:latin typeface="Cambria Math" panose="02040503050406030204" pitchFamily="18" charset="0"/>
                            <a:ea typeface="Times New Roman" panose="02020603050405020304" pitchFamily="18" charset="0"/>
                          </a:rPr>
                        </m:ctrlPr>
                      </m:dPr>
                      <m:e>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𝑎</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𝑉𝑥</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𝑎</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rPr>
                          <m:t>𝑉𝑦</m:t>
                        </m:r>
                      </m:e>
                    </m:d>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2.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Сложение/Вычитание векторов</a:t>
                </a:r>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ru-RU" i="1" smtClean="0">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ru-RU" i="1">
                            <a:solidFill>
                              <a:schemeClr val="accent6">
                                <a:lumMod val="50000"/>
                              </a:schemeClr>
                            </a:solidFill>
                            <a:effectLst/>
                            <a:latin typeface="Cambria Math" panose="02040503050406030204" pitchFamily="18" charset="0"/>
                          </a:rPr>
                        </m:ctrlPr>
                      </m:d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e>
                    </m:d>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3. </a:t>
                </a:r>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Скалярное произведение      </a:t>
                </a:r>
                <a:r>
                  <a:rPr lang="ru-RU"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ru-RU" b="1" i="0"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rPr>
                        </m:ctrlPr>
                      </m:dPr>
                      <m:e>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e>
                    </m:d>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rPr>
                        </m:ctrlPr>
                      </m:dPr>
                      <m:e>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e>
                    </m:d>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ru-RU" i="1">
                            <a:solidFill>
                              <a:schemeClr val="accent6">
                                <a:lumMod val="50000"/>
                              </a:schemeClr>
                            </a:solidFill>
                            <a:effectLst/>
                            <a:latin typeface="Cambria Math" panose="02040503050406030204" pitchFamily="18" charset="0"/>
                          </a:rPr>
                        </m:ctrlPr>
                      </m:funcPr>
                      <m:fNa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𝑐𝑜𝑠</m:t>
                        </m:r>
                      </m:fName>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oMath>
                </a14:m>
                <a:endPar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в</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декартовых координатах         </a:t>
                </a:r>
                <a14:m>
                  <m:oMath xmlns:m="http://schemas.openxmlformats.org/officeDocument/2006/math">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Свойство скалярного произведения:     </a:t>
                </a:r>
                <a14:m>
                  <m:oMath xmlns:m="http://schemas.openxmlformats.org/officeDocument/2006/math">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E4842304-63BE-469E-AAA5-279122C6C9C1}"/>
                  </a:ext>
                </a:extLst>
              </p:cNvPr>
              <p:cNvSpPr txBox="1">
                <a:spLocks noRot="1" noChangeAspect="1" noMove="1" noResize="1" noEditPoints="1" noAdjustHandles="1" noChangeArrowheads="1" noChangeShapeType="1" noTextEdit="1"/>
              </p:cNvSpPr>
              <p:nvPr/>
            </p:nvSpPr>
            <p:spPr>
              <a:xfrm>
                <a:off x="437757" y="1115120"/>
                <a:ext cx="10515600" cy="3615862"/>
              </a:xfrm>
              <a:prstGeom prst="rect">
                <a:avLst/>
              </a:prstGeom>
              <a:blipFill rotWithShape="1">
                <a:blip r:embed="rId2"/>
                <a:stretch>
                  <a:fillRect l="-522" t="-843"/>
                </a:stretch>
              </a:blipFill>
            </p:spPr>
            <p:txBody>
              <a:bodyPr/>
              <a:lstStyle/>
              <a:p>
                <a:r>
                  <a:rPr lang="ru-RU">
                    <a:noFill/>
                  </a:rPr>
                  <a:t> </a:t>
                </a:r>
              </a:p>
            </p:txBody>
          </p:sp>
        </mc:Fallback>
      </mc:AlternateContent>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142" y="724489"/>
            <a:ext cx="3446991" cy="2894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8721" y="3869266"/>
            <a:ext cx="3427412" cy="2619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4166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03ECC5A9-CF0D-4AA7-BE35-A0E8630218C7}"/>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9</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F8A4A1DA-F6ED-4A9B-8B76-1340F1526265}"/>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EEE37A-3ADB-438A-A90F-2B8DD55F92F1}"/>
                  </a:ext>
                </a:extLst>
              </p:cNvPr>
              <p:cNvSpPr txBox="1"/>
              <p:nvPr/>
            </p:nvSpPr>
            <p:spPr>
              <a:xfrm>
                <a:off x="350520" y="812806"/>
                <a:ext cx="10515600" cy="4055597"/>
              </a:xfrm>
              <a:prstGeom prst="rect">
                <a:avLst/>
              </a:prstGeom>
              <a:noFill/>
            </p:spPr>
            <p:txBody>
              <a:bodyPr wrap="square" rtlCol="0">
                <a:spAutoFit/>
              </a:bodyPr>
              <a:lstStyle/>
              <a:p>
                <a:r>
                  <a:rPr lang="ru-RU" b="1" dirty="0">
                    <a:solidFill>
                      <a:schemeClr val="accent6">
                        <a:lumMod val="50000"/>
                      </a:schemeClr>
                    </a:solidFill>
                    <a:latin typeface="Times New Roman" panose="02020603050405020304" pitchFamily="18" charset="0"/>
                    <a:cs typeface="Times New Roman" panose="02020603050405020304" pitchFamily="18" charset="0"/>
                  </a:rPr>
                  <a:t>Действия с векторами:</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Векторное произведение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это </a:t>
                </a:r>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вектор  </a:t>
                </a:r>
                <a14:m>
                  <m:oMath xmlns:m="http://schemas.openxmlformats.org/officeDocument/2006/math">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e>
                    </m:acc>
                    <m:r>
                      <a:rPr lang="ru-RU" i="1">
                        <a:solidFill>
                          <a:schemeClr val="accent6">
                            <a:lumMod val="50000"/>
                          </a:schemeClr>
                        </a:solidFill>
                        <a:latin typeface="Cambria Math" panose="02040503050406030204" pitchFamily="18" charset="0"/>
                      </a:rPr>
                      <m:t>=</m:t>
                    </m:r>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r>
                          <a:rPr lang="ru-RU" i="1">
                            <a:solidFill>
                              <a:schemeClr val="accent6">
                                <a:lumMod val="50000"/>
                              </a:schemeClr>
                            </a:solidFill>
                            <a:latin typeface="Cambria Math" panose="02040503050406030204" pitchFamily="18" charset="0"/>
                          </a:rPr>
                          <m:t>1</m:t>
                        </m:r>
                      </m:e>
                    </m:acc>
                    <m:r>
                      <a:rPr lang="ru-RU" i="1">
                        <a:solidFill>
                          <a:schemeClr val="accent6">
                            <a:lumMod val="50000"/>
                          </a:schemeClr>
                        </a:solidFill>
                        <a:latin typeface="Cambria Math" panose="02040503050406030204" pitchFamily="18" charset="0"/>
                      </a:rPr>
                      <m:t>×</m:t>
                    </m:r>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r>
                          <a:rPr lang="ru-RU" i="1">
                            <a:solidFill>
                              <a:schemeClr val="accent6">
                                <a:lumMod val="50000"/>
                              </a:schemeClr>
                            </a:solidFill>
                            <a:latin typeface="Cambria Math" panose="02040503050406030204" pitchFamily="18" charset="0"/>
                          </a:rPr>
                          <m:t>2</m:t>
                        </m:r>
                      </m:e>
                    </m:acc>
                  </m:oMath>
                </a14:m>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определяемый следующими тремя условиями:</a:t>
                </a: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 модуль вектора </a:t>
                </a:r>
                <a:r>
                  <a:rPr lang="en-US"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равен</a:t>
                </a:r>
                <a:r>
                  <a:rPr lang="en-US"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ru-RU" i="1">
                            <a:solidFill>
                              <a:schemeClr val="accent6">
                                <a:lumMod val="50000"/>
                              </a:schemeClr>
                            </a:solidFill>
                            <a:latin typeface="Cambria Math" panose="02040503050406030204" pitchFamily="18" charset="0"/>
                          </a:rPr>
                        </m:ctrlPr>
                      </m:dPr>
                      <m:e>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e>
                        </m:acc>
                      </m:e>
                    </m:d>
                    <m:r>
                      <a:rPr lang="ru-RU" i="1">
                        <a:solidFill>
                          <a:schemeClr val="accent6">
                            <a:lumMod val="50000"/>
                          </a:schemeClr>
                        </a:solidFill>
                        <a:latin typeface="Cambria Math" panose="02040503050406030204" pitchFamily="18" charset="0"/>
                      </a:rPr>
                      <m:t>=</m:t>
                    </m:r>
                    <m:d>
                      <m:dPr>
                        <m:begChr m:val="|"/>
                        <m:endChr m:val="|"/>
                        <m:ctrlPr>
                          <a:rPr lang="ru-RU" i="1">
                            <a:solidFill>
                              <a:schemeClr val="accent6">
                                <a:lumMod val="50000"/>
                              </a:schemeClr>
                            </a:solidFill>
                            <a:latin typeface="Cambria Math" panose="02040503050406030204" pitchFamily="18" charset="0"/>
                          </a:rPr>
                        </m:ctrlPr>
                      </m:dPr>
                      <m:e>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r>
                              <a:rPr lang="ru-RU" i="1">
                                <a:solidFill>
                                  <a:schemeClr val="accent6">
                                    <a:lumMod val="50000"/>
                                  </a:schemeClr>
                                </a:solidFill>
                                <a:latin typeface="Cambria Math" panose="02040503050406030204" pitchFamily="18" charset="0"/>
                              </a:rPr>
                              <m:t>1</m:t>
                            </m:r>
                          </m:e>
                        </m:acc>
                      </m:e>
                    </m:d>
                    <m:r>
                      <a:rPr lang="ru-RU" i="1">
                        <a:solidFill>
                          <a:schemeClr val="accent6">
                            <a:lumMod val="50000"/>
                          </a:schemeClr>
                        </a:solidFill>
                        <a:latin typeface="Cambria Math" panose="02040503050406030204" pitchFamily="18" charset="0"/>
                      </a:rPr>
                      <m:t>∙</m:t>
                    </m:r>
                    <m:d>
                      <m:dPr>
                        <m:begChr m:val="|"/>
                        <m:endChr m:val="|"/>
                        <m:ctrlPr>
                          <a:rPr lang="ru-RU" i="1">
                            <a:solidFill>
                              <a:schemeClr val="accent6">
                                <a:lumMod val="50000"/>
                              </a:schemeClr>
                            </a:solidFill>
                            <a:latin typeface="Cambria Math" panose="02040503050406030204" pitchFamily="18" charset="0"/>
                          </a:rPr>
                        </m:ctrlPr>
                      </m:dPr>
                      <m:e>
                        <m:acc>
                          <m:accPr>
                            <m:chr m:val="⃗"/>
                            <m:ctrlPr>
                              <a:rPr lang="ru-RU" i="1">
                                <a:solidFill>
                                  <a:schemeClr val="accent6">
                                    <a:lumMod val="50000"/>
                                  </a:schemeClr>
                                </a:solidFill>
                                <a:latin typeface="Cambria Math" panose="02040503050406030204" pitchFamily="18" charset="0"/>
                              </a:rPr>
                            </m:ctrlPr>
                          </m:accPr>
                          <m:e>
                            <m:r>
                              <a:rPr lang="ru-RU" i="1">
                                <a:solidFill>
                                  <a:schemeClr val="accent6">
                                    <a:lumMod val="50000"/>
                                  </a:schemeClr>
                                </a:solidFill>
                                <a:latin typeface="Cambria Math" panose="02040503050406030204" pitchFamily="18" charset="0"/>
                              </a:rPr>
                              <m:t>𝑉</m:t>
                            </m:r>
                            <m:r>
                              <a:rPr lang="ru-RU" i="1">
                                <a:solidFill>
                                  <a:schemeClr val="accent6">
                                    <a:lumMod val="50000"/>
                                  </a:schemeClr>
                                </a:solidFill>
                                <a:latin typeface="Cambria Math" panose="02040503050406030204" pitchFamily="18" charset="0"/>
                              </a:rPr>
                              <m:t>2</m:t>
                            </m:r>
                          </m:e>
                        </m:acc>
                      </m:e>
                    </m:d>
                    <m:r>
                      <a:rPr lang="ru-RU" i="1">
                        <a:solidFill>
                          <a:schemeClr val="accent6">
                            <a:lumMod val="50000"/>
                          </a:schemeClr>
                        </a:solidFill>
                        <a:latin typeface="Cambria Math" panose="02040503050406030204" pitchFamily="18" charset="0"/>
                      </a:rPr>
                      <m:t>∙</m:t>
                    </m:r>
                    <m:func>
                      <m:funcPr>
                        <m:ctrlPr>
                          <a:rPr lang="ru-RU" i="1">
                            <a:solidFill>
                              <a:schemeClr val="accent6">
                                <a:lumMod val="50000"/>
                              </a:schemeClr>
                            </a:solidFill>
                            <a:latin typeface="Cambria Math" panose="02040503050406030204" pitchFamily="18" charset="0"/>
                          </a:rPr>
                        </m:ctrlPr>
                      </m:funcPr>
                      <m:fName>
                        <m:r>
                          <m:rPr>
                            <m:sty m:val="p"/>
                          </m:rPr>
                          <a:rPr lang="ru-RU">
                            <a:solidFill>
                              <a:schemeClr val="accent6">
                                <a:lumMod val="50000"/>
                              </a:schemeClr>
                            </a:solidFill>
                            <a:latin typeface="Cambria Math" panose="02040503050406030204" pitchFamily="18" charset="0"/>
                          </a:rPr>
                          <m:t>sin</m:t>
                        </m:r>
                      </m:fName>
                      <m:e>
                        <m:r>
                          <a:rPr lang="ru-RU" i="1">
                            <a:solidFill>
                              <a:schemeClr val="accent6">
                                <a:lumMod val="50000"/>
                              </a:schemeClr>
                            </a:solidFill>
                            <a:latin typeface="Cambria Math" panose="02040503050406030204" pitchFamily="18" charset="0"/>
                          </a:rPr>
                          <m:t>𝛼</m:t>
                        </m:r>
                      </m:e>
                    </m:func>
                  </m:oMath>
                </a14:m>
                <a:r>
                  <a:rPr lang="en-US" dirty="0">
                    <a:solidFill>
                      <a:schemeClr val="accent6">
                        <a:lumMod val="50000"/>
                      </a:schemeClr>
                    </a:solidFill>
                    <a:latin typeface="Times New Roman" panose="02020603050405020304" pitchFamily="18" charset="0"/>
                    <a:cs typeface="Times New Roman" panose="02020603050405020304" pitchFamily="18" charset="0"/>
                  </a:rPr>
                  <a:t>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где </a:t>
                </a:r>
                <a14:m>
                  <m:oMath xmlns:m="http://schemas.openxmlformats.org/officeDocument/2006/math">
                    <m:r>
                      <a:rPr lang="ru-RU" i="1">
                        <a:solidFill>
                          <a:schemeClr val="accent6">
                            <a:lumMod val="50000"/>
                          </a:schemeClr>
                        </a:solidFill>
                        <a:latin typeface="Cambria Math" panose="02040503050406030204" pitchFamily="18" charset="0"/>
                      </a:rPr>
                      <m:t>𝛼</m:t>
                    </m:r>
                    <m:r>
                      <a:rPr lang="ru-RU" i="1">
                        <a:solidFill>
                          <a:schemeClr val="accent6">
                            <a:lumMod val="50000"/>
                          </a:schemeClr>
                        </a:solidFill>
                        <a:latin typeface="Cambria Math" panose="02040503050406030204" pitchFamily="18" charset="0"/>
                      </a:rPr>
                      <m:t> </m:t>
                    </m:r>
                  </m:oMath>
                </a14:m>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 угол между векторами;</a:t>
                </a:r>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2)</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вектор </a:t>
                </a:r>
                <a:r>
                  <a:rPr lang="en-US"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перпендикулярен к каждому из векторов;</a:t>
                </a: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3) направление вектора </a:t>
                </a:r>
                <a:r>
                  <a:rPr lang="en-US"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соответствует «правилу правой руки»</a:t>
                </a:r>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p>
              <a:p>
                <a:r>
                  <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Векторное произведение в декартовых координатах</a:t>
                </a:r>
              </a:p>
              <a:p>
                <a:pPr/>
                <a14:m>
                  <m:oMathPara xmlns:m="http://schemas.openxmlformats.org/officeDocument/2006/math">
                    <m:oMathParaPr>
                      <m:jc m:val="centerGroup"/>
                    </m:oMathParaPr>
                    <m:oMath xmlns:m="http://schemas.openxmlformats.org/officeDocument/2006/math">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rPr>
                          </m:ctrlPr>
                        </m:dPr>
                        <m:e>
                          <m:m>
                            <m:mPr>
                              <m:mcs>
                                <m:mc>
                                  <m:mcPr>
                                    <m:count m:val="1"/>
                                    <m:mcJc m:val="center"/>
                                  </m:mcPr>
                                </m:mc>
                              </m:mcs>
                              <m:ctrlPr>
                                <a:rPr lang="ru-RU" i="1">
                                  <a:solidFill>
                                    <a:schemeClr val="accent6">
                                      <a:lumMod val="50000"/>
                                    </a:schemeClr>
                                  </a:solidFill>
                                  <a:effectLst/>
                                  <a:latin typeface="Cambria Math" panose="02040503050406030204" pitchFamily="18" charset="0"/>
                                </a:rPr>
                              </m:ctrlPr>
                            </m:mPr>
                            <m:m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𝑧</m:t>
                                </m:r>
                              </m:e>
                            </m:mr>
                            <m:m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𝑧</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𝑧</m:t>
                                </m:r>
                              </m:e>
                            </m:mr>
                            <m:mr>
                              <m:e>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e>
                            </m:mr>
                          </m:m>
                        </m:e>
                      </m:d>
                    </m:oMath>
                  </m:oMathPara>
                </a14:m>
                <a:endPar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AutoNum type="arabicPeriod"/>
                </a:pPr>
                <a:endParaRPr lang="ru-RU"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Свойство векторного произведения</a:t>
                </a:r>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lang="ru-RU" i="1" smtClean="0">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oMath>
                </a14:m>
                <a:endPar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69EEE37A-3ADB-438A-A90F-2B8DD55F92F1}"/>
                  </a:ext>
                </a:extLst>
              </p:cNvPr>
              <p:cNvSpPr txBox="1">
                <a:spLocks noRot="1" noChangeAspect="1" noMove="1" noResize="1" noEditPoints="1" noAdjustHandles="1" noChangeArrowheads="1" noChangeShapeType="1" noTextEdit="1"/>
              </p:cNvSpPr>
              <p:nvPr/>
            </p:nvSpPr>
            <p:spPr>
              <a:xfrm>
                <a:off x="350520" y="812806"/>
                <a:ext cx="10515600" cy="4055597"/>
              </a:xfrm>
              <a:prstGeom prst="rect">
                <a:avLst/>
              </a:prstGeom>
              <a:blipFill rotWithShape="1">
                <a:blip r:embed="rId2"/>
                <a:stretch>
                  <a:fillRect l="-522" t="-751"/>
                </a:stretch>
              </a:blipFill>
            </p:spPr>
            <p:txBody>
              <a:bodyPr/>
              <a:lstStyle/>
              <a:p>
                <a:r>
                  <a:rPr lang="ru-RU">
                    <a:noFill/>
                  </a:rPr>
                  <a:t> </a:t>
                </a:r>
              </a:p>
            </p:txBody>
          </p:sp>
        </mc:Fallback>
      </mc:AlternateContent>
      <p:sp>
        <p:nvSpPr>
          <p:cNvPr id="11" name="Rectangle 5">
            <a:extLst>
              <a:ext uri="{FF2B5EF4-FFF2-40B4-BE49-F238E27FC236}">
                <a16:creationId xmlns:a16="http://schemas.microsoft.com/office/drawing/2014/main" id="{D137259D-14B3-42B9-8294-738E497E53F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13" name="Rectangle 7">
            <a:extLst>
              <a:ext uri="{FF2B5EF4-FFF2-40B4-BE49-F238E27FC236}">
                <a16:creationId xmlns:a16="http://schemas.microsoft.com/office/drawing/2014/main" id="{923B5232-C3F7-4595-93C4-80512AEA4B3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15" name="Рисунок 14">
            <a:extLst>
              <a:ext uri="{FF2B5EF4-FFF2-40B4-BE49-F238E27FC236}">
                <a16:creationId xmlns:a16="http://schemas.microsoft.com/office/drawing/2014/main" id="{A1BE00E2-835C-4696-A812-33113091A34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1678" y="3076576"/>
            <a:ext cx="3692642" cy="2990850"/>
          </a:xfrm>
          <a:prstGeom prst="rect">
            <a:avLst/>
          </a:prstGeom>
          <a:noFill/>
          <a:ln>
            <a:noFill/>
          </a:ln>
        </p:spPr>
      </p:pic>
    </p:spTree>
    <p:extLst>
      <p:ext uri="{BB962C8B-B14F-4D97-AF65-F5344CB8AC3E}">
        <p14:creationId xmlns:p14="http://schemas.microsoft.com/office/powerpoint/2010/main" val="502509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D277C7EA-713D-401F-9E53-1997F10557FA}"/>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10</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DC037C96-BC44-4769-A3EE-F096FB7F319A}"/>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Математическая модель</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73741B-1165-494E-AF14-59D3D9B4660A}"/>
                  </a:ext>
                </a:extLst>
              </p:cNvPr>
              <p:cNvSpPr txBox="1"/>
              <p:nvPr/>
            </p:nvSpPr>
            <p:spPr>
              <a:xfrm>
                <a:off x="340360" y="784287"/>
                <a:ext cx="10515600" cy="6037935"/>
              </a:xfrm>
              <a:prstGeom prst="rect">
                <a:avLst/>
              </a:prstGeom>
              <a:noFill/>
            </p:spPr>
            <p:txBody>
              <a:bodyPr wrap="squar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Действия с векторами:</a:t>
                </a:r>
                <a:endParaRPr lang="en-US" dirty="0">
                  <a:solidFill>
                    <a:schemeClr val="accent6">
                      <a:lumMod val="50000"/>
                    </a:schemeClr>
                  </a:solidFill>
                  <a:latin typeface="Times New Roman" panose="02020603050405020304" pitchFamily="18" charset="0"/>
                  <a:cs typeface="Times New Roman" panose="02020603050405020304" pitchFamily="18" charset="0"/>
                </a:endParaRPr>
              </a:p>
              <a:p>
                <a:endParaRPr lang="en-US" dirty="0">
                  <a:solidFill>
                    <a:schemeClr val="accent6">
                      <a:lumMod val="50000"/>
                    </a:schemeClr>
                  </a:solidFill>
                  <a:latin typeface="Times New Roman" panose="02020603050405020304" pitchFamily="18" charset="0"/>
                  <a:cs typeface="Times New Roman" panose="02020603050405020304" pitchFamily="18" charset="0"/>
                </a:endParaRPr>
              </a:p>
              <a:p>
                <a:r>
                  <a:rPr lang="ru-RU" b="1" dirty="0">
                    <a:solidFill>
                      <a:schemeClr val="accent6">
                        <a:lumMod val="50000"/>
                      </a:schemeClr>
                    </a:solidFill>
                    <a:latin typeface="Times New Roman" panose="02020603050405020304" pitchFamily="18" charset="0"/>
                    <a:cs typeface="Times New Roman" panose="02020603050405020304" pitchFamily="18" charset="0"/>
                  </a:rPr>
                  <a:t>Векторное произведение всегда трехмерное.</a:t>
                </a:r>
                <a:r>
                  <a:rPr lang="ru-RU" dirty="0">
                    <a:solidFill>
                      <a:schemeClr val="accent6">
                        <a:lumMod val="50000"/>
                      </a:schemeClr>
                    </a:solidFill>
                    <a:latin typeface="Times New Roman" panose="02020603050405020304" pitchFamily="18" charset="0"/>
                    <a:cs typeface="Times New Roman" panose="02020603050405020304" pitchFamily="18" charset="0"/>
                  </a:rPr>
                  <a:t> Аналогом векторного произведения на плоскости – косое произведение.</a:t>
                </a:r>
              </a:p>
              <a:p>
                <a:endParaRPr lang="ru-RU" dirty="0">
                  <a:solidFill>
                    <a:schemeClr val="accent6">
                      <a:lumMod val="50000"/>
                    </a:schemeClr>
                  </a:solidFill>
                  <a:latin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Произведение векторов на плоскости - </a:t>
                </a:r>
                <a:r>
                  <a:rPr lang="ru-RU"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косое произведение векторов </a:t>
                </a:r>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(ориентированная площадь параллелограмма, натянутого на перемножаемые векторы:</a:t>
                </a:r>
              </a:p>
              <a:p>
                <a:pPr/>
                <a14:m>
                  <m:oMathPara xmlns:m="http://schemas.openxmlformats.org/officeDocument/2006/math">
                    <m:oMathParaPr>
                      <m:jc m:val="centerGroup"/>
                    </m:oMathParaPr>
                    <m:oMath xmlns:m="http://schemas.openxmlformats.org/officeDocument/2006/math">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e>
                      </m:acc>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e>
                      </m:acc>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dPr>
                        <m:e>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e>
                          </m:acc>
                        </m:e>
                      </m:d>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d>
                        <m:dPr>
                          <m:begChr m:val="|"/>
                          <m:end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dPr>
                        <m:e>
                          <m:acc>
                            <m:accPr>
                              <m:chr m:val="⃗"/>
                              <m:ctrlPr>
                                <a:rPr lang="ru-RU"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e>
                          </m:acc>
                        </m:e>
                      </m:d>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func>
                        <m:funcPr>
                          <m:ctrlPr>
                            <a:rPr lang="ru-RU" i="1">
                              <a:solidFill>
                                <a:schemeClr val="accent6">
                                  <a:lumMod val="50000"/>
                                </a:schemeClr>
                              </a:solidFill>
                              <a:effectLst/>
                              <a:latin typeface="Cambria Math" panose="02040503050406030204" pitchFamily="18" charset="0"/>
                              <a:ea typeface="Times New Roman" panose="02020603050405020304" pitchFamily="18" charset="0"/>
                            </a:rPr>
                          </m:ctrlPr>
                        </m:funcPr>
                        <m:fNa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𝑠𝑖𝑛</m:t>
                          </m:r>
                        </m:fName>
                        <m:e>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𝛼</m:t>
                          </m:r>
                        </m:e>
                      </m:func>
                    </m:oMath>
                  </m:oMathPara>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ru-RU" dirty="0">
                    <a:solidFill>
                      <a:schemeClr val="accent6">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«Ориентированная» площадь – имеет знак, зависящий от угла </a:t>
                </a:r>
                <a:r>
                  <a:rPr lang="en-US" dirty="0">
                    <a:solidFill>
                      <a:schemeClr val="accent6">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a:t>
                </a:r>
                <a:r>
                  <a:rPr lang="ru-RU" dirty="0">
                    <a:solidFill>
                      <a:schemeClr val="accent6">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т.е. от порядка векторов –сомножителей:</a:t>
                </a:r>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oMath>
                  </m:oMathPara>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 декартовых координатах:  </a:t>
                </a:r>
              </a:p>
              <a:p>
                <a:pPr/>
                <a14:m>
                  <m:oMathPara xmlns:m="http://schemas.openxmlformats.org/officeDocument/2006/math">
                    <m:oMathParaPr>
                      <m:jc m:val="centerGroup"/>
                    </m:oMathParaPr>
                    <m:oMath xmlns:m="http://schemas.openxmlformats.org/officeDocument/2006/math">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i="1">
                              <a:solidFill>
                                <a:schemeClr val="accent6">
                                  <a:lumMod val="50000"/>
                                </a:schemeClr>
                              </a:solidFill>
                              <a:effectLst/>
                              <a:latin typeface="Cambria Math" panose="02040503050406030204" pitchFamily="18" charset="0"/>
                            </a:rPr>
                          </m:ctrlPr>
                        </m:accPr>
                        <m:e>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US"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oMath>
                  </m:oMathPara>
                </a14:m>
                <a:endParaRPr lang="ru-RU"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Определение знака угла между векторами   </a:t>
                </a: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а)  </a:t>
                </a:r>
                <a14:m>
                  <m:oMath xmlns:m="http://schemas.openxmlformats.org/officeDocument/2006/math">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𝑦</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𝑦</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&lt;0→</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𝛼</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&lt;0</m:t>
                    </m:r>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б)  </a:t>
                </a:r>
                <a14:m>
                  <m:oMath xmlns:m="http://schemas.openxmlformats.org/officeDocument/2006/math">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𝑦</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2</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𝑥</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𝑉</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1</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𝑦</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&gt;0→</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𝛼</m:t>
                    </m:r>
                    <m:r>
                      <a:rPr lang="ru-RU" b="0" i="1" smtClean="0">
                        <a:solidFill>
                          <a:schemeClr val="accent6">
                            <a:lumMod val="50000"/>
                          </a:schemeClr>
                        </a:solidFill>
                        <a:effectLst/>
                        <a:latin typeface="Cambria Math" panose="02040503050406030204" pitchFamily="18" charset="0"/>
                        <a:ea typeface="Times New Roman" panose="02020603050405020304" pitchFamily="18" charset="0"/>
                      </a:rPr>
                      <m:t>&gt;0</m:t>
                    </m:r>
                  </m:oMath>
                </a14:m>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AutoNum type="arabicPeriod"/>
                </a:pPr>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 xmlns:a16="http://schemas.microsoft.com/office/drawing/2014/main" xmlns:a14="http://schemas.microsoft.com/office/drawing/2010/main" id="{B873741B-1165-494E-AF14-59D3D9B4660A}"/>
                  </a:ext>
                </a:extLst>
              </p:cNvPr>
              <p:cNvSpPr txBox="1">
                <a:spLocks noRot="1" noChangeAspect="1" noMove="1" noResize="1" noEditPoints="1" noAdjustHandles="1" noChangeArrowheads="1" noChangeShapeType="1" noTextEdit="1"/>
              </p:cNvSpPr>
              <p:nvPr/>
            </p:nvSpPr>
            <p:spPr>
              <a:xfrm>
                <a:off x="340360" y="784287"/>
                <a:ext cx="10515600" cy="6037935"/>
              </a:xfrm>
              <a:prstGeom prst="rect">
                <a:avLst/>
              </a:prstGeom>
              <a:blipFill rotWithShape="1">
                <a:blip r:embed="rId2"/>
                <a:stretch>
                  <a:fillRect l="-522" t="-505"/>
                </a:stretch>
              </a:blipFill>
            </p:spPr>
            <p:txBody>
              <a:bodyPr/>
              <a:lstStyle/>
              <a:p>
                <a:r>
                  <a:rPr lang="ru-RU">
                    <a:noFill/>
                  </a:rPr>
                  <a:t> </a:t>
                </a:r>
              </a:p>
            </p:txBody>
          </p:sp>
        </mc:Fallback>
      </mc:AlternateContent>
      <p:pic>
        <p:nvPicPr>
          <p:cNvPr id="8" name="Рисунок 7">
            <a:extLst>
              <a:ext uri="{FF2B5EF4-FFF2-40B4-BE49-F238E27FC236}">
                <a16:creationId xmlns:a16="http://schemas.microsoft.com/office/drawing/2014/main" id="{2E4B931C-3A96-487F-AFD5-B895BFBB3E4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799058" y="4856380"/>
            <a:ext cx="2717483" cy="1792815"/>
          </a:xfrm>
          <a:prstGeom prst="rect">
            <a:avLst/>
          </a:prstGeom>
          <a:noFill/>
          <a:ln>
            <a:noFill/>
          </a:ln>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253" y="3682779"/>
            <a:ext cx="2944707" cy="2472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4530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A344DA97-0590-463D-AC06-5FD15349CB62}"/>
              </a:ext>
            </a:extLst>
          </p:cNvPr>
          <p:cNvSpPr>
            <a:spLocks noGrp="1"/>
          </p:cNvSpPr>
          <p:nvPr>
            <p:ph type="sldNum" sz="quarter" idx="12"/>
          </p:nvPr>
        </p:nvSpPr>
        <p:spPr>
          <a:xfrm>
            <a:off x="8391525" y="5746750"/>
            <a:ext cx="2743200" cy="365125"/>
          </a:xfrm>
        </p:spPr>
        <p:txBody>
          <a:bodyPr/>
          <a:lstStyle/>
          <a:p>
            <a:fld id="{8346BD07-4451-4F99-9781-57091C949674}" type="slidenum">
              <a:rPr lang="ru-RU" smtClean="0"/>
              <a:t>11</a:t>
            </a:fld>
            <a:endParaRPr lang="ru-RU"/>
          </a:p>
        </p:txBody>
      </p:sp>
      <p:sp>
        <p:nvSpPr>
          <p:cNvPr id="6" name="Заголовок 1">
            <a:extLst>
              <a:ext uri="{FF2B5EF4-FFF2-40B4-BE49-F238E27FC236}">
                <a16:creationId xmlns:a16="http://schemas.microsoft.com/office/drawing/2014/main" id="{E105FC28-E099-4A9C-B41E-4DF3B2F99CA2}"/>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Структура данных</a:t>
            </a:r>
          </a:p>
        </p:txBody>
      </p:sp>
      <p:sp>
        <p:nvSpPr>
          <p:cNvPr id="7" name="Rectangle 1">
            <a:extLst>
              <a:ext uri="{FF2B5EF4-FFF2-40B4-BE49-F238E27FC236}">
                <a16:creationId xmlns:a16="http://schemas.microsoft.com/office/drawing/2014/main" id="{463A3489-86D4-4552-8A31-5AC12F32ACE3}"/>
              </a:ext>
            </a:extLst>
          </p:cNvPr>
          <p:cNvSpPr>
            <a:spLocks noChangeArrowheads="1"/>
          </p:cNvSpPr>
          <p:nvPr/>
        </p:nvSpPr>
        <p:spPr bwMode="auto">
          <a:xfrm>
            <a:off x="619125" y="1029454"/>
            <a:ext cx="2810435" cy="30777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solidFill>
                  <a:srgbClr val="CF8E6D"/>
                </a:solidFill>
                <a:effectLst/>
                <a:latin typeface="JetBrains Mono"/>
              </a:rPr>
              <a:t>public</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err="1">
                <a:ln>
                  <a:noFill/>
                </a:ln>
                <a:solidFill>
                  <a:srgbClr val="CF8E6D"/>
                </a:solidFill>
                <a:effectLst/>
                <a:latin typeface="JetBrains Mono"/>
              </a:rPr>
              <a:t>class</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Point </a:t>
            </a:r>
            <a:r>
              <a:rPr kumimoji="0" lang="ru-RU" altLang="ru-RU" sz="1400" b="0" i="0" u="none" strike="noStrike" cap="none" normalizeH="0" baseline="0" dirty="0" err="1">
                <a:ln>
                  <a:noFill/>
                </a:ln>
                <a:solidFill>
                  <a:srgbClr val="CF8E6D"/>
                </a:solidFill>
                <a:effectLst/>
                <a:latin typeface="JetBrains Mono"/>
              </a:rPr>
              <a:t>extends</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Point2D</a:t>
            </a:r>
            <a:endParaRPr kumimoji="0" lang="ru-RU" altLang="ru-RU" sz="1400" b="0" i="0" u="none" strike="noStrike" cap="none" normalizeH="0" baseline="0" dirty="0">
              <a:ln>
                <a:noFill/>
              </a:ln>
              <a:solidFill>
                <a:schemeClr val="tx1"/>
              </a:solidFill>
              <a:effectLst/>
              <a:latin typeface="Arial" panose="020B0604020202020204" pitchFamily="34" charset="0"/>
            </a:endParaRPr>
          </a:p>
        </p:txBody>
      </p:sp>
      <p:graphicFrame>
        <p:nvGraphicFramePr>
          <p:cNvPr id="8" name="Таблица 8">
            <a:extLst>
              <a:ext uri="{FF2B5EF4-FFF2-40B4-BE49-F238E27FC236}">
                <a16:creationId xmlns:a16="http://schemas.microsoft.com/office/drawing/2014/main" id="{CA6E6DEC-A84A-4DCD-9AB7-04546D827D5C}"/>
              </a:ext>
            </a:extLst>
          </p:cNvPr>
          <p:cNvGraphicFramePr>
            <a:graphicFrameLocks noGrp="1"/>
          </p:cNvGraphicFramePr>
          <p:nvPr>
            <p:extLst>
              <p:ext uri="{D42A27DB-BD31-4B8C-83A1-F6EECF244321}">
                <p14:modId xmlns:p14="http://schemas.microsoft.com/office/powerpoint/2010/main" val="168596480"/>
              </p:ext>
            </p:extLst>
          </p:nvPr>
        </p:nvGraphicFramePr>
        <p:xfrm>
          <a:off x="3740337" y="812502"/>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47232180"/>
                    </a:ext>
                  </a:extLst>
                </a:gridCol>
                <a:gridCol w="4064000">
                  <a:extLst>
                    <a:ext uri="{9D8B030D-6E8A-4147-A177-3AD203B41FA5}">
                      <a16:colId xmlns:a16="http://schemas.microsoft.com/office/drawing/2014/main" val="576536308"/>
                    </a:ext>
                  </a:extLst>
                </a:gridCol>
              </a:tblGrid>
              <a:tr h="370840">
                <a:tc>
                  <a:txBody>
                    <a:bodyPr/>
                    <a:lstStyle/>
                    <a:p>
                      <a:r>
                        <a:rPr lang="ru-RU" dirty="0"/>
                        <a:t>Координата </a:t>
                      </a:r>
                      <a:r>
                        <a:rPr lang="en-US" dirty="0"/>
                        <a:t>X</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Координата </a:t>
                      </a:r>
                      <a:r>
                        <a:rPr lang="en-US" dirty="0"/>
                        <a:t>Y</a:t>
                      </a:r>
                      <a:endParaRPr lang="ru-RU" dirty="0"/>
                    </a:p>
                  </a:txBody>
                  <a:tcPr/>
                </a:tc>
                <a:extLst>
                  <a:ext uri="{0D108BD9-81ED-4DB2-BD59-A6C34878D82A}">
                    <a16:rowId xmlns:a16="http://schemas.microsoft.com/office/drawing/2014/main" val="476608145"/>
                  </a:ext>
                </a:extLst>
              </a:tr>
              <a:tr h="370840">
                <a:tc>
                  <a:txBody>
                    <a:bodyPr/>
                    <a:lstStyle/>
                    <a:p>
                      <a:r>
                        <a:rPr lang="en-US" dirty="0"/>
                        <a:t>double x</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double y</a:t>
                      </a:r>
                      <a:endParaRPr lang="ru-RU" dirty="0"/>
                    </a:p>
                  </a:txBody>
                  <a:tcPr/>
                </a:tc>
                <a:extLst>
                  <a:ext uri="{0D108BD9-81ED-4DB2-BD59-A6C34878D82A}">
                    <a16:rowId xmlns:a16="http://schemas.microsoft.com/office/drawing/2014/main" val="2103852356"/>
                  </a:ext>
                </a:extLst>
              </a:tr>
            </a:tbl>
          </a:graphicData>
        </a:graphic>
      </p:graphicFrame>
      <p:sp>
        <p:nvSpPr>
          <p:cNvPr id="9" name="TextBox 8">
            <a:extLst>
              <a:ext uri="{FF2B5EF4-FFF2-40B4-BE49-F238E27FC236}">
                <a16:creationId xmlns:a16="http://schemas.microsoft.com/office/drawing/2014/main" id="{4E542CA5-5584-4772-A0C8-D7370E1C87D1}"/>
              </a:ext>
            </a:extLst>
          </p:cNvPr>
          <p:cNvSpPr txBox="1"/>
          <p:nvPr/>
        </p:nvSpPr>
        <p:spPr>
          <a:xfrm>
            <a:off x="779450" y="1337231"/>
            <a:ext cx="2489784" cy="369332"/>
          </a:xfrm>
          <a:prstGeom prst="rect">
            <a:avLst/>
          </a:prstGeom>
          <a:noFill/>
        </p:spPr>
        <p:txBody>
          <a:bodyPr wrap="none" rtlCol="0">
            <a:spAutoFit/>
          </a:bodyPr>
          <a:lstStyle/>
          <a:p>
            <a:r>
              <a:rPr lang="ru-RU" dirty="0"/>
              <a:t>Хранит координаты </a:t>
            </a:r>
            <a:r>
              <a:rPr lang="en-US" dirty="0"/>
              <a:t>x, y</a:t>
            </a:r>
            <a:endParaRPr lang="ru-RU" dirty="0"/>
          </a:p>
        </p:txBody>
      </p:sp>
      <p:sp>
        <p:nvSpPr>
          <p:cNvPr id="11" name="Rectangle 3">
            <a:extLst>
              <a:ext uri="{FF2B5EF4-FFF2-40B4-BE49-F238E27FC236}">
                <a16:creationId xmlns:a16="http://schemas.microsoft.com/office/drawing/2014/main" id="{AED9C9C2-F957-45FB-A6E6-676AB4391893}"/>
              </a:ext>
            </a:extLst>
          </p:cNvPr>
          <p:cNvSpPr>
            <a:spLocks noChangeArrowheads="1"/>
          </p:cNvSpPr>
          <p:nvPr/>
        </p:nvSpPr>
        <p:spPr bwMode="auto">
          <a:xfrm>
            <a:off x="631826" y="1877223"/>
            <a:ext cx="2810435" cy="523220"/>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solidFill>
                  <a:srgbClr val="CF8E6D"/>
                </a:solidFill>
                <a:effectLst/>
                <a:latin typeface="JetBrains Mono"/>
              </a:rPr>
              <a:t>public</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err="1">
                <a:ln>
                  <a:noFill/>
                </a:ln>
                <a:solidFill>
                  <a:srgbClr val="56A8F5"/>
                </a:solidFill>
                <a:effectLst/>
                <a:latin typeface="JetBrains Mono"/>
              </a:rPr>
              <a:t>OurRectangle</a:t>
            </a:r>
            <a:r>
              <a:rPr kumimoji="0" lang="ru-RU" altLang="ru-RU" sz="1400" b="0" i="0" u="none" strike="noStrike" cap="none" normalizeH="0" baseline="0" dirty="0">
                <a:ln>
                  <a:noFill/>
                </a:ln>
                <a:solidFill>
                  <a:srgbClr val="BCBEC4"/>
                </a:solidFill>
                <a:effectLst/>
                <a:latin typeface="JetBrains Mono"/>
              </a:rPr>
              <a:t>(Point vertex1, Point vertex2, Point point3)</a:t>
            </a:r>
            <a:endParaRPr kumimoji="0" lang="ru-RU" altLang="ru-RU" sz="14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Таблица 12">
            <a:extLst>
              <a:ext uri="{FF2B5EF4-FFF2-40B4-BE49-F238E27FC236}">
                <a16:creationId xmlns:a16="http://schemas.microsoft.com/office/drawing/2014/main" id="{BBAFD5CE-C326-4B19-B7A4-9DD9B59A290B}"/>
              </a:ext>
            </a:extLst>
          </p:cNvPr>
          <p:cNvGraphicFramePr>
            <a:graphicFrameLocks noGrp="1"/>
          </p:cNvGraphicFramePr>
          <p:nvPr>
            <p:extLst>
              <p:ext uri="{D42A27DB-BD31-4B8C-83A1-F6EECF244321}">
                <p14:modId xmlns:p14="http://schemas.microsoft.com/office/powerpoint/2010/main" val="2684930222"/>
              </p:ext>
            </p:extLst>
          </p:nvPr>
        </p:nvGraphicFramePr>
        <p:xfrm>
          <a:off x="3740337" y="1827970"/>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27726757"/>
                    </a:ext>
                  </a:extLst>
                </a:gridCol>
                <a:gridCol w="2709333">
                  <a:extLst>
                    <a:ext uri="{9D8B030D-6E8A-4147-A177-3AD203B41FA5}">
                      <a16:colId xmlns:a16="http://schemas.microsoft.com/office/drawing/2014/main" val="3277781874"/>
                    </a:ext>
                  </a:extLst>
                </a:gridCol>
                <a:gridCol w="2709333">
                  <a:extLst>
                    <a:ext uri="{9D8B030D-6E8A-4147-A177-3AD203B41FA5}">
                      <a16:colId xmlns:a16="http://schemas.microsoft.com/office/drawing/2014/main" val="341393383"/>
                    </a:ext>
                  </a:extLst>
                </a:gridCol>
              </a:tblGrid>
              <a:tr h="370840">
                <a:tc>
                  <a:txBody>
                    <a:bodyPr/>
                    <a:lstStyle/>
                    <a:p>
                      <a:r>
                        <a:rPr lang="ru-RU" dirty="0"/>
                        <a:t>Вершина 1</a:t>
                      </a:r>
                    </a:p>
                  </a:txBody>
                  <a:tcPr/>
                </a:tc>
                <a:tc>
                  <a:txBody>
                    <a:bodyPr/>
                    <a:lstStyle/>
                    <a:p>
                      <a:r>
                        <a:rPr lang="ru-RU" dirty="0"/>
                        <a:t>Вершина 2</a:t>
                      </a:r>
                    </a:p>
                  </a:txBody>
                  <a:tcPr/>
                </a:tc>
                <a:tc>
                  <a:txBody>
                    <a:bodyPr/>
                    <a:lstStyle/>
                    <a:p>
                      <a:r>
                        <a:rPr lang="ru-RU" dirty="0"/>
                        <a:t>Точка</a:t>
                      </a:r>
                    </a:p>
                  </a:txBody>
                  <a:tcPr/>
                </a:tc>
                <a:extLst>
                  <a:ext uri="{0D108BD9-81ED-4DB2-BD59-A6C34878D82A}">
                    <a16:rowId xmlns:a16="http://schemas.microsoft.com/office/drawing/2014/main" val="1089367932"/>
                  </a:ext>
                </a:extLst>
              </a:tr>
              <a:tr h="370840">
                <a:tc>
                  <a:txBody>
                    <a:bodyPr/>
                    <a:lstStyle/>
                    <a:p>
                      <a:r>
                        <a:rPr lang="en-US" dirty="0"/>
                        <a:t>Point vertex1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vertex2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point3 (double </a:t>
                      </a:r>
                      <a:r>
                        <a:rPr lang="en-US" dirty="0" err="1"/>
                        <a:t>x,y</a:t>
                      </a:r>
                      <a:r>
                        <a:rPr lang="en-US" dirty="0"/>
                        <a:t>)</a:t>
                      </a:r>
                      <a:endParaRPr lang="ru-RU" dirty="0"/>
                    </a:p>
                  </a:txBody>
                  <a:tcPr/>
                </a:tc>
                <a:extLst>
                  <a:ext uri="{0D108BD9-81ED-4DB2-BD59-A6C34878D82A}">
                    <a16:rowId xmlns:a16="http://schemas.microsoft.com/office/drawing/2014/main" val="3613976007"/>
                  </a:ext>
                </a:extLst>
              </a:tr>
            </a:tbl>
          </a:graphicData>
        </a:graphic>
      </p:graphicFrame>
      <p:sp>
        <p:nvSpPr>
          <p:cNvPr id="13" name="TextBox 12">
            <a:extLst>
              <a:ext uri="{FF2B5EF4-FFF2-40B4-BE49-F238E27FC236}">
                <a16:creationId xmlns:a16="http://schemas.microsoft.com/office/drawing/2014/main" id="{4EEDEF8C-13CC-4632-A814-907201E34158}"/>
              </a:ext>
            </a:extLst>
          </p:cNvPr>
          <p:cNvSpPr txBox="1"/>
          <p:nvPr/>
        </p:nvSpPr>
        <p:spPr>
          <a:xfrm>
            <a:off x="463535" y="2400443"/>
            <a:ext cx="3147015" cy="369332"/>
          </a:xfrm>
          <a:prstGeom prst="rect">
            <a:avLst/>
          </a:prstGeom>
          <a:noFill/>
        </p:spPr>
        <p:txBody>
          <a:bodyPr wrap="none" rtlCol="0">
            <a:spAutoFit/>
          </a:bodyPr>
          <a:lstStyle/>
          <a:p>
            <a:r>
              <a:rPr lang="ru-RU" dirty="0"/>
              <a:t>Хранит точки прямоугольника</a:t>
            </a:r>
          </a:p>
        </p:txBody>
      </p:sp>
      <p:sp>
        <p:nvSpPr>
          <p:cNvPr id="14" name="Rectangle 4">
            <a:extLst>
              <a:ext uri="{FF2B5EF4-FFF2-40B4-BE49-F238E27FC236}">
                <a16:creationId xmlns:a16="http://schemas.microsoft.com/office/drawing/2014/main" id="{6825D3BB-77CE-46BD-918B-478D3B3070B0}"/>
              </a:ext>
            </a:extLst>
          </p:cNvPr>
          <p:cNvSpPr>
            <a:spLocks noChangeArrowheads="1"/>
          </p:cNvSpPr>
          <p:nvPr/>
        </p:nvSpPr>
        <p:spPr bwMode="auto">
          <a:xfrm>
            <a:off x="619123" y="4691157"/>
            <a:ext cx="2810435" cy="523220"/>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solidFill>
                  <a:srgbClr val="CF8E6D"/>
                </a:solidFill>
                <a:effectLst/>
                <a:latin typeface="JetBrains Mono"/>
              </a:rPr>
              <a:t>private</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List&lt;</a:t>
            </a:r>
            <a:r>
              <a:rPr kumimoji="0" lang="ru-RU" altLang="ru-RU" sz="1400" b="0" i="0" u="none" strike="noStrike" cap="none" normalizeH="0" baseline="0" dirty="0" err="1">
                <a:ln>
                  <a:noFill/>
                </a:ln>
                <a:solidFill>
                  <a:srgbClr val="BCBEC4"/>
                </a:solidFill>
                <a:effectLst/>
                <a:latin typeface="JetBrains Mono"/>
              </a:rPr>
              <a:t>OurRectangle</a:t>
            </a:r>
            <a:r>
              <a:rPr kumimoji="0" lang="ru-RU" altLang="ru-RU" sz="1400" b="0" i="0" u="none" strike="noStrike" cap="none" normalizeH="0" baseline="0" dirty="0">
                <a:ln>
                  <a:noFill/>
                </a:ln>
                <a:solidFill>
                  <a:srgbClr val="BCBEC4"/>
                </a:solidFill>
                <a:effectLst/>
                <a:latin typeface="JetBrains Mono"/>
              </a:rPr>
              <a:t>&gt; </a:t>
            </a:r>
            <a:r>
              <a:rPr kumimoji="0" lang="ru-RU" altLang="ru-RU" sz="1400" b="0" i="0" u="none" strike="noStrike" cap="none" normalizeH="0" baseline="0" dirty="0" err="1">
                <a:ln>
                  <a:noFill/>
                </a:ln>
                <a:solidFill>
                  <a:srgbClr val="C77DBB"/>
                </a:solidFill>
                <a:effectLst/>
                <a:latin typeface="JetBrains Mono"/>
              </a:rPr>
              <a:t>rectangles</a:t>
            </a:r>
            <a:r>
              <a:rPr kumimoji="0" lang="ru-RU" altLang="ru-RU" sz="1400" b="0" i="0" u="none" strike="noStrike" cap="none" normalizeH="0" baseline="0" dirty="0">
                <a:ln>
                  <a:noFill/>
                </a:ln>
                <a:solidFill>
                  <a:srgbClr val="C77DBB"/>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 </a:t>
            </a:r>
            <a:r>
              <a:rPr kumimoji="0" lang="ru-RU" altLang="ru-RU" sz="1400" b="0" i="0" u="none" strike="noStrike" cap="none" normalizeH="0" baseline="0" dirty="0" err="1">
                <a:ln>
                  <a:noFill/>
                </a:ln>
                <a:solidFill>
                  <a:srgbClr val="CF8E6D"/>
                </a:solidFill>
                <a:effectLst/>
                <a:latin typeface="JetBrains Mono"/>
              </a:rPr>
              <a:t>new</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err="1">
                <a:ln>
                  <a:noFill/>
                </a:ln>
                <a:solidFill>
                  <a:srgbClr val="BCBEC4"/>
                </a:solidFill>
                <a:effectLst/>
                <a:latin typeface="JetBrains Mono"/>
              </a:rPr>
              <a:t>ArrayList</a:t>
            </a:r>
            <a:r>
              <a:rPr kumimoji="0" lang="ru-RU" altLang="ru-RU" sz="1400" b="0" i="0" u="none" strike="noStrike" cap="none" normalizeH="0" baseline="0" dirty="0">
                <a:ln>
                  <a:noFill/>
                </a:ln>
                <a:solidFill>
                  <a:srgbClr val="BCBEC4"/>
                </a:solidFill>
                <a:effectLst/>
                <a:latin typeface="JetBrains Mono"/>
              </a:rPr>
              <a:t>&lt;&gt;();</a:t>
            </a:r>
            <a:endParaRPr kumimoji="0" lang="ru-RU" altLang="ru-RU" sz="1400" b="0" i="0" u="none" strike="noStrike" cap="none" normalizeH="0" baseline="0" dirty="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F68B4CC4-0297-4747-BC61-A4D7372F0D82}"/>
              </a:ext>
            </a:extLst>
          </p:cNvPr>
          <p:cNvSpPr>
            <a:spLocks noChangeArrowheads="1"/>
          </p:cNvSpPr>
          <p:nvPr/>
        </p:nvSpPr>
        <p:spPr bwMode="auto">
          <a:xfrm>
            <a:off x="619124" y="3104725"/>
            <a:ext cx="2810435" cy="738664"/>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400" b="0" i="0" u="none" strike="noStrike" cap="none" normalizeH="0" baseline="0" dirty="0" err="1">
                <a:ln>
                  <a:noFill/>
                </a:ln>
                <a:solidFill>
                  <a:srgbClr val="CF8E6D"/>
                </a:solidFill>
                <a:effectLst/>
                <a:latin typeface="JetBrains Mono"/>
              </a:rPr>
              <a:t>private</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List&lt;Point&gt; </a:t>
            </a:r>
            <a:r>
              <a:rPr kumimoji="0" lang="ru-RU" altLang="ru-RU" sz="1400" b="0" i="0" u="none" strike="noStrike" cap="none" normalizeH="0" baseline="0" dirty="0" err="1">
                <a:ln>
                  <a:noFill/>
                </a:ln>
                <a:solidFill>
                  <a:srgbClr val="C77DBB"/>
                </a:solidFill>
                <a:effectLst/>
                <a:latin typeface="JetBrains Mono"/>
              </a:rPr>
              <a:t>onePairCoordinate</a:t>
            </a:r>
            <a:r>
              <a:rPr kumimoji="0" lang="ru-RU" altLang="ru-RU" sz="1400" b="0" i="0" u="none" strike="noStrike" cap="none" normalizeH="0" baseline="0" dirty="0">
                <a:ln>
                  <a:noFill/>
                </a:ln>
                <a:solidFill>
                  <a:srgbClr val="C77DBB"/>
                </a:solidFill>
                <a:effectLst/>
                <a:latin typeface="JetBrains Mono"/>
              </a:rPr>
              <a:t> </a:t>
            </a:r>
            <a:r>
              <a:rPr kumimoji="0" lang="ru-RU" altLang="ru-RU" sz="1400" b="0" i="0" u="none" strike="noStrike" cap="none" normalizeH="0" baseline="0" dirty="0">
                <a:ln>
                  <a:noFill/>
                </a:ln>
                <a:solidFill>
                  <a:srgbClr val="BCBEC4"/>
                </a:solidFill>
                <a:effectLst/>
                <a:latin typeface="JetBrains Mono"/>
              </a:rPr>
              <a:t>= </a:t>
            </a:r>
            <a:r>
              <a:rPr kumimoji="0" lang="ru-RU" altLang="ru-RU" sz="1400" b="0" i="0" u="none" strike="noStrike" cap="none" normalizeH="0" baseline="0" dirty="0" err="1">
                <a:ln>
                  <a:noFill/>
                </a:ln>
                <a:solidFill>
                  <a:srgbClr val="CF8E6D"/>
                </a:solidFill>
                <a:effectLst/>
                <a:latin typeface="JetBrains Mono"/>
              </a:rPr>
              <a:t>new</a:t>
            </a:r>
            <a:r>
              <a:rPr kumimoji="0" lang="ru-RU" altLang="ru-RU" sz="1400" b="0" i="0" u="none" strike="noStrike" cap="none" normalizeH="0" baseline="0" dirty="0">
                <a:ln>
                  <a:noFill/>
                </a:ln>
                <a:solidFill>
                  <a:srgbClr val="CF8E6D"/>
                </a:solidFill>
                <a:effectLst/>
                <a:latin typeface="JetBrains Mono"/>
              </a:rPr>
              <a:t> </a:t>
            </a:r>
            <a:r>
              <a:rPr kumimoji="0" lang="ru-RU" altLang="ru-RU" sz="1400" b="0" i="0" u="none" strike="noStrike" cap="none" normalizeH="0" baseline="0" dirty="0" err="1">
                <a:ln>
                  <a:noFill/>
                </a:ln>
                <a:solidFill>
                  <a:srgbClr val="BCBEC4"/>
                </a:solidFill>
                <a:effectLst/>
                <a:latin typeface="JetBrains Mono"/>
              </a:rPr>
              <a:t>ArrayList</a:t>
            </a:r>
            <a:r>
              <a:rPr kumimoji="0" lang="ru-RU" altLang="ru-RU" sz="1400" b="0" i="0" u="none" strike="noStrike" cap="none" normalizeH="0" baseline="0" dirty="0">
                <a:ln>
                  <a:noFill/>
                </a:ln>
                <a:solidFill>
                  <a:srgbClr val="BCBEC4"/>
                </a:solidFill>
                <a:effectLst/>
                <a:latin typeface="JetBrains Mono"/>
              </a:rPr>
              <a:t>&lt;&gt;();</a:t>
            </a:r>
            <a:endParaRPr kumimoji="0" lang="ru-RU" altLang="ru-RU" sz="1400" b="0" i="0" u="none" strike="noStrike" cap="none" normalizeH="0" baseline="0" dirty="0">
              <a:ln>
                <a:noFill/>
              </a:ln>
              <a:solidFill>
                <a:schemeClr val="tx1"/>
              </a:solidFill>
              <a:effectLst/>
              <a:latin typeface="Arial" panose="020B0604020202020204" pitchFamily="34" charset="0"/>
            </a:endParaRPr>
          </a:p>
        </p:txBody>
      </p:sp>
      <p:cxnSp>
        <p:nvCxnSpPr>
          <p:cNvPr id="17" name="Соединитель: уступ 16">
            <a:extLst>
              <a:ext uri="{FF2B5EF4-FFF2-40B4-BE49-F238E27FC236}">
                <a16:creationId xmlns:a16="http://schemas.microsoft.com/office/drawing/2014/main" id="{CDAE6E5C-8F83-47FF-84FA-D1FB3F423E49}"/>
              </a:ext>
            </a:extLst>
          </p:cNvPr>
          <p:cNvCxnSpPr>
            <a:stCxn id="7" idx="1"/>
            <a:endCxn id="15" idx="1"/>
          </p:cNvCxnSpPr>
          <p:nvPr/>
        </p:nvCxnSpPr>
        <p:spPr>
          <a:xfrm rot="10800000" flipV="1">
            <a:off x="619125" y="1183343"/>
            <a:ext cx="1" cy="2290714"/>
          </a:xfrm>
          <a:prstGeom prst="bentConnector3">
            <a:avLst>
              <a:gd name="adj1" fmla="val 22860100000"/>
            </a:avLst>
          </a:prstGeom>
          <a:ln>
            <a:tailEnd type="triangle"/>
          </a:ln>
        </p:spPr>
        <p:style>
          <a:lnRef idx="3">
            <a:schemeClr val="dk1"/>
          </a:lnRef>
          <a:fillRef idx="0">
            <a:schemeClr val="dk1"/>
          </a:fillRef>
          <a:effectRef idx="2">
            <a:schemeClr val="dk1"/>
          </a:effectRef>
          <a:fontRef idx="minor">
            <a:schemeClr val="tx1"/>
          </a:fontRef>
        </p:style>
      </p:cxnSp>
      <p:graphicFrame>
        <p:nvGraphicFramePr>
          <p:cNvPr id="18" name="Таблица 18">
            <a:extLst>
              <a:ext uri="{FF2B5EF4-FFF2-40B4-BE49-F238E27FC236}">
                <a16:creationId xmlns:a16="http://schemas.microsoft.com/office/drawing/2014/main" id="{5DF684FA-29CB-49D8-9A68-14B7126EC958}"/>
              </a:ext>
            </a:extLst>
          </p:cNvPr>
          <p:cNvGraphicFramePr>
            <a:graphicFrameLocks noGrp="1"/>
          </p:cNvGraphicFramePr>
          <p:nvPr>
            <p:extLst>
              <p:ext uri="{D42A27DB-BD31-4B8C-83A1-F6EECF244321}">
                <p14:modId xmlns:p14="http://schemas.microsoft.com/office/powerpoint/2010/main" val="102888007"/>
              </p:ext>
            </p:extLst>
          </p:nvPr>
        </p:nvGraphicFramePr>
        <p:xfrm>
          <a:off x="3740336" y="2846659"/>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12992030"/>
                    </a:ext>
                  </a:extLst>
                </a:gridCol>
                <a:gridCol w="2709333">
                  <a:extLst>
                    <a:ext uri="{9D8B030D-6E8A-4147-A177-3AD203B41FA5}">
                      <a16:colId xmlns:a16="http://schemas.microsoft.com/office/drawing/2014/main" val="2019233212"/>
                    </a:ext>
                  </a:extLst>
                </a:gridCol>
                <a:gridCol w="2709333">
                  <a:extLst>
                    <a:ext uri="{9D8B030D-6E8A-4147-A177-3AD203B41FA5}">
                      <a16:colId xmlns:a16="http://schemas.microsoft.com/office/drawing/2014/main" val="3124110444"/>
                    </a:ext>
                  </a:extLst>
                </a:gridCol>
              </a:tblGrid>
              <a:tr h="370840">
                <a:tc>
                  <a:txBody>
                    <a:bodyPr/>
                    <a:lstStyle/>
                    <a:p>
                      <a:endParaRPr lang="ru-RU" dirty="0"/>
                    </a:p>
                  </a:txBody>
                  <a:tcPr/>
                </a:tc>
                <a:tc>
                  <a:txBody>
                    <a:bodyPr/>
                    <a:lstStyle/>
                    <a:p>
                      <a:r>
                        <a:rPr lang="ru-RU" dirty="0"/>
                        <a:t>Координата </a:t>
                      </a:r>
                      <a:r>
                        <a:rPr lang="en-US" dirty="0"/>
                        <a:t>X</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Координата </a:t>
                      </a:r>
                      <a:r>
                        <a:rPr lang="en-US" dirty="0"/>
                        <a:t>Y</a:t>
                      </a:r>
                      <a:endParaRPr lang="ru-RU" dirty="0"/>
                    </a:p>
                  </a:txBody>
                  <a:tcPr/>
                </a:tc>
                <a:extLst>
                  <a:ext uri="{0D108BD9-81ED-4DB2-BD59-A6C34878D82A}">
                    <a16:rowId xmlns:a16="http://schemas.microsoft.com/office/drawing/2014/main" val="3455627721"/>
                  </a:ext>
                </a:extLst>
              </a:tr>
              <a:tr h="370840">
                <a:tc>
                  <a:txBody>
                    <a:bodyPr/>
                    <a:lstStyle/>
                    <a:p>
                      <a:r>
                        <a:rPr lang="ru-RU" dirty="0"/>
                        <a:t>Точка 1</a:t>
                      </a:r>
                    </a:p>
                  </a:txBody>
                  <a:tcPr/>
                </a:tc>
                <a:tc>
                  <a:txBody>
                    <a:bodyPr/>
                    <a:lstStyle/>
                    <a:p>
                      <a:r>
                        <a:rPr lang="en-US" dirty="0"/>
                        <a:t>x1</a:t>
                      </a:r>
                      <a:endParaRPr lang="ru-RU" dirty="0"/>
                    </a:p>
                  </a:txBody>
                  <a:tcPr/>
                </a:tc>
                <a:tc>
                  <a:txBody>
                    <a:bodyPr/>
                    <a:lstStyle/>
                    <a:p>
                      <a:r>
                        <a:rPr lang="en-US" dirty="0"/>
                        <a:t>y1</a:t>
                      </a:r>
                      <a:endParaRPr lang="ru-RU" dirty="0"/>
                    </a:p>
                  </a:txBody>
                  <a:tcPr/>
                </a:tc>
                <a:extLst>
                  <a:ext uri="{0D108BD9-81ED-4DB2-BD59-A6C34878D82A}">
                    <a16:rowId xmlns:a16="http://schemas.microsoft.com/office/drawing/2014/main" val="2600334826"/>
                  </a:ext>
                </a:extLst>
              </a:tr>
              <a:tr h="370840">
                <a:tc>
                  <a:txBody>
                    <a:bodyPr/>
                    <a:lstStyle/>
                    <a:p>
                      <a:r>
                        <a:rPr lang="ru-RU" dirty="0"/>
                        <a:t>Точка 2</a:t>
                      </a:r>
                    </a:p>
                  </a:txBody>
                  <a:tcPr/>
                </a:tc>
                <a:tc>
                  <a:txBody>
                    <a:bodyPr/>
                    <a:lstStyle/>
                    <a:p>
                      <a:r>
                        <a:rPr lang="en-US" dirty="0"/>
                        <a:t>x2</a:t>
                      </a:r>
                      <a:endParaRPr lang="ru-RU" dirty="0"/>
                    </a:p>
                  </a:txBody>
                  <a:tcPr/>
                </a:tc>
                <a:tc>
                  <a:txBody>
                    <a:bodyPr/>
                    <a:lstStyle/>
                    <a:p>
                      <a:r>
                        <a:rPr lang="en-US" dirty="0"/>
                        <a:t>y2</a:t>
                      </a:r>
                      <a:endParaRPr lang="ru-RU" dirty="0"/>
                    </a:p>
                  </a:txBody>
                  <a:tcPr/>
                </a:tc>
                <a:extLst>
                  <a:ext uri="{0D108BD9-81ED-4DB2-BD59-A6C34878D82A}">
                    <a16:rowId xmlns:a16="http://schemas.microsoft.com/office/drawing/2014/main" val="3252446408"/>
                  </a:ext>
                </a:extLst>
              </a:tr>
              <a:tr h="370840">
                <a:tc>
                  <a:txBody>
                    <a:bodyPr/>
                    <a:lstStyle/>
                    <a:p>
                      <a:r>
                        <a:rPr lang="ru-RU" dirty="0"/>
                        <a:t>Точка </a:t>
                      </a:r>
                      <a:r>
                        <a:rPr lang="en-US" dirty="0"/>
                        <a:t>N</a:t>
                      </a:r>
                      <a:endParaRPr lang="ru-RU" dirty="0"/>
                    </a:p>
                  </a:txBody>
                  <a:tcPr/>
                </a:tc>
                <a:tc>
                  <a:txBody>
                    <a:bodyPr/>
                    <a:lstStyle/>
                    <a:p>
                      <a:r>
                        <a:rPr lang="en-US" dirty="0" err="1"/>
                        <a:t>xn</a:t>
                      </a:r>
                      <a:endParaRPr lang="ru-RU" dirty="0"/>
                    </a:p>
                  </a:txBody>
                  <a:tcPr/>
                </a:tc>
                <a:tc>
                  <a:txBody>
                    <a:bodyPr/>
                    <a:lstStyle/>
                    <a:p>
                      <a:r>
                        <a:rPr lang="en-US" dirty="0" err="1"/>
                        <a:t>yn</a:t>
                      </a:r>
                      <a:endParaRPr lang="ru-RU" dirty="0"/>
                    </a:p>
                  </a:txBody>
                  <a:tcPr/>
                </a:tc>
                <a:extLst>
                  <a:ext uri="{0D108BD9-81ED-4DB2-BD59-A6C34878D82A}">
                    <a16:rowId xmlns:a16="http://schemas.microsoft.com/office/drawing/2014/main" val="972281540"/>
                  </a:ext>
                </a:extLst>
              </a:tr>
            </a:tbl>
          </a:graphicData>
        </a:graphic>
      </p:graphicFrame>
      <p:graphicFrame>
        <p:nvGraphicFramePr>
          <p:cNvPr id="19" name="Таблица 19">
            <a:extLst>
              <a:ext uri="{FF2B5EF4-FFF2-40B4-BE49-F238E27FC236}">
                <a16:creationId xmlns:a16="http://schemas.microsoft.com/office/drawing/2014/main" id="{BB608FAF-E02B-4972-BAD0-9C06C3541EF2}"/>
              </a:ext>
            </a:extLst>
          </p:cNvPr>
          <p:cNvGraphicFramePr>
            <a:graphicFrameLocks noGrp="1"/>
          </p:cNvGraphicFramePr>
          <p:nvPr>
            <p:extLst>
              <p:ext uri="{D42A27DB-BD31-4B8C-83A1-F6EECF244321}">
                <p14:modId xmlns:p14="http://schemas.microsoft.com/office/powerpoint/2010/main" val="3450534883"/>
              </p:ext>
            </p:extLst>
          </p:nvPr>
        </p:nvGraphicFramePr>
        <p:xfrm>
          <a:off x="3740335" y="4634230"/>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54180972"/>
                    </a:ext>
                  </a:extLst>
                </a:gridCol>
                <a:gridCol w="2032000">
                  <a:extLst>
                    <a:ext uri="{9D8B030D-6E8A-4147-A177-3AD203B41FA5}">
                      <a16:colId xmlns:a16="http://schemas.microsoft.com/office/drawing/2014/main" val="3069009157"/>
                    </a:ext>
                  </a:extLst>
                </a:gridCol>
                <a:gridCol w="2032000">
                  <a:extLst>
                    <a:ext uri="{9D8B030D-6E8A-4147-A177-3AD203B41FA5}">
                      <a16:colId xmlns:a16="http://schemas.microsoft.com/office/drawing/2014/main" val="1836683615"/>
                    </a:ext>
                  </a:extLst>
                </a:gridCol>
                <a:gridCol w="2032000">
                  <a:extLst>
                    <a:ext uri="{9D8B030D-6E8A-4147-A177-3AD203B41FA5}">
                      <a16:colId xmlns:a16="http://schemas.microsoft.com/office/drawing/2014/main" val="1646302838"/>
                    </a:ext>
                  </a:extLst>
                </a:gridCol>
              </a:tblGrid>
              <a:tr h="370840">
                <a:tc>
                  <a:txBody>
                    <a:bodyPr/>
                    <a:lstStyle/>
                    <a:p>
                      <a:endParaRPr lang="ru-RU"/>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Вершина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Вершина 2</a:t>
                      </a:r>
                    </a:p>
                  </a:txBody>
                  <a:tcPr/>
                </a:tc>
                <a:tc>
                  <a:txBody>
                    <a:bodyPr/>
                    <a:lstStyle/>
                    <a:p>
                      <a:r>
                        <a:rPr lang="ru-RU" dirty="0"/>
                        <a:t>Точка</a:t>
                      </a:r>
                    </a:p>
                  </a:txBody>
                  <a:tcPr/>
                </a:tc>
                <a:extLst>
                  <a:ext uri="{0D108BD9-81ED-4DB2-BD59-A6C34878D82A}">
                    <a16:rowId xmlns:a16="http://schemas.microsoft.com/office/drawing/2014/main" val="1175590279"/>
                  </a:ext>
                </a:extLst>
              </a:tr>
              <a:tr h="370840">
                <a:tc>
                  <a:txBody>
                    <a:bodyPr/>
                    <a:lstStyle/>
                    <a:p>
                      <a:r>
                        <a:rPr lang="ru-RU" dirty="0"/>
                        <a:t>Прямоугольник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extLst>
                  <a:ext uri="{0D108BD9-81ED-4DB2-BD59-A6C34878D82A}">
                    <a16:rowId xmlns:a16="http://schemas.microsoft.com/office/drawing/2014/main" val="3434738322"/>
                  </a:ext>
                </a:extLst>
              </a:tr>
              <a:tr h="370840">
                <a:tc>
                  <a:txBody>
                    <a:bodyPr/>
                    <a:lstStyle/>
                    <a:p>
                      <a:r>
                        <a:rPr lang="ru-RU" dirty="0"/>
                        <a:t>Прямоугольник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extLst>
                  <a:ext uri="{0D108BD9-81ED-4DB2-BD59-A6C34878D82A}">
                    <a16:rowId xmlns:a16="http://schemas.microsoft.com/office/drawing/2014/main" val="2818198008"/>
                  </a:ext>
                </a:extLst>
              </a:tr>
              <a:tr h="370840">
                <a:tc>
                  <a:txBody>
                    <a:bodyPr/>
                    <a:lstStyle/>
                    <a:p>
                      <a:r>
                        <a:rPr lang="ru-RU" dirty="0"/>
                        <a:t>Прямоугольник </a:t>
                      </a:r>
                      <a:r>
                        <a:rPr lang="en-US" dirty="0"/>
                        <a:t>N</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(double </a:t>
                      </a:r>
                      <a:r>
                        <a:rPr lang="en-US" dirty="0" err="1"/>
                        <a:t>x,y</a:t>
                      </a:r>
                      <a:r>
                        <a:rPr lang="en-US" dirty="0"/>
                        <a:t>)</a:t>
                      </a:r>
                      <a:endParaRPr lang="ru-RU" dirty="0"/>
                    </a:p>
                  </a:txBody>
                  <a:tcPr/>
                </a:tc>
                <a:extLst>
                  <a:ext uri="{0D108BD9-81ED-4DB2-BD59-A6C34878D82A}">
                    <a16:rowId xmlns:a16="http://schemas.microsoft.com/office/drawing/2014/main" val="3537523454"/>
                  </a:ext>
                </a:extLst>
              </a:tr>
            </a:tbl>
          </a:graphicData>
        </a:graphic>
      </p:graphicFrame>
      <p:sp>
        <p:nvSpPr>
          <p:cNvPr id="21" name="TextBox 20">
            <a:extLst>
              <a:ext uri="{FF2B5EF4-FFF2-40B4-BE49-F238E27FC236}">
                <a16:creationId xmlns:a16="http://schemas.microsoft.com/office/drawing/2014/main" id="{D220F30C-46A4-4793-9EA2-D47CA4ED35B7}"/>
              </a:ext>
            </a:extLst>
          </p:cNvPr>
          <p:cNvSpPr txBox="1"/>
          <p:nvPr/>
        </p:nvSpPr>
        <p:spPr>
          <a:xfrm>
            <a:off x="1278950" y="3832987"/>
            <a:ext cx="1516184" cy="369332"/>
          </a:xfrm>
          <a:prstGeom prst="rect">
            <a:avLst/>
          </a:prstGeom>
          <a:noFill/>
        </p:spPr>
        <p:txBody>
          <a:bodyPr wrap="none" rtlCol="0">
            <a:spAutoFit/>
          </a:bodyPr>
          <a:lstStyle/>
          <a:p>
            <a:r>
              <a:rPr lang="ru-RU" dirty="0"/>
              <a:t>Массив точек</a:t>
            </a:r>
          </a:p>
        </p:txBody>
      </p:sp>
      <p:sp>
        <p:nvSpPr>
          <p:cNvPr id="22" name="TextBox 21">
            <a:extLst>
              <a:ext uri="{FF2B5EF4-FFF2-40B4-BE49-F238E27FC236}">
                <a16:creationId xmlns:a16="http://schemas.microsoft.com/office/drawing/2014/main" id="{554FA54C-7497-4246-80C8-9E36DCF6585F}"/>
              </a:ext>
            </a:extLst>
          </p:cNvPr>
          <p:cNvSpPr txBox="1"/>
          <p:nvPr/>
        </p:nvSpPr>
        <p:spPr>
          <a:xfrm>
            <a:off x="680805" y="5214377"/>
            <a:ext cx="2712474" cy="369332"/>
          </a:xfrm>
          <a:prstGeom prst="rect">
            <a:avLst/>
          </a:prstGeom>
          <a:noFill/>
        </p:spPr>
        <p:txBody>
          <a:bodyPr wrap="none" rtlCol="0">
            <a:spAutoFit/>
          </a:bodyPr>
          <a:lstStyle/>
          <a:p>
            <a:r>
              <a:rPr lang="ru-RU" dirty="0"/>
              <a:t>Массив прямоугольников</a:t>
            </a:r>
          </a:p>
        </p:txBody>
      </p:sp>
      <p:cxnSp>
        <p:nvCxnSpPr>
          <p:cNvPr id="24" name="Соединитель: уступ 23">
            <a:extLst>
              <a:ext uri="{FF2B5EF4-FFF2-40B4-BE49-F238E27FC236}">
                <a16:creationId xmlns:a16="http://schemas.microsoft.com/office/drawing/2014/main" id="{BC5CCA80-59CD-498B-9664-88802108B90F}"/>
              </a:ext>
            </a:extLst>
          </p:cNvPr>
          <p:cNvCxnSpPr>
            <a:stCxn id="11" idx="1"/>
            <a:endCxn id="14" idx="1"/>
          </p:cNvCxnSpPr>
          <p:nvPr/>
        </p:nvCxnSpPr>
        <p:spPr>
          <a:xfrm rot="10800000" flipV="1">
            <a:off x="619124" y="2138833"/>
            <a:ext cx="12703" cy="2813934"/>
          </a:xfrm>
          <a:prstGeom prst="bentConnector3">
            <a:avLst>
              <a:gd name="adj1" fmla="val 4157868"/>
            </a:avLst>
          </a:prstGeom>
          <a:ln>
            <a:tailEnd type="triangle"/>
          </a:ln>
        </p:spPr>
        <p:style>
          <a:lnRef idx="3">
            <a:schemeClr val="dk1"/>
          </a:lnRef>
          <a:fillRef idx="0">
            <a:schemeClr val="dk1"/>
          </a:fillRef>
          <a:effectRef idx="2">
            <a:schemeClr val="dk1"/>
          </a:effectRef>
          <a:fontRef idx="minor">
            <a:schemeClr val="tx1"/>
          </a:fontRef>
        </p:style>
      </p:cxnSp>
      <p:sp>
        <p:nvSpPr>
          <p:cNvPr id="2" name="Нижний колонтитул 1"/>
          <p:cNvSpPr>
            <a:spLocks noGrp="1"/>
          </p:cNvSpPr>
          <p:nvPr>
            <p:ph type="ftr" sz="quarter" idx="11"/>
          </p:nvPr>
        </p:nvSpPr>
        <p:spPr>
          <a:xfrm>
            <a:off x="3819525" y="5746750"/>
            <a:ext cx="4114800" cy="365125"/>
          </a:xfrm>
        </p:spPr>
        <p:txBody>
          <a:bodyPr/>
          <a:lstStyle/>
          <a:p>
            <a:endParaRPr lang="ru-RU"/>
          </a:p>
        </p:txBody>
      </p:sp>
    </p:spTree>
    <p:extLst>
      <p:ext uri="{BB962C8B-B14F-4D97-AF65-F5344CB8AC3E}">
        <p14:creationId xmlns:p14="http://schemas.microsoft.com/office/powerpoint/2010/main" val="658924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BC65C1A1-D9F1-4523-ABCC-8C4B0F695A26}"/>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12</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7" name="Заголовок 1">
            <a:extLst>
              <a:ext uri="{FF2B5EF4-FFF2-40B4-BE49-F238E27FC236}">
                <a16:creationId xmlns:a16="http://schemas.microsoft.com/office/drawing/2014/main" id="{1DB6DBA3-C25E-47F7-8D71-3C2320B9E278}"/>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141481-EFF4-42FA-9B89-F98D5D974D17}"/>
                  </a:ext>
                </a:extLst>
              </p:cNvPr>
              <p:cNvSpPr txBox="1"/>
              <p:nvPr/>
            </p:nvSpPr>
            <p:spPr>
              <a:xfrm>
                <a:off x="295835" y="794320"/>
                <a:ext cx="11057965" cy="4903265"/>
              </a:xfrm>
              <a:prstGeom prst="rect">
                <a:avLst/>
              </a:prstGeom>
              <a:noFill/>
            </p:spPr>
            <p:txBody>
              <a:bodyPr wrap="square" rtlCol="0">
                <a:spAutoFit/>
              </a:bodyPr>
              <a:lstStyle/>
              <a:p>
                <a:r>
                  <a:rPr lang="ru-RU" sz="1600" b="1" dirty="0">
                    <a:solidFill>
                      <a:schemeClr val="accent6">
                        <a:lumMod val="50000"/>
                      </a:schemeClr>
                    </a:solidFill>
                    <a:latin typeface="Times New Roman" panose="02020603050405020304" pitchFamily="18" charset="0"/>
                    <a:ea typeface="Times New Roman" panose="02020603050405020304" pitchFamily="18" charset="0"/>
                  </a:rPr>
                  <a:t>1.Задание прямоугольника</a:t>
                </a:r>
              </a:p>
              <a:p>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b="1" dirty="0">
                    <a:solidFill>
                      <a:schemeClr val="accent6">
                        <a:lumMod val="50000"/>
                      </a:schemeClr>
                    </a:solidFill>
                    <a:effectLst/>
                    <a:latin typeface="Times New Roman" panose="02020603050405020304" pitchFamily="18" charset="0"/>
                    <a:ea typeface="Times New Roman" panose="02020603050405020304" pitchFamily="18" charset="0"/>
                  </a:rPr>
                  <a:t>Дано:</a:t>
                </a: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а) Две точки </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rPr>
                  <a:t>P</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1 и </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rPr>
                  <a:t>P</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2, являющиеся вершинами одной из сторон прямоугольника; </a:t>
                </a: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б) </a:t>
                </a:r>
                <a:r>
                  <a:rPr lang="ru-RU" sz="1600" dirty="0">
                    <a:solidFill>
                      <a:schemeClr val="accent6">
                        <a:lumMod val="50000"/>
                      </a:schemeClr>
                    </a:solidFill>
                    <a:latin typeface="Times New Roman" panose="02020603050405020304" pitchFamily="18" charset="0"/>
                    <a:ea typeface="Times New Roman" panose="02020603050405020304" pitchFamily="18" charset="0"/>
                  </a:rPr>
                  <a:t>Т</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очка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rPr>
                          <m:t>𝑇</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на плоскости, лежащая на прямой, проходящей через две другие вершины.</a:t>
                </a: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p>
              <a:p>
                <a:r>
                  <a:rPr lang="ru-RU" sz="1600" b="1" dirty="0">
                    <a:solidFill>
                      <a:schemeClr val="accent6">
                        <a:lumMod val="50000"/>
                      </a:schemeClr>
                    </a:solidFill>
                    <a:latin typeface="Times New Roman" panose="02020603050405020304" pitchFamily="18" charset="0"/>
                    <a:ea typeface="Times New Roman" panose="02020603050405020304" pitchFamily="18" charset="0"/>
                  </a:rPr>
                  <a:t>Решение:</a:t>
                </a:r>
              </a:p>
              <a:p>
                <a:pPr marL="285750" indent="-285750">
                  <a:buFontTx/>
                  <a:buChar cha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Проведение прямой через </a:t>
                </a:r>
                <a:r>
                  <a:rPr lang="ru-RU" sz="1600" dirty="0">
                    <a:solidFill>
                      <a:schemeClr val="accent6">
                        <a:lumMod val="50000"/>
                      </a:schemeClr>
                    </a:solidFill>
                    <a:latin typeface="Times New Roman" panose="02020603050405020304" pitchFamily="18" charset="0"/>
                    <a:ea typeface="Times New Roman" panose="02020603050405020304" pitchFamily="18" charset="0"/>
                  </a:rPr>
                  <a:t>две точки, являющиеся вершинами одной из сторон;</a:t>
                </a:r>
              </a:p>
              <a:p>
                <a:pPr marL="285750" indent="-285750">
                  <a:buFontTx/>
                  <a:buChar cha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Опускание перпендикуляра из точки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rPr>
                          <m:t>𝑇</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на прямую:</a:t>
                </a: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Вспомогательный вектор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     </a:t>
                </a:r>
                <a14:m>
                  <m:oMath xmlns:m="http://schemas.openxmlformats.org/officeDocument/2006/math">
                    <m:acc>
                      <m:accPr>
                        <m:chr m:val="⃗"/>
                        <m:ctrlPr>
                          <a:rPr lang="ru-RU" sz="1600" i="1">
                            <a:solidFill>
                              <a:schemeClr val="accent6">
                                <a:lumMod val="50000"/>
                              </a:schemeClr>
                            </a:solidFill>
                            <a:latin typeface="Cambria Math" panose="02040503050406030204" pitchFamily="18" charset="0"/>
                          </a:rPr>
                        </m:ctrlPr>
                      </m:accPr>
                      <m:e>
                        <m:r>
                          <a:rPr lang="en-US" sz="1600" i="1">
                            <a:solidFill>
                              <a:schemeClr val="accent6">
                                <a:lumMod val="50000"/>
                              </a:schemeClr>
                            </a:solidFill>
                            <a:latin typeface="Cambria Math" panose="02040503050406030204" pitchFamily="18" charset="0"/>
                          </a:rPr>
                          <m:t>𝑉</m:t>
                        </m:r>
                      </m:e>
                    </m:acc>
                    <m:r>
                      <a:rPr lang="ru-RU" sz="1600" i="1">
                        <a:solidFill>
                          <a:schemeClr val="accent6">
                            <a:lumMod val="50000"/>
                          </a:schemeClr>
                        </a:solidFill>
                        <a:latin typeface="Cambria Math" panose="02040503050406030204" pitchFamily="18" charset="0"/>
                      </a:rPr>
                      <m:t>=</m:t>
                    </m:r>
                    <m:acc>
                      <m:accPr>
                        <m:chr m:val="⃗"/>
                        <m:ctrlPr>
                          <a:rPr lang="ru-RU" sz="1600" i="1">
                            <a:solidFill>
                              <a:schemeClr val="accent6">
                                <a:lumMod val="50000"/>
                              </a:schemeClr>
                            </a:solidFill>
                            <a:latin typeface="Cambria Math" panose="02040503050406030204" pitchFamily="18" charset="0"/>
                          </a:rPr>
                        </m:ctrlPr>
                      </m:accPr>
                      <m:e>
                        <m:r>
                          <a:rPr lang="ru-RU" sz="1600" i="1">
                            <a:solidFill>
                              <a:schemeClr val="accent6">
                                <a:lumMod val="50000"/>
                              </a:schemeClr>
                            </a:solidFill>
                            <a:latin typeface="Cambria Math" panose="02040503050406030204" pitchFamily="18" charset="0"/>
                          </a:rPr>
                          <m:t>𝑇</m:t>
                        </m:r>
                      </m:e>
                    </m:acc>
                    <m:r>
                      <a:rPr lang="ru-RU" sz="1600" i="1">
                        <a:solidFill>
                          <a:schemeClr val="accent6">
                            <a:lumMod val="50000"/>
                          </a:schemeClr>
                        </a:solidFill>
                        <a:latin typeface="Cambria Math" panose="02040503050406030204" pitchFamily="18" charset="0"/>
                      </a:rPr>
                      <m:t>−</m:t>
                    </m:r>
                    <m:acc>
                      <m:accPr>
                        <m:chr m:val="⃗"/>
                        <m:ctrlPr>
                          <a:rPr lang="ru-RU" sz="1600" i="1">
                            <a:solidFill>
                              <a:schemeClr val="accent6">
                                <a:lumMod val="50000"/>
                              </a:schemeClr>
                            </a:solidFill>
                            <a:latin typeface="Cambria Math" panose="02040503050406030204" pitchFamily="18" charset="0"/>
                          </a:rPr>
                        </m:ctrlPr>
                      </m:accPr>
                      <m:e>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𝑃</m:t>
                            </m:r>
                          </m:e>
                          <m:sub>
                            <m:r>
                              <a:rPr lang="ru-RU" sz="1600" i="1">
                                <a:solidFill>
                                  <a:schemeClr val="accent6">
                                    <a:lumMod val="50000"/>
                                  </a:schemeClr>
                                </a:solidFill>
                                <a:latin typeface="Cambria Math" panose="02040503050406030204" pitchFamily="18" charset="0"/>
                              </a:rPr>
                              <m:t>0</m:t>
                            </m:r>
                          </m:sub>
                        </m:sSub>
                      </m:e>
                    </m:acc>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rPr>
                  <a:t>Д</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лина вектора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dirty="0">
                    <a:solidFill>
                      <a:schemeClr val="accent6">
                        <a:lumMod val="50000"/>
                      </a:schemeClr>
                    </a:solidFill>
                    <a:latin typeface="Times New Roman" panose="02020603050405020304" pitchFamily="18" charset="0"/>
                    <a:ea typeface="Times New Roman" panose="02020603050405020304" pitchFamily="18" charset="0"/>
                  </a:rPr>
                  <a:t> </a:t>
                </a:r>
                <a14:m>
                  <m:oMath xmlns:m="http://schemas.openxmlformats.org/officeDocument/2006/math">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ru-RU" sz="1600" i="1">
                            <a:solidFill>
                              <a:schemeClr val="accent6">
                                <a:lumMod val="50000"/>
                              </a:schemeClr>
                            </a:solidFill>
                            <a:latin typeface="Cambria Math" panose="02040503050406030204" pitchFamily="18" charset="0"/>
                          </a:rPr>
                          <m:t>𝐿</m:t>
                        </m:r>
                      </m:sub>
                    </m:sSub>
                    <m:r>
                      <a:rPr lang="ru-RU" sz="1600" i="1">
                        <a:solidFill>
                          <a:schemeClr val="accent6">
                            <a:lumMod val="50000"/>
                          </a:schemeClr>
                        </a:solidFill>
                        <a:latin typeface="Cambria Math" panose="02040503050406030204" pitchFamily="18" charset="0"/>
                      </a:rPr>
                      <m:t>=</m:t>
                    </m:r>
                    <m:d>
                      <m:dPr>
                        <m:begChr m:val="|"/>
                        <m:endChr m:val="|"/>
                        <m:ctrlPr>
                          <a:rPr lang="ru-RU" sz="1600" i="1">
                            <a:solidFill>
                              <a:schemeClr val="accent6">
                                <a:lumMod val="50000"/>
                              </a:schemeClr>
                            </a:solidFill>
                            <a:latin typeface="Cambria Math" panose="02040503050406030204" pitchFamily="18" charset="0"/>
                          </a:rPr>
                        </m:ctrlPr>
                      </m:dPr>
                      <m:e>
                        <m:acc>
                          <m:accPr>
                            <m:chr m:val="⃗"/>
                            <m:ctrlPr>
                              <a:rPr lang="ru-RU" sz="1600" i="1">
                                <a:solidFill>
                                  <a:schemeClr val="accent6">
                                    <a:lumMod val="50000"/>
                                  </a:schemeClr>
                                </a:solidFill>
                                <a:latin typeface="Cambria Math" panose="02040503050406030204" pitchFamily="18" charset="0"/>
                              </a:rPr>
                            </m:ctrlPr>
                          </m:accPr>
                          <m:e>
                            <m:r>
                              <a:rPr lang="en-US" sz="1600" i="1">
                                <a:solidFill>
                                  <a:schemeClr val="accent6">
                                    <a:lumMod val="50000"/>
                                  </a:schemeClr>
                                </a:solidFill>
                                <a:latin typeface="Cambria Math" panose="02040503050406030204" pitchFamily="18" charset="0"/>
                              </a:rPr>
                              <m:t>𝑅</m:t>
                            </m:r>
                          </m:e>
                        </m:acc>
                      </m:e>
                    </m:d>
                    <m:r>
                      <a:rPr lang="ru-RU" sz="1600" i="1">
                        <a:solidFill>
                          <a:schemeClr val="accent6">
                            <a:lumMod val="50000"/>
                          </a:schemeClr>
                        </a:solidFill>
                        <a:latin typeface="Cambria Math" panose="02040503050406030204" pitchFamily="18" charset="0"/>
                      </a:rPr>
                      <m:t>=</m:t>
                    </m:r>
                    <m:rad>
                      <m:radPr>
                        <m:degHide m:val="on"/>
                        <m:ctrlPr>
                          <a:rPr lang="ru-RU" sz="1600" i="1">
                            <a:solidFill>
                              <a:schemeClr val="accent6">
                                <a:lumMod val="50000"/>
                              </a:schemeClr>
                            </a:solidFill>
                            <a:latin typeface="Cambria Math" panose="02040503050406030204" pitchFamily="18" charset="0"/>
                          </a:rPr>
                        </m:ctrlPr>
                      </m:radPr>
                      <m:deg/>
                      <m:e>
                        <m:sSup>
                          <m:sSupPr>
                            <m:ctrlPr>
                              <a:rPr lang="ru-RU" sz="1600" i="1">
                                <a:solidFill>
                                  <a:schemeClr val="accent6">
                                    <a:lumMod val="50000"/>
                                  </a:schemeClr>
                                </a:solidFill>
                                <a:latin typeface="Cambria Math" panose="02040503050406030204" pitchFamily="18" charset="0"/>
                              </a:rPr>
                            </m:ctrlPr>
                          </m:sSupPr>
                          <m:e>
                            <m:r>
                              <a:rPr lang="ru-RU" sz="1600" i="1">
                                <a:solidFill>
                                  <a:schemeClr val="accent6">
                                    <a:lumMod val="50000"/>
                                  </a:schemeClr>
                                </a:solidFill>
                                <a:latin typeface="Cambria Math" panose="02040503050406030204" pitchFamily="18" charset="0"/>
                              </a:rPr>
                              <m:t>𝑅𝑥</m:t>
                            </m:r>
                          </m:e>
                          <m:sup>
                            <m:r>
                              <a:rPr lang="ru-RU" sz="1600" i="1">
                                <a:solidFill>
                                  <a:schemeClr val="accent6">
                                    <a:lumMod val="50000"/>
                                  </a:schemeClr>
                                </a:solidFill>
                                <a:latin typeface="Cambria Math" panose="02040503050406030204" pitchFamily="18" charset="0"/>
                              </a:rPr>
                              <m:t>2</m:t>
                            </m:r>
                          </m:sup>
                        </m:sSup>
                        <m:r>
                          <a:rPr lang="ru-RU" sz="1600" i="1">
                            <a:solidFill>
                              <a:schemeClr val="accent6">
                                <a:lumMod val="50000"/>
                              </a:schemeClr>
                            </a:solidFill>
                            <a:latin typeface="Cambria Math" panose="02040503050406030204" pitchFamily="18" charset="0"/>
                          </a:rPr>
                          <m:t>+</m:t>
                        </m:r>
                        <m:sSup>
                          <m:sSupPr>
                            <m:ctrlPr>
                              <a:rPr lang="ru-RU" sz="1600" i="1">
                                <a:solidFill>
                                  <a:schemeClr val="accent6">
                                    <a:lumMod val="50000"/>
                                  </a:schemeClr>
                                </a:solidFill>
                                <a:latin typeface="Cambria Math" panose="02040503050406030204" pitchFamily="18" charset="0"/>
                              </a:rPr>
                            </m:ctrlPr>
                          </m:sSupPr>
                          <m:e>
                            <m:r>
                              <a:rPr lang="ru-RU" sz="1600" i="1">
                                <a:solidFill>
                                  <a:schemeClr val="accent6">
                                    <a:lumMod val="50000"/>
                                  </a:schemeClr>
                                </a:solidFill>
                                <a:latin typeface="Cambria Math" panose="02040503050406030204" pitchFamily="18" charset="0"/>
                              </a:rPr>
                              <m:t>𝑅𝑦</m:t>
                            </m:r>
                          </m:e>
                          <m:sup>
                            <m:r>
                              <a:rPr lang="ru-RU" sz="1600" i="1">
                                <a:solidFill>
                                  <a:schemeClr val="accent6">
                                    <a:lumMod val="50000"/>
                                  </a:schemeClr>
                                </a:solidFill>
                                <a:latin typeface="Cambria Math" panose="02040503050406030204" pitchFamily="18" charset="0"/>
                              </a:rPr>
                              <m:t>2</m:t>
                            </m:r>
                          </m:sup>
                        </m:sSup>
                      </m:e>
                    </m:rad>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Длина катета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x</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(треугольник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P</a:t>
                </a:r>
                <a:r>
                  <a:rPr lang="ru-RU" sz="1600" i="1" baseline="-25000" dirty="0">
                    <a:solidFill>
                      <a:schemeClr val="accent6">
                        <a:lumMod val="50000"/>
                      </a:schemeClr>
                    </a:solidFill>
                    <a:effectLst/>
                    <a:latin typeface="Times New Roman" panose="02020603050405020304" pitchFamily="18" charset="0"/>
                    <a:ea typeface="Times New Roman" panose="02020603050405020304" pitchFamily="18" charset="0"/>
                  </a:rPr>
                  <a:t>0</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T</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A</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14:m>
                  <m:oMath xmlns:m="http://schemas.openxmlformats.org/officeDocument/2006/math">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𝐿</m:t>
                        </m:r>
                      </m:sub>
                    </m:sSub>
                    <m:func>
                      <m:funcPr>
                        <m:ctrlPr>
                          <a:rPr lang="ru-RU" sz="1600" i="1">
                            <a:solidFill>
                              <a:schemeClr val="accent6">
                                <a:lumMod val="50000"/>
                              </a:schemeClr>
                            </a:solidFill>
                            <a:effectLst/>
                            <a:latin typeface="Cambria Math" panose="02040503050406030204" pitchFamily="18" charset="0"/>
                          </a:rPr>
                        </m:ctrlPr>
                      </m:funcPr>
                      <m:fName>
                        <m:r>
                          <m:rPr>
                            <m:sty m:val="p"/>
                          </m:rPr>
                          <a:rPr lang="ru-RU" sz="160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cos</m:t>
                        </m:r>
                      </m:fName>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𝛼</m:t>
                        </m:r>
                      </m:e>
                    </m:func>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Скалярное произведение векторов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и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oMath>
                </a14:m>
                <a:r>
                  <a:rPr lang="ru-RU" sz="1600" dirty="0">
                    <a:solidFill>
                      <a:schemeClr val="accent6">
                        <a:lumMod val="50000"/>
                      </a:schemeClr>
                    </a:solidFill>
                    <a:latin typeface="Times New Roman" panose="02020603050405020304" pitchFamily="18" charset="0"/>
                    <a:ea typeface="Times New Roman" panose="02020603050405020304" pitchFamily="18" charset="0"/>
                  </a:rPr>
                  <a:t> : </a:t>
                </a:r>
                <a14:m>
                  <m:oMath xmlns:m="http://schemas.openxmlformats.org/officeDocument/2006/math">
                    <m:r>
                      <a:rPr lang="en-US" sz="1600" i="1">
                        <a:solidFill>
                          <a:schemeClr val="accent6">
                            <a:lumMod val="50000"/>
                          </a:schemeClr>
                        </a:solidFill>
                        <a:latin typeface="Cambria Math" panose="02040503050406030204" pitchFamily="18" charset="0"/>
                      </a:rPr>
                      <m:t>𝑆</m:t>
                    </m:r>
                    <m:r>
                      <a:rPr lang="ru-RU"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𝑉</m:t>
                        </m:r>
                      </m:e>
                      <m:sub>
                        <m:r>
                          <a:rPr lang="ru-RU" sz="1600" i="1">
                            <a:solidFill>
                              <a:schemeClr val="accent6">
                                <a:lumMod val="50000"/>
                              </a:schemeClr>
                            </a:solidFill>
                            <a:latin typeface="Cambria Math" panose="02040503050406030204" pitchFamily="18" charset="0"/>
                          </a:rPr>
                          <m:t>𝐿</m:t>
                        </m:r>
                      </m:sub>
                    </m:sSub>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ru-RU" sz="1600" i="1">
                            <a:solidFill>
                              <a:schemeClr val="accent6">
                                <a:lumMod val="50000"/>
                              </a:schemeClr>
                            </a:solidFill>
                            <a:latin typeface="Cambria Math" panose="02040503050406030204" pitchFamily="18" charset="0"/>
                          </a:rPr>
                          <m:t>𝐿</m:t>
                        </m:r>
                      </m:sub>
                    </m:sSub>
                    <m:func>
                      <m:funcPr>
                        <m:ctrlPr>
                          <a:rPr lang="ru-RU" sz="1600" i="1">
                            <a:solidFill>
                              <a:schemeClr val="accent6">
                                <a:lumMod val="50000"/>
                              </a:schemeClr>
                            </a:solidFill>
                            <a:latin typeface="Cambria Math" panose="02040503050406030204" pitchFamily="18" charset="0"/>
                          </a:rPr>
                        </m:ctrlPr>
                      </m:funcPr>
                      <m:fName>
                        <m:r>
                          <m:rPr>
                            <m:sty m:val="p"/>
                          </m:rPr>
                          <a:rPr lang="ru-RU" sz="1600">
                            <a:solidFill>
                              <a:schemeClr val="accent6">
                                <a:lumMod val="50000"/>
                              </a:schemeClr>
                            </a:solidFill>
                            <a:latin typeface="Cambria Math" panose="02040503050406030204" pitchFamily="18" charset="0"/>
                          </a:rPr>
                          <m:t>cos</m:t>
                        </m:r>
                      </m:fName>
                      <m:e>
                        <m:r>
                          <a:rPr lang="ru-RU" sz="1600" i="1">
                            <a:solidFill>
                              <a:schemeClr val="accent6">
                                <a:lumMod val="50000"/>
                              </a:schemeClr>
                            </a:solidFill>
                            <a:latin typeface="Cambria Math" panose="02040503050406030204" pitchFamily="18" charset="0"/>
                          </a:rPr>
                          <m:t>𝛼</m:t>
                        </m:r>
                      </m:e>
                    </m:func>
                    <m:r>
                      <a:rPr lang="ru-RU" sz="1600" i="1">
                        <a:solidFill>
                          <a:schemeClr val="accent6">
                            <a:lumMod val="50000"/>
                          </a:schemeClr>
                        </a:solidFill>
                        <a:latin typeface="Cambria Math" panose="02040503050406030204" pitchFamily="18" charset="0"/>
                      </a:rPr>
                      <m:t>=</m:t>
                    </m:r>
                    <m:r>
                      <a:rPr lang="ru-RU" sz="1600" i="1">
                        <a:solidFill>
                          <a:schemeClr val="accent6">
                            <a:lumMod val="50000"/>
                          </a:schemeClr>
                        </a:solidFill>
                        <a:latin typeface="Cambria Math" panose="02040503050406030204" pitchFamily="18" charset="0"/>
                      </a:rPr>
                      <m:t>𝑉𝑥</m:t>
                    </m:r>
                    <m:r>
                      <a:rPr lang="ru-RU" sz="1600" i="1">
                        <a:solidFill>
                          <a:schemeClr val="accent6">
                            <a:lumMod val="50000"/>
                          </a:schemeClr>
                        </a:solidFill>
                        <a:latin typeface="Cambria Math" panose="02040503050406030204" pitchFamily="18" charset="0"/>
                      </a:rPr>
                      <m:t>∙</m:t>
                    </m:r>
                    <m:r>
                      <a:rPr lang="ru-RU" sz="1600" i="1">
                        <a:solidFill>
                          <a:schemeClr val="accent6">
                            <a:lumMod val="50000"/>
                          </a:schemeClr>
                        </a:solidFill>
                        <a:latin typeface="Cambria Math" panose="02040503050406030204" pitchFamily="18" charset="0"/>
                      </a:rPr>
                      <m:t>𝑅𝑥</m:t>
                    </m:r>
                    <m:r>
                      <a:rPr lang="ru-RU" sz="1600" i="1">
                        <a:solidFill>
                          <a:schemeClr val="accent6">
                            <a:lumMod val="50000"/>
                          </a:schemeClr>
                        </a:solidFill>
                        <a:latin typeface="Cambria Math" panose="02040503050406030204" pitchFamily="18" charset="0"/>
                      </a:rPr>
                      <m:t>+</m:t>
                    </m:r>
                    <m:r>
                      <a:rPr lang="ru-RU" sz="1600" i="1">
                        <a:solidFill>
                          <a:schemeClr val="accent6">
                            <a:lumMod val="50000"/>
                          </a:schemeClr>
                        </a:solidFill>
                        <a:latin typeface="Cambria Math" panose="02040503050406030204" pitchFamily="18" charset="0"/>
                      </a:rPr>
                      <m:t>𝑉𝑦</m:t>
                    </m:r>
                    <m:r>
                      <a:rPr lang="ru-RU" sz="1600" i="1">
                        <a:solidFill>
                          <a:schemeClr val="accent6">
                            <a:lumMod val="50000"/>
                          </a:schemeClr>
                        </a:solidFill>
                        <a:latin typeface="Cambria Math" panose="02040503050406030204" pitchFamily="18" charset="0"/>
                      </a:rPr>
                      <m:t>∙</m:t>
                    </m:r>
                    <m:r>
                      <a:rPr lang="ru-RU" sz="1600" i="1">
                        <a:solidFill>
                          <a:schemeClr val="accent6">
                            <a:lumMod val="50000"/>
                          </a:schemeClr>
                        </a:solidFill>
                        <a:latin typeface="Cambria Math" panose="02040503050406030204" pitchFamily="18" charset="0"/>
                      </a:rPr>
                      <m:t>𝑅𝑦</m:t>
                    </m:r>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Расстояние от точки </a:t>
                </a:r>
                <a:r>
                  <a:rPr lang="en-US" sz="1600" i="1" dirty="0">
                    <a:solidFill>
                      <a:schemeClr val="accent6">
                        <a:lumMod val="50000"/>
                      </a:schemeClr>
                    </a:solidFill>
                    <a:latin typeface="Times New Roman" panose="02020603050405020304" pitchFamily="18" charset="0"/>
                    <a:ea typeface="Times New Roman" panose="02020603050405020304" pitchFamily="18" charset="0"/>
                  </a:rPr>
                  <a:t>P</a:t>
                </a:r>
                <a:r>
                  <a:rPr lang="ru-RU" sz="1600" i="1" baseline="-25000" dirty="0">
                    <a:solidFill>
                      <a:schemeClr val="accent6">
                        <a:lumMod val="50000"/>
                      </a:schemeClr>
                    </a:solidFill>
                    <a:latin typeface="Times New Roman" panose="02020603050405020304" pitchFamily="18" charset="0"/>
                    <a:ea typeface="Times New Roman" panose="02020603050405020304" pitchFamily="18" charset="0"/>
                  </a:rPr>
                  <a:t>0</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до точки </a:t>
                </a:r>
                <a14:m>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acc>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 </a:t>
                </a:r>
                <a14:m>
                  <m:oMath xmlns:m="http://schemas.openxmlformats.org/officeDocument/2006/math">
                    <m:r>
                      <a:rPr lang="en-US" sz="1600" i="1">
                        <a:solidFill>
                          <a:schemeClr val="accent6">
                            <a:lumMod val="50000"/>
                          </a:schemeClr>
                        </a:solidFill>
                        <a:latin typeface="Cambria Math" panose="02040503050406030204" pitchFamily="18" charset="0"/>
                      </a:rPr>
                      <m:t>𝑥</m:t>
                    </m:r>
                    <m:r>
                      <a:rPr lang="en-US" sz="1600" i="1">
                        <a:solidFill>
                          <a:schemeClr val="accent6">
                            <a:lumMod val="50000"/>
                          </a:schemeClr>
                        </a:solidFill>
                        <a:latin typeface="Cambria Math" panose="02040503050406030204" pitchFamily="18" charset="0"/>
                      </a:rPr>
                      <m:t>=</m:t>
                    </m:r>
                    <m:d>
                      <m:dPr>
                        <m:begChr m:val="|"/>
                        <m:endChr m:val="|"/>
                        <m:ctrlPr>
                          <a:rPr lang="ru-RU" sz="1600" i="1">
                            <a:solidFill>
                              <a:schemeClr val="accent6">
                                <a:lumMod val="50000"/>
                              </a:schemeClr>
                            </a:solidFill>
                            <a:latin typeface="Cambria Math" panose="02040503050406030204" pitchFamily="18" charset="0"/>
                          </a:rPr>
                        </m:ctrlPr>
                      </m:dPr>
                      <m:e>
                        <m:acc>
                          <m:accPr>
                            <m:chr m:val="⃗"/>
                            <m:ctrlPr>
                              <a:rPr lang="ru-RU" sz="1600" i="1">
                                <a:solidFill>
                                  <a:schemeClr val="accent6">
                                    <a:lumMod val="50000"/>
                                  </a:schemeClr>
                                </a:solidFill>
                                <a:latin typeface="Cambria Math" panose="02040503050406030204" pitchFamily="18" charset="0"/>
                              </a:rPr>
                            </m:ctrlPr>
                          </m:accPr>
                          <m:e>
                            <m:r>
                              <a:rPr lang="en-US" sz="1600" i="1">
                                <a:solidFill>
                                  <a:schemeClr val="accent6">
                                    <a:lumMod val="50000"/>
                                  </a:schemeClr>
                                </a:solidFill>
                                <a:latin typeface="Cambria Math" panose="02040503050406030204" pitchFamily="18" charset="0"/>
                              </a:rPr>
                              <m:t>𝐴</m:t>
                            </m:r>
                          </m:e>
                        </m:acc>
                        <m:r>
                          <a:rPr lang="en-US" sz="1600" i="1">
                            <a:solidFill>
                              <a:schemeClr val="accent6">
                                <a:lumMod val="50000"/>
                              </a:schemeClr>
                            </a:solidFill>
                            <a:latin typeface="Cambria Math" panose="02040503050406030204" pitchFamily="18" charset="0"/>
                          </a:rPr>
                          <m:t>−</m:t>
                        </m:r>
                        <m:acc>
                          <m:accPr>
                            <m:chr m:val="⃗"/>
                            <m:ctrlPr>
                              <a:rPr lang="ru-RU" sz="1600" i="1">
                                <a:solidFill>
                                  <a:schemeClr val="accent6">
                                    <a:lumMod val="50000"/>
                                  </a:schemeClr>
                                </a:solidFill>
                                <a:latin typeface="Cambria Math" panose="02040503050406030204" pitchFamily="18" charset="0"/>
                              </a:rPr>
                            </m:ctrlPr>
                          </m:accPr>
                          <m:e>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𝑃</m:t>
                                </m:r>
                              </m:e>
                              <m:sub>
                                <m:r>
                                  <a:rPr lang="ru-RU" sz="1600" i="1">
                                    <a:solidFill>
                                      <a:schemeClr val="accent6">
                                        <a:lumMod val="50000"/>
                                      </a:schemeClr>
                                    </a:solidFill>
                                    <a:latin typeface="Cambria Math" panose="02040503050406030204" pitchFamily="18" charset="0"/>
                                  </a:rPr>
                                  <m:t>0</m:t>
                                </m:r>
                              </m:sub>
                            </m:sSub>
                          </m:e>
                        </m:acc>
                      </m:e>
                    </m:d>
                    <m:r>
                      <a:rPr lang="en-US" sz="1600" i="1">
                        <a:solidFill>
                          <a:schemeClr val="accent6">
                            <a:lumMod val="50000"/>
                          </a:schemeClr>
                        </a:solidFill>
                        <a:latin typeface="Cambria Math" panose="02040503050406030204" pitchFamily="18" charset="0"/>
                      </a:rPr>
                      <m:t>=</m:t>
                    </m:r>
                    <m:r>
                      <a:rPr lang="ru-RU" sz="1600" i="1">
                        <a:solidFill>
                          <a:schemeClr val="accent6">
                            <a:lumMod val="50000"/>
                          </a:schemeClr>
                        </a:solidFill>
                        <a:latin typeface="Cambria Math" panose="02040503050406030204" pitchFamily="18" charset="0"/>
                      </a:rPr>
                      <m:t>𝑡</m:t>
                    </m:r>
                    <m:r>
                      <a:rPr lang="ru-RU" sz="1600" i="1">
                        <a:solidFill>
                          <a:schemeClr val="accent6">
                            <a:lumMod val="50000"/>
                          </a:schemeClr>
                        </a:solidFill>
                        <a:latin typeface="Cambria Math" panose="02040503050406030204" pitchFamily="18" charset="0"/>
                      </a:rPr>
                      <m:t>∙</m:t>
                    </m:r>
                    <m:d>
                      <m:dPr>
                        <m:begChr m:val="|"/>
                        <m:endChr m:val="|"/>
                        <m:ctrlPr>
                          <a:rPr lang="ru-RU" sz="1600" i="1">
                            <a:solidFill>
                              <a:schemeClr val="accent6">
                                <a:lumMod val="50000"/>
                              </a:schemeClr>
                            </a:solidFill>
                            <a:latin typeface="Cambria Math" panose="02040503050406030204" pitchFamily="18" charset="0"/>
                          </a:rPr>
                        </m:ctrlPr>
                      </m:dPr>
                      <m:e>
                        <m:acc>
                          <m:accPr>
                            <m:chr m:val="⃗"/>
                            <m:ctrlPr>
                              <a:rPr lang="ru-RU" sz="1600" i="1">
                                <a:solidFill>
                                  <a:schemeClr val="accent6">
                                    <a:lumMod val="50000"/>
                                  </a:schemeClr>
                                </a:solidFill>
                                <a:latin typeface="Cambria Math" panose="02040503050406030204" pitchFamily="18" charset="0"/>
                              </a:rPr>
                            </m:ctrlPr>
                          </m:accPr>
                          <m:e>
                            <m:r>
                              <a:rPr lang="ru-RU" sz="1600" i="1">
                                <a:solidFill>
                                  <a:schemeClr val="accent6">
                                    <a:lumMod val="50000"/>
                                  </a:schemeClr>
                                </a:solidFill>
                                <a:latin typeface="Cambria Math" panose="02040503050406030204" pitchFamily="18" charset="0"/>
                              </a:rPr>
                              <m:t>𝑅</m:t>
                            </m:r>
                          </m:e>
                        </m:acc>
                      </m:e>
                    </m:d>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rPr>
                  <a:t>Параметр        </a:t>
                </a:r>
                <a14:m>
                  <m:oMath xmlns:m="http://schemas.openxmlformats.org/officeDocument/2006/math">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sz="1600" i="1">
                            <a:solidFill>
                              <a:schemeClr val="accent6">
                                <a:lumMod val="50000"/>
                              </a:schemeClr>
                            </a:solidFill>
                            <a:effectLst/>
                            <a:latin typeface="Cambria Math" panose="02040503050406030204" pitchFamily="18" charset="0"/>
                          </a:rPr>
                        </m:ctrlPr>
                      </m:fPr>
                      <m:num>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num>
                      <m:den>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𝐿</m:t>
                            </m:r>
                          </m:sub>
                        </m:sSub>
                      </m:den>
                    </m:f>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sz="1600" i="1">
                            <a:solidFill>
                              <a:schemeClr val="accent6">
                                <a:lumMod val="50000"/>
                              </a:schemeClr>
                            </a:solidFill>
                            <a:effectLst/>
                            <a:latin typeface="Cambria Math" panose="02040503050406030204" pitchFamily="18" charset="0"/>
                          </a:rPr>
                        </m:ctrlPr>
                      </m:fPr>
                      <m:num>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𝑆</m:t>
                        </m:r>
                      </m:num>
                      <m:den>
                        <m:sSubSup>
                          <m:sSubSupPr>
                            <m:ctrlPr>
                              <a:rPr lang="ru-RU" sz="1600" i="1">
                                <a:solidFill>
                                  <a:schemeClr val="accent6">
                                    <a:lumMod val="50000"/>
                                  </a:schemeClr>
                                </a:solidFill>
                                <a:effectLst/>
                                <a:latin typeface="Cambria Math" panose="02040503050406030204" pitchFamily="18" charset="0"/>
                              </a:rPr>
                            </m:ctrlPr>
                          </m:sSubSup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𝐿</m:t>
                            </m:r>
                          </m:sub>
                          <m:sup>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bSup>
                      </m:den>
                    </m:f>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rPr>
                  <a:t>Проверка существования прямоугольника    </a:t>
                </a:r>
                <a:r>
                  <a:rPr lang="en-US" sz="1600" dirty="0">
                    <a:solidFill>
                      <a:schemeClr val="accent6">
                        <a:lumMod val="50000"/>
                      </a:schemeClr>
                    </a:solidFill>
                    <a:latin typeface="Times New Roman" panose="02020603050405020304" pitchFamily="18" charset="0"/>
                    <a:ea typeface="Times New Roman" panose="02020603050405020304" pitchFamily="18" charset="0"/>
                  </a:rPr>
                  <a:t>0 ≤ </a:t>
                </a:r>
                <a:r>
                  <a:rPr lang="en-US" sz="1600" i="1" dirty="0">
                    <a:solidFill>
                      <a:schemeClr val="accent6">
                        <a:lumMod val="50000"/>
                      </a:schemeClr>
                    </a:solidFill>
                    <a:latin typeface="Times New Roman" panose="02020603050405020304" pitchFamily="18" charset="0"/>
                    <a:ea typeface="Times New Roman" panose="02020603050405020304" pitchFamily="18" charset="0"/>
                  </a:rPr>
                  <a:t>t</a:t>
                </a:r>
                <a:r>
                  <a:rPr lang="en-US" sz="1600" dirty="0">
                    <a:solidFill>
                      <a:schemeClr val="accent6">
                        <a:lumMod val="50000"/>
                      </a:schemeClr>
                    </a:solidFill>
                    <a:latin typeface="Times New Roman" panose="02020603050405020304" pitchFamily="18" charset="0"/>
                    <a:ea typeface="Times New Roman" panose="02020603050405020304" pitchFamily="18" charset="0"/>
                  </a:rPr>
                  <a:t> ≤  1</a:t>
                </a:r>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 xmlns:a16="http://schemas.microsoft.com/office/drawing/2014/main" xmlns:a14="http://schemas.microsoft.com/office/drawing/2010/main" id="{C3141481-EFF4-42FA-9B89-F98D5D974D17}"/>
                  </a:ext>
                </a:extLst>
              </p:cNvPr>
              <p:cNvSpPr txBox="1">
                <a:spLocks noRot="1" noChangeAspect="1" noMove="1" noResize="1" noEditPoints="1" noAdjustHandles="1" noChangeArrowheads="1" noChangeShapeType="1" noTextEdit="1"/>
              </p:cNvSpPr>
              <p:nvPr/>
            </p:nvSpPr>
            <p:spPr>
              <a:xfrm>
                <a:off x="295835" y="794320"/>
                <a:ext cx="11057965" cy="4903265"/>
              </a:xfrm>
              <a:prstGeom prst="rect">
                <a:avLst/>
              </a:prstGeom>
              <a:blipFill rotWithShape="1">
                <a:blip r:embed="rId2"/>
                <a:stretch>
                  <a:fillRect l="-331" t="-373"/>
                </a:stretch>
              </a:blipFill>
            </p:spPr>
            <p:txBody>
              <a:bodyPr/>
              <a:lstStyle/>
              <a:p>
                <a:r>
                  <a:rPr lang="ru-RU">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1983" y="2946400"/>
            <a:ext cx="4511487" cy="3098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8793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EC3C29A5-8BBD-4116-897A-2FCC914B1722}"/>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13</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010A682E-B571-48F8-8C60-183177EA4AA5}"/>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AAB187-F7EA-405C-BE5F-7C25CE1E0040}"/>
                  </a:ext>
                </a:extLst>
              </p:cNvPr>
              <p:cNvSpPr txBox="1"/>
              <p:nvPr/>
            </p:nvSpPr>
            <p:spPr>
              <a:xfrm>
                <a:off x="206188" y="879251"/>
                <a:ext cx="11057965" cy="4906471"/>
              </a:xfrm>
              <a:prstGeom prst="rect">
                <a:avLst/>
              </a:prstGeom>
              <a:noFill/>
            </p:spPr>
            <p:txBody>
              <a:bodyPr wrap="square" rtlCol="0">
                <a:spAutoFit/>
              </a:bodyPr>
              <a:lstStyle/>
              <a:p>
                <a:r>
                  <a:rPr lang="ru-RU" sz="1600" b="1" dirty="0">
                    <a:solidFill>
                      <a:schemeClr val="accent6">
                        <a:lumMod val="50000"/>
                      </a:schemeClr>
                    </a:solidFill>
                    <a:latin typeface="Times New Roman" panose="02020603050405020304" pitchFamily="18" charset="0"/>
                    <a:ea typeface="Times New Roman" panose="02020603050405020304" pitchFamily="18" charset="0"/>
                  </a:rPr>
                  <a:t>Построение прямоугольника по трем точкам </a:t>
                </a:r>
                <a:r>
                  <a:rPr lang="ru-RU" sz="1600" dirty="0">
                    <a:solidFill>
                      <a:schemeClr val="accent6">
                        <a:lumMod val="50000"/>
                      </a:schemeClr>
                    </a:solidFill>
                    <a:latin typeface="Times New Roman" panose="02020603050405020304" pitchFamily="18" charset="0"/>
                    <a:ea typeface="Times New Roman" panose="02020603050405020304" pitchFamily="18" charset="0"/>
                  </a:rPr>
                  <a:t>– нахождение координат всех вершин</a:t>
                </a:r>
              </a:p>
              <a:p>
                <a:pPr marL="285750" indent="-285750">
                  <a:buFontTx/>
                  <a:buChar char="-"/>
                </a:pPr>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Направляющий вектор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R</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для линии, проходящей через точки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P</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1</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и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P</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2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oMath>
                </a14:m>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Вспомогательный вектор V от точки T до точки P1: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𝑇</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e>
                    </m:acc>
                  </m:oMath>
                </a14:m>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Угол между векторами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V</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и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R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определяется </a:t>
                </a:r>
                <a:r>
                  <a:rPr lang="ru-RU" sz="1600" dirty="0">
                    <a:solidFill>
                      <a:schemeClr val="accent6">
                        <a:lumMod val="50000"/>
                      </a:schemeClr>
                    </a:solidFill>
                    <a:latin typeface="Times New Roman" panose="02020603050405020304" pitchFamily="18" charset="0"/>
                    <a:ea typeface="Times New Roman" panose="02020603050405020304" pitchFamily="18" charset="0"/>
                  </a:rPr>
                  <a:t>знаком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косого произведения</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a:t>
                </a:r>
                <a:endParaRPr lang="ru-RU" sz="1600" i="1"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 </a:t>
                </a:r>
                <a14:m>
                  <m:oMath xmlns:m="http://schemas.openxmlformats.org/officeDocument/2006/math">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𝑅𝑥</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𝑉𝑦</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𝑉𝑥</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𝑅𝑦</m:t>
                    </m:r>
                  </m:oMath>
                </a14:m>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S = 0, то V и R параллельны, точка T лежит на стороне P1 и P2 - построение </a:t>
                </a:r>
                <a:endParaRPr lang="en-US" sz="1600" i="1"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прямоугольника невозможно</a:t>
                </a:r>
              </a:p>
              <a:p>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S</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&lt;0, точка T лежит справа от прямой P1</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и</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P2 – требование направления обхода </a:t>
                </a:r>
                <a:endParaRPr lang="en-US" sz="1600" i="1"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узлов против часовой стрелки не выполняется - меняем местами точки P1</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и</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P2 </a:t>
                </a:r>
                <a:endParaRPr lang="ru-RU" sz="1600" b="1" i="1" dirty="0">
                  <a:solidFill>
                    <a:schemeClr val="accent6">
                      <a:lumMod val="50000"/>
                    </a:schemeClr>
                  </a:solidFill>
                  <a:effectLst/>
                  <a:latin typeface="Times New Roman" panose="02020603050405020304" pitchFamily="18" charset="0"/>
                  <a:ea typeface="Times New Roman" panose="02020603050405020304" pitchFamily="18" charset="0"/>
                </a:endParaRPr>
              </a:p>
              <a:p>
                <a:endParaRPr lang="ru-RU" sz="1600" b="1" i="1" dirty="0">
                  <a:solidFill>
                    <a:schemeClr val="accent6">
                      <a:lumMod val="50000"/>
                    </a:schemeClr>
                  </a:solidFill>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Перпендикуляр из точки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T</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на вектор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R</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точка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A</a:t>
                </a:r>
                <a:endParaRPr lang="ru-RU" sz="1600" i="1" dirty="0">
                  <a:solidFill>
                    <a:schemeClr val="accent6">
                      <a:lumMod val="50000"/>
                    </a:schemeClr>
                  </a:solidFill>
                  <a:effectLst/>
                  <a:latin typeface="Times New Roman" panose="02020603050405020304" pitchFamily="18" charset="0"/>
                  <a:ea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Вектор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h</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(перпендикуляр к вектору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rPr>
                  <a:t>R</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h</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𝑇</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acc>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Точки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P3</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и </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rPr>
                  <a:t>P4</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rPr>
                          <m:t>𝑃</m:t>
                        </m:r>
                        <m:r>
                          <a:rPr lang="en-US" sz="1600" i="1">
                            <a:solidFill>
                              <a:schemeClr val="accent6">
                                <a:lumMod val="50000"/>
                              </a:schemeClr>
                            </a:solidFill>
                            <a:effectLst/>
                            <a:latin typeface="Cambria Math" panose="02040503050406030204" pitchFamily="18" charset="0"/>
                            <a:ea typeface="Times New Roman" panose="02020603050405020304" pitchFamily="18" charset="0"/>
                          </a:rPr>
                          <m:t>3</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𝑃</m:t>
                        </m:r>
                        <m:r>
                          <a:rPr lang="ru-RU" sz="1600" i="1">
                            <a:solidFill>
                              <a:schemeClr val="accent6">
                                <a:lumMod val="50000"/>
                              </a:schemeClr>
                            </a:solidFill>
                            <a:effectLst/>
                            <a:latin typeface="Cambria Math" panose="02040503050406030204" pitchFamily="18" charset="0"/>
                            <a:ea typeface="Times New Roman" panose="02020603050405020304" pitchFamily="18" charset="0"/>
                          </a:rPr>
                          <m:t>2</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ru-RU" sz="1600" i="1">
                            <a:solidFill>
                              <a:schemeClr val="accent6">
                                <a:lumMod val="50000"/>
                              </a:schemeClr>
                            </a:solidFill>
                            <a:effectLst/>
                            <a:latin typeface="Cambria Math" panose="02040503050406030204" pitchFamily="18" charset="0"/>
                            <a:ea typeface="Times New Roman" panose="02020603050405020304" pitchFamily="18" charset="0"/>
                          </a:rPr>
                          <m:t>h</m:t>
                        </m:r>
                      </m:e>
                    </m:acc>
                    <m:r>
                      <a:rPr lang="ru-RU" sz="1600" b="0" i="0" smtClean="0">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latin typeface="Cambria Math" panose="02040503050406030204" pitchFamily="18" charset="0"/>
                          </a:rPr>
                        </m:ctrlPr>
                      </m:accPr>
                      <m:e>
                        <m:r>
                          <a:rPr lang="ru-RU" sz="1600" b="0" i="1" smtClean="0">
                            <a:solidFill>
                              <a:schemeClr val="accent6">
                                <a:lumMod val="50000"/>
                              </a:schemeClr>
                            </a:solidFill>
                            <a:latin typeface="Cambria Math" panose="02040503050406030204" pitchFamily="18" charset="0"/>
                          </a:rPr>
                          <m:t> </m:t>
                        </m:r>
                        <m:r>
                          <a:rPr lang="en-US"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𝑃</m:t>
                        </m:r>
                        <m:r>
                          <a:rPr lang="en-US"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4</m:t>
                        </m:r>
                      </m:e>
                    </m:acc>
                    <m:r>
                      <a:rPr lang="ru-RU"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latin typeface="Cambria Math" panose="02040503050406030204" pitchFamily="18" charset="0"/>
                          </a:rPr>
                        </m:ctrlPr>
                      </m:accPr>
                      <m:e>
                        <m:r>
                          <a:rPr lang="ru-RU"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𝑃</m:t>
                        </m:r>
                        <m:r>
                          <a:rPr lang="ru-RU"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1</m:t>
                        </m:r>
                      </m:e>
                    </m:acc>
                    <m:r>
                      <a:rPr lang="ru-RU"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latin typeface="Cambria Math" panose="02040503050406030204" pitchFamily="18" charset="0"/>
                          </a:rPr>
                        </m:ctrlPr>
                      </m:accPr>
                      <m:e>
                        <m:r>
                          <a:rPr lang="ru-RU" sz="1600" i="1">
                            <a:solidFill>
                              <a:schemeClr val="accent6">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h</m:t>
                        </m:r>
                      </m:e>
                    </m:acc>
                  </m:oMath>
                </a14:m>
                <a:endParaRPr lang="ru-RU" sz="1600" dirty="0">
                  <a:solidFill>
                    <a:schemeClr val="accent6">
                      <a:lumMod val="50000"/>
                    </a:schemeClr>
                  </a:solidFill>
                  <a:latin typeface="Times New Roman" panose="02020603050405020304" pitchFamily="18" charset="0"/>
                  <a:ea typeface="Times New Roman" panose="02020603050405020304" pitchFamily="18" charset="0"/>
                </a:endParaRPr>
              </a:p>
              <a:p>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3FAAB187-F7EA-405C-BE5F-7C25CE1E0040}"/>
                  </a:ext>
                </a:extLst>
              </p:cNvPr>
              <p:cNvSpPr txBox="1">
                <a:spLocks noRot="1" noChangeAspect="1" noMove="1" noResize="1" noEditPoints="1" noAdjustHandles="1" noChangeArrowheads="1" noChangeShapeType="1" noTextEdit="1"/>
              </p:cNvSpPr>
              <p:nvPr/>
            </p:nvSpPr>
            <p:spPr>
              <a:xfrm>
                <a:off x="206188" y="879251"/>
                <a:ext cx="11057965" cy="4906471"/>
              </a:xfrm>
              <a:prstGeom prst="rect">
                <a:avLst/>
              </a:prstGeom>
              <a:blipFill rotWithShape="1">
                <a:blip r:embed="rId2"/>
                <a:stretch>
                  <a:fillRect l="-331" t="-373"/>
                </a:stretch>
              </a:blipFill>
            </p:spPr>
            <p:txBody>
              <a:bodyPr/>
              <a:lstStyle/>
              <a:p>
                <a:r>
                  <a:rPr lang="ru-RU">
                    <a:noFill/>
                  </a:rPr>
                  <a:t> </a:t>
                </a:r>
              </a:p>
            </p:txBody>
          </p:sp>
        </mc:Fallback>
      </mc:AlternateContent>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6087" y="1717451"/>
            <a:ext cx="3843078" cy="3227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901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1B2BFB40-0BBB-49A7-8427-C7CCB4FAC48A}"/>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14</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7156F34A-016D-4583-8FFE-E201D75C5EEC}"/>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B16B0D1-34D8-46A9-BF13-F33CD9662267}"/>
                  </a:ext>
                </a:extLst>
              </p:cNvPr>
              <p:cNvSpPr txBox="1"/>
              <p:nvPr/>
            </p:nvSpPr>
            <p:spPr>
              <a:xfrm>
                <a:off x="206188" y="935554"/>
                <a:ext cx="11057965" cy="2368212"/>
              </a:xfrm>
              <a:prstGeom prst="rect">
                <a:avLst/>
              </a:prstGeom>
              <a:noFill/>
            </p:spPr>
            <p:txBody>
              <a:bodyPr wrap="square" rtlCol="0">
                <a:spAutoFit/>
              </a:bodyPr>
              <a:lstStyle/>
              <a:p>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Проверка, </a:t>
                </a:r>
                <a:r>
                  <a:rPr lang="ru-RU" sz="1600"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находится ли точка внутри прямоугольника</a:t>
                </a:r>
                <a:r>
                  <a:rPr lang="en-US" sz="1600" b="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(на данном слайде изображен вариант, когда вершины пронумерованы по часово</a:t>
                </a:r>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й стрелке. У меня в программе они пронумерованы против часовой стрелки. Соответственно условия нахождения точки внутри прямоугольника будет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sz="1600" i="1" baseline="-25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&gt;=</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Font typeface="+mj-lt"/>
                  <a:buAutoNum type="arabicParen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Построить направляющие векторы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для каждой стороны многоугольника по направлению обхода сторон против часовой стрелки (см. рис.)</a:t>
                </a:r>
              </a:p>
              <a:p>
                <a:pPr marL="342900" lvl="0" indent="-342900">
                  <a:buFont typeface="+mj-lt"/>
                  <a:buAutoNum type="arabicParen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Построить вспомогательные векторы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a:t>
                </a:r>
                <a:r>
                  <a:rPr lang="ru-RU"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от каждого угла к точке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a:t>
                </a:r>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Font typeface="+mj-lt"/>
                  <a:buAutoNum type="arabicParen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Точка находится внутри прямоугольника, если все углы </a:t>
                </a:r>
                <a:r>
                  <a:rPr lang="en-US" sz="1600" b="1" dirty="0">
                    <a:solidFill>
                      <a:schemeClr val="accent6">
                        <a:lumMod val="50000"/>
                      </a:schemeClr>
                    </a:solidFill>
                    <a:effectLst/>
                    <a:latin typeface="Symbol" pitchFamily="18" charset="2"/>
                    <a:ea typeface="Times New Roman" panose="02020603050405020304" pitchFamily="18" charset="0"/>
                    <a:cs typeface="Times New Roman" panose="02020603050405020304" pitchFamily="18" charset="0"/>
                  </a:rPr>
                  <a:t>a</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между </a:t>
                </a:r>
                <a14:m>
                  <m:oMath xmlns:m="http://schemas.openxmlformats.org/officeDocument/2006/math">
                    <m:sSub>
                      <m:sSubPr>
                        <m:ctrlPr>
                          <a:rPr lang="ru-RU" sz="1600" i="1">
                            <a:solidFill>
                              <a:schemeClr val="accent6">
                                <a:lumMod val="50000"/>
                              </a:schemeClr>
                            </a:solidFill>
                            <a:latin typeface="Cambria Math" panose="02040503050406030204" pitchFamily="18" charset="0"/>
                            <a:ea typeface="Times New Roman" panose="02020603050405020304" pitchFamily="18" charset="0"/>
                          </a:rPr>
                        </m:ctrlPr>
                      </m:sSubPr>
                      <m:e>
                        <m:acc>
                          <m:accPr>
                            <m:chr m:val="⃗"/>
                            <m:ctrlPr>
                              <a:rPr lang="ru-RU" sz="1600" i="1">
                                <a:solidFill>
                                  <a:schemeClr val="accent6">
                                    <a:lumMod val="50000"/>
                                  </a:schemeClr>
                                </a:solidFill>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latin typeface="Cambria Math" panose="02040503050406030204" pitchFamily="18" charset="0"/>
                                <a:ea typeface="Times New Roman" panose="02020603050405020304" pitchFamily="18" charset="0"/>
                              </a:rPr>
                              <m:t>𝑅</m:t>
                            </m:r>
                          </m:e>
                        </m:acc>
                      </m:e>
                      <m:sub>
                        <m:r>
                          <a:rPr lang="en-US" sz="1600" i="1">
                            <a:solidFill>
                              <a:schemeClr val="accent6">
                                <a:lumMod val="50000"/>
                              </a:schemeClr>
                            </a:solidFill>
                            <a:latin typeface="Cambria Math" panose="02040503050406030204" pitchFamily="18" charset="0"/>
                            <a:ea typeface="Times New Roman" panose="02020603050405020304" pitchFamily="18" charset="0"/>
                          </a:rPr>
                          <m:t>𝑖</m:t>
                        </m:r>
                      </m:sub>
                    </m:sSub>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и </a:t>
                </a:r>
                <a14:m>
                  <m:oMath xmlns:m="http://schemas.openxmlformats.org/officeDocument/2006/math">
                    <m:sSub>
                      <m:sSubPr>
                        <m:ctrlPr>
                          <a:rPr lang="ru-RU" sz="1600" i="1">
                            <a:solidFill>
                              <a:schemeClr val="accent6">
                                <a:lumMod val="50000"/>
                              </a:schemeClr>
                            </a:solidFill>
                            <a:latin typeface="Cambria Math" panose="02040503050406030204" pitchFamily="18" charset="0"/>
                            <a:ea typeface="Times New Roman" panose="02020603050405020304" pitchFamily="18" charset="0"/>
                          </a:rPr>
                        </m:ctrlPr>
                      </m:sSubPr>
                      <m:e>
                        <m:acc>
                          <m:accPr>
                            <m:chr m:val="⃗"/>
                            <m:ctrlPr>
                              <a:rPr lang="ru-RU" sz="1600" i="1">
                                <a:solidFill>
                                  <a:schemeClr val="accent6">
                                    <a:lumMod val="50000"/>
                                  </a:schemeClr>
                                </a:solidFill>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latin typeface="Cambria Math" panose="02040503050406030204" pitchFamily="18" charset="0"/>
                                <a:ea typeface="Times New Roman" panose="02020603050405020304" pitchFamily="18" charset="0"/>
                              </a:rPr>
                              <m:t>𝑉</m:t>
                            </m:r>
                          </m:e>
                        </m:acc>
                      </m:e>
                      <m:sub>
                        <m:r>
                          <a:rPr lang="en-US" sz="1600" i="1">
                            <a:solidFill>
                              <a:schemeClr val="accent6">
                                <a:lumMod val="50000"/>
                              </a:schemeClr>
                            </a:solidFill>
                            <a:latin typeface="Cambria Math" panose="02040503050406030204" pitchFamily="18" charset="0"/>
                            <a:ea typeface="Times New Roman" panose="02020603050405020304" pitchFamily="18" charset="0"/>
                          </a:rPr>
                          <m:t>𝑖</m:t>
                        </m:r>
                      </m:sub>
                    </m:sSub>
                  </m:oMath>
                </a14:m>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положительны</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Для нахождения знака угла </a:t>
                </a:r>
                <a:r>
                  <a:rPr lang="en-US" sz="1600" b="1" dirty="0">
                    <a:solidFill>
                      <a:schemeClr val="accent6">
                        <a:lumMod val="50000"/>
                      </a:schemeClr>
                    </a:solidFill>
                    <a:latin typeface="Symbol" pitchFamily="18" charset="2"/>
                    <a:ea typeface="Times New Roman" panose="02020603050405020304" pitchFamily="18" charset="0"/>
                    <a:cs typeface="Times New Roman" panose="02020603050405020304" pitchFamily="18" charset="0"/>
                  </a:rPr>
                  <a:t>a</a:t>
                </a:r>
                <a:r>
                  <a:rPr lang="ru-RU" sz="1600" b="1" dirty="0">
                    <a:solidFill>
                      <a:schemeClr val="accent6">
                        <a:lumMod val="50000"/>
                      </a:schemeClr>
                    </a:solidFill>
                    <a:latin typeface="Symbol" pitchFamily="18" charset="2"/>
                    <a:ea typeface="Times New Roman" panose="02020603050405020304" pitchFamily="18" charset="0"/>
                    <a:cs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рассчитаем все косые произведения для каждой пары векторов </a:t>
                </a:r>
                <a14:m>
                  <m:oMath xmlns:m="http://schemas.openxmlformats.org/officeDocument/2006/math">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𝑆</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𝑖</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600" b="0" i="1" smtClean="0">
                                <a:solidFill>
                                  <a:schemeClr val="accent6">
                                    <a:lumMod val="50000"/>
                                  </a:schemeClr>
                                </a:solidFill>
                                <a:effectLst/>
                                <a:latin typeface="Cambria Math"/>
                                <a:ea typeface="Times New Roman" panose="02020603050405020304" pitchFamily="18" charset="0"/>
                              </a:rPr>
                              <m:t>𝑅</m:t>
                            </m:r>
                          </m:e>
                        </m:acc>
                      </m:e>
                      <m:sub>
                        <m:r>
                          <a:rPr lang="en-US" sz="1600" i="1">
                            <a:solidFill>
                              <a:schemeClr val="accent6">
                                <a:lumMod val="50000"/>
                              </a:schemeClr>
                            </a:solidFill>
                            <a:effectLst/>
                            <a:latin typeface="Cambria Math" panose="02040503050406030204" pitchFamily="18" charset="0"/>
                            <a:ea typeface="Times New Roman" panose="02020603050405020304" pitchFamily="18" charset="0"/>
                          </a:rPr>
                          <m:t>𝑖</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oMath>
                </a14:m>
                <a:r>
                  <a:rPr lang="ru-RU" sz="1600" dirty="0">
                    <a:solidFill>
                      <a:schemeClr val="accent6">
                        <a:lumMod val="50000"/>
                      </a:schemeClr>
                    </a:solidFill>
                    <a:ea typeface="Times New Roman" panose="02020603050405020304" pitchFamily="18" charset="0"/>
                  </a:rPr>
                  <a:t> </a:t>
                </a:r>
                <a14:m>
                  <m:oMath xmlns:m="http://schemas.openxmlformats.org/officeDocument/2006/math">
                    <m:sSub>
                      <m:sSubPr>
                        <m:ctrlPr>
                          <a:rPr lang="ru-RU" sz="1600" i="1">
                            <a:solidFill>
                              <a:schemeClr val="accent6">
                                <a:lumMod val="50000"/>
                              </a:schemeClr>
                            </a:solidFill>
                            <a:latin typeface="Cambria Math" panose="02040503050406030204" pitchFamily="18" charset="0"/>
                            <a:ea typeface="Times New Roman" panose="02020603050405020304" pitchFamily="18" charset="0"/>
                          </a:rPr>
                        </m:ctrlPr>
                      </m:sSubPr>
                      <m:e>
                        <m:acc>
                          <m:accPr>
                            <m:chr m:val="⃗"/>
                            <m:ctrlPr>
                              <a:rPr lang="ru-RU" sz="1600" i="1">
                                <a:solidFill>
                                  <a:schemeClr val="accent6">
                                    <a:lumMod val="50000"/>
                                  </a:schemeClr>
                                </a:solidFill>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latin typeface="Cambria Math" panose="02040503050406030204" pitchFamily="18" charset="0"/>
                                <a:ea typeface="Times New Roman" panose="02020603050405020304" pitchFamily="18" charset="0"/>
                              </a:rPr>
                              <m:t>𝑉</m:t>
                            </m:r>
                          </m:e>
                        </m:acc>
                      </m:e>
                      <m:sub>
                        <m:r>
                          <a:rPr lang="en-US" sz="1600" i="1">
                            <a:solidFill>
                              <a:schemeClr val="accent6">
                                <a:lumMod val="50000"/>
                              </a:schemeClr>
                            </a:solidFill>
                            <a:latin typeface="Cambria Math" panose="02040503050406030204" pitchFamily="18" charset="0"/>
                            <a:ea typeface="Times New Roman" panose="02020603050405020304" pitchFamily="18" charset="0"/>
                          </a:rPr>
                          <m:t>𝑖</m:t>
                        </m:r>
                      </m:sub>
                    </m:sSub>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buFont typeface="+mj-lt"/>
                  <a:buAutoNum type="arabicParenR"/>
                </a:pP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Если все произведения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sz="1600" i="1" baseline="-25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&gt;</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=0, то точка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лежит внутри прямоугольника.</a:t>
                </a:r>
              </a:p>
            </p:txBody>
          </p:sp>
        </mc:Choice>
        <mc:Fallback xmlns="">
          <p:sp>
            <p:nvSpPr>
              <p:cNvPr id="7" name="TextBox 6">
                <a:extLst>
                  <a:ext uri="{FF2B5EF4-FFF2-40B4-BE49-F238E27FC236}">
                    <a16:creationId xmlns="" xmlns:a16="http://schemas.microsoft.com/office/drawing/2014/main" xmlns:a14="http://schemas.microsoft.com/office/drawing/2010/main" id="{3B16B0D1-34D8-46A9-BF13-F33CD9662267}"/>
                  </a:ext>
                </a:extLst>
              </p:cNvPr>
              <p:cNvSpPr txBox="1">
                <a:spLocks noRot="1" noChangeAspect="1" noMove="1" noResize="1" noEditPoints="1" noAdjustHandles="1" noChangeArrowheads="1" noChangeShapeType="1" noTextEdit="1"/>
              </p:cNvSpPr>
              <p:nvPr/>
            </p:nvSpPr>
            <p:spPr>
              <a:xfrm>
                <a:off x="206188" y="935554"/>
                <a:ext cx="11057965" cy="2368212"/>
              </a:xfrm>
              <a:prstGeom prst="rect">
                <a:avLst/>
              </a:prstGeom>
              <a:blipFill rotWithShape="1">
                <a:blip r:embed="rId2"/>
                <a:stretch>
                  <a:fillRect l="-331" t="-771" b="-2314"/>
                </a:stretch>
              </a:blipFill>
            </p:spPr>
            <p:txBody>
              <a:bodyPr/>
              <a:lstStyle/>
              <a:p>
                <a:r>
                  <a:rPr lang="ru-RU">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742" y="3429000"/>
            <a:ext cx="3981450" cy="334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3607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68E96EBC-C899-41ED-9485-609ED652ADCD}"/>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15</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E8CA7009-24FA-4064-A5CC-665AD8C89782}"/>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17295B-39F9-4FAC-926B-63F2C4BF510F}"/>
                  </a:ext>
                </a:extLst>
              </p:cNvPr>
              <p:cNvSpPr txBox="1"/>
              <p:nvPr/>
            </p:nvSpPr>
            <p:spPr>
              <a:xfrm>
                <a:off x="234035" y="756061"/>
                <a:ext cx="11057965" cy="5589287"/>
              </a:xfrm>
              <a:prstGeom prst="rect">
                <a:avLst/>
              </a:prstGeom>
              <a:noFill/>
            </p:spPr>
            <p:txBody>
              <a:bodyPr wrap="square" rtlCol="0">
                <a:spAutoFit/>
              </a:bodyPr>
              <a:lstStyle/>
              <a:p>
                <a:r>
                  <a:rPr lang="ru-RU" sz="1600" b="1"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Пересечение отрезков</a:t>
                </a: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Параметрические уравнения прямых для заданных отрезков:</a:t>
                </a:r>
              </a:p>
              <a:p>
                <a:pPr marL="457200"/>
                <a14:m>
                  <m:oMathPara xmlns:m="http://schemas.openxmlformats.org/officeDocument/2006/math">
                    <m:oMathParaPr>
                      <m:jc m:val="centerGroup"/>
                    </m:oMathParaPr>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ea typeface="Times New Roman" panose="020206030504050203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rPr>
                            <m:t>𝑃</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1</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sub>
                      </m:sSub>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sub>
                          </m:sSub>
                        </m:e>
                      </m:acc>
                      <m:r>
                        <a:rPr lang="en-US" sz="1600" i="1">
                          <a:solidFill>
                            <a:schemeClr val="accent6">
                              <a:lumMod val="50000"/>
                            </a:schemeClr>
                          </a:solidFill>
                          <a:effectLst/>
                          <a:latin typeface="Cambria Math" panose="02040503050406030204" pitchFamily="18" charset="0"/>
                          <a:ea typeface="Times New Roman" panose="02020603050405020304" pitchFamily="18" charset="0"/>
                        </a:rPr>
                        <m:t>;   </m:t>
                      </m:r>
                      <m:r>
                        <a:rPr lang="ru-RU" sz="1600" b="0" i="1" smtClean="0">
                          <a:solidFill>
                            <a:schemeClr val="accent6">
                              <a:lumMod val="50000"/>
                            </a:schemeClr>
                          </a:solidFill>
                          <a:effectLst/>
                          <a:latin typeface="Cambria Math" panose="02040503050406030204" pitchFamily="18" charset="0"/>
                          <a:ea typeface="Times New Roman" panose="02020603050405020304" pitchFamily="18" charset="0"/>
                        </a:rPr>
                        <m:t>      </m:t>
                      </m:r>
                      <m:r>
                        <a:rPr lang="ru-RU" sz="1600" i="1">
                          <a:solidFill>
                            <a:schemeClr val="accent6">
                              <a:lumMod val="50000"/>
                            </a:schemeClr>
                          </a:solidFill>
                          <a:effectLst/>
                          <a:latin typeface="Cambria Math" panose="02040503050406030204" pitchFamily="18" charset="0"/>
                          <a:ea typeface="Times New Roman" panose="02020603050405020304" pitchFamily="18" charset="0"/>
                        </a:rPr>
                        <m:t>где  </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2</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accPr>
                        <m:e>
                          <m:sSub>
                            <m:sSubPr>
                              <m:ctrlPr>
                                <a:rPr lang="ru-RU" sz="1600" i="1">
                                  <a:solidFill>
                                    <a:schemeClr val="accent6">
                                      <a:lumMod val="50000"/>
                                    </a:schemeClr>
                                  </a:solidFill>
                                  <a:effectLst/>
                                  <a:latin typeface="Cambria Math" panose="02040503050406030204" pitchFamily="18" charset="0"/>
                                  <a:ea typeface="Times New Roman" panose="020206030504050203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rPr>
                                <m:t>1</m:t>
                              </m:r>
                            </m:sub>
                          </m:sSub>
                        </m:e>
                      </m:acc>
                    </m:oMath>
                  </m:oMathPara>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ru-RU" sz="1600" i="1">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e>
                      </m:acc>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ru-RU" sz="1600" b="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где  </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oMath>
                  </m:oMathPara>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Точка пересечения линий – решение системы </a:t>
                </a:r>
                <a14:m>
                  <m:oMath xmlns:m="http://schemas.openxmlformats.org/officeDocument/2006/math">
                    <m:acc>
                      <m:accPr>
                        <m:chr m:val="⃗"/>
                        <m:ctrlPr>
                          <a:rPr lang="ru-RU" sz="1600" i="1" smtClean="0">
                            <a:solidFill>
                              <a:schemeClr val="accent6">
                                <a:lumMod val="50000"/>
                              </a:schemeClr>
                            </a:solidFill>
                            <a:effectLst/>
                            <a:latin typeface="Cambria Math" panose="02040503050406030204" pitchFamily="18" charset="0"/>
                          </a:rPr>
                        </m:ctrlPr>
                      </m:acc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m:t>
                        </m:r>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e>
                    </m:acc>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acc>
                      <m:accPr>
                        <m:chr m:val="⃗"/>
                        <m:ctrlPr>
                          <a:rPr lang="ru-RU" sz="1600" i="1">
                            <a:solidFill>
                              <a:schemeClr val="accent6">
                                <a:lumMod val="50000"/>
                              </a:schemeClr>
                            </a:solidFill>
                            <a:effectLst/>
                            <a:latin typeface="Cambria Math" panose="02040503050406030204" pitchFamily="18" charset="0"/>
                          </a:rPr>
                        </m:ctrlPr>
                      </m:acc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e>
                    </m:acc>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Запись в координатной форме</a:t>
                </a:r>
              </a:p>
              <a:p>
                <a:pPr/>
                <a14:m>
                  <m:oMathPara xmlns:m="http://schemas.openxmlformats.org/officeDocument/2006/math">
                    <m:oMathParaPr>
                      <m:jc m:val="centerGroup"/>
                    </m:oMathParaPr>
                    <m:oMath xmlns:m="http://schemas.openxmlformats.org/officeDocument/2006/math">
                      <m:d>
                        <m:dPr>
                          <m:begChr m:val="{"/>
                          <m:endChr m:val=""/>
                          <m:ctrlPr>
                            <a:rPr lang="ru-RU" sz="1600" i="1" smtClean="0">
                              <a:solidFill>
                                <a:schemeClr val="accent6">
                                  <a:lumMod val="50000"/>
                                </a:schemeClr>
                              </a:solidFill>
                              <a:effectLst/>
                              <a:latin typeface="Cambria Math" panose="02040503050406030204" pitchFamily="18" charset="0"/>
                            </a:rPr>
                          </m:ctrlPr>
                        </m:dPr>
                        <m:e>
                          <m:eqArr>
                            <m:eqArrPr>
                              <m:ctrlPr>
                                <a:rPr lang="ru-RU" sz="1600" i="1">
                                  <a:solidFill>
                                    <a:schemeClr val="accent6">
                                      <a:lumMod val="50000"/>
                                    </a:schemeClr>
                                  </a:solidFill>
                                  <a:effectLst/>
                                  <a:latin typeface="Cambria Math" panose="02040503050406030204" pitchFamily="18" charset="0"/>
                                </a:rPr>
                              </m:ctrlPr>
                            </m:eqArrPr>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𝐴𝑥</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𝐵𝑥</m:t>
                                  </m:r>
                                </m:sub>
                              </m:sSub>
                            </m:e>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𝐵𝑦</m:t>
                                  </m:r>
                                </m:sub>
                              </m:sSub>
                            </m:e>
                          </m:eqArr>
                        </m:e>
                      </m:d>
                    </m:oMath>
                  </m:oMathPara>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Решение системы </a:t>
                </a:r>
                <a14:m>
                  <m:oMath xmlns:m="http://schemas.openxmlformats.org/officeDocument/2006/math">
                    <m:r>
                      <a:rPr lang="en-US" sz="1600" b="0" i="0" smtClean="0">
                        <a:solidFill>
                          <a:schemeClr val="accent6">
                            <a:lumMod val="50000"/>
                          </a:schemeClr>
                        </a:solidFill>
                        <a:effectLst/>
                        <a:latin typeface="Cambria Math" panose="02040503050406030204" pitchFamily="18" charset="0"/>
                      </a:rPr>
                      <m:t>              </m:t>
                    </m:r>
                    <m:sSub>
                      <m:sSubPr>
                        <m:ctrlPr>
                          <a:rPr lang="ru-RU" sz="1600" i="1" smtClean="0">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sz="1600" i="1">
                            <a:solidFill>
                              <a:schemeClr val="accent6">
                                <a:lumMod val="50000"/>
                              </a:schemeClr>
                            </a:solidFill>
                            <a:effectLst/>
                            <a:latin typeface="Cambria Math" panose="02040503050406030204" pitchFamily="18" charset="0"/>
                          </a:rPr>
                        </m:ctrlPr>
                      </m:fPr>
                      <m:num>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num>
                      <m:den>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den>
                    </m:f>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sz="1600" i="1">
                            <a:solidFill>
                              <a:schemeClr val="accent6">
                                <a:lumMod val="50000"/>
                              </a:schemeClr>
                            </a:solidFill>
                            <a:effectLst/>
                            <a:latin typeface="Cambria Math" panose="02040503050406030204" pitchFamily="18" charset="0"/>
                          </a:rPr>
                        </m:ctrlPr>
                      </m:fPr>
                      <m:num>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num>
                      <m:den>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den>
                    </m:f>
                  </m:oMath>
                </a14:m>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r>
                      <a:rPr lang="en-US"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sz="1600" i="1">
                            <a:solidFill>
                              <a:schemeClr val="accent6">
                                <a:lumMod val="50000"/>
                              </a:schemeClr>
                            </a:solidFill>
                            <a:effectLst/>
                            <a:latin typeface="Cambria Math" panose="02040503050406030204" pitchFamily="18" charset="0"/>
                          </a:rPr>
                        </m:ctrlPr>
                      </m:dPr>
                      <m:e>
                        <m:m>
                          <m:mPr>
                            <m:mcs>
                              <m:mc>
                                <m:mcPr>
                                  <m:count m:val="2"/>
                                  <m:mcJc m:val="center"/>
                                </m:mcPr>
                              </m:mc>
                            </m:mcs>
                            <m:ctrlPr>
                              <a:rPr lang="ru-RU" sz="1600" i="1">
                                <a:solidFill>
                                  <a:schemeClr val="accent6">
                                    <a:lumMod val="50000"/>
                                  </a:schemeClr>
                                </a:solidFill>
                                <a:effectLst/>
                                <a:latin typeface="Cambria Math" panose="02040503050406030204" pitchFamily="18" charset="0"/>
                              </a:rPr>
                            </m:ctrlPr>
                          </m:mPr>
                          <m:mr>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𝐴𝑥</m:t>
                                      </m:r>
                                    </m:sub>
                                  </m:sSub>
                                </m:e>
                              </m:d>
                            </m:e>
                            <m:e>
                              <m:d>
                                <m:dPr>
                                  <m:ctrlPr>
                                    <a:rPr lang="ru-RU" sz="1600" i="1">
                                      <a:solidFill>
                                        <a:schemeClr val="accent6">
                                          <a:lumMod val="50000"/>
                                        </a:schemeClr>
                                      </a:solidFill>
                                      <a:effectLst/>
                                      <a:latin typeface="Cambria Math" panose="02040503050406030204" pitchFamily="18" charset="0"/>
                                    </a:rPr>
                                  </m:ctrlPr>
                                </m:d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𝐵𝑥</m:t>
                                      </m:r>
                                    </m:sub>
                                  </m:sSub>
                                </m:e>
                              </m:d>
                            </m:e>
                          </m:mr>
                          <m:mr>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𝐴𝑦</m:t>
                                      </m:r>
                                    </m:sub>
                                  </m:sSub>
                                </m:e>
                              </m:d>
                            </m:e>
                            <m:e>
                              <m:d>
                                <m:dPr>
                                  <m:ctrlPr>
                                    <a:rPr lang="ru-RU" sz="1600" i="1">
                                      <a:solidFill>
                                        <a:schemeClr val="accent6">
                                          <a:lumMod val="50000"/>
                                        </a:schemeClr>
                                      </a:solidFill>
                                      <a:effectLst/>
                                      <a:latin typeface="Cambria Math" panose="02040503050406030204" pitchFamily="18" charset="0"/>
                                    </a:rPr>
                                  </m:ctrlPr>
                                </m:d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𝐵𝑦</m:t>
                                      </m:r>
                                    </m:sub>
                                  </m:sSub>
                                </m:e>
                              </m:d>
                            </m:e>
                          </m:mr>
                        </m:m>
                      </m:e>
                    </m:d>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𝐴𝑥</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𝐴𝑦</m:t>
                        </m:r>
                      </m:sub>
                    </m:sSub>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𝐵𝑥</m:t>
                        </m:r>
                      </m:sub>
                    </m:sSub>
                    <m:r>
                      <a:rPr lang="en-US" sz="1600" b="0" i="0"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b="0" i="0"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b="0" i="0"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𝐷</m:t>
                        </m:r>
                      </m:e>
                      <m:sub>
                        <m:r>
                          <a:rPr lang="en-US" sz="1600" i="1">
                            <a:solidFill>
                              <a:schemeClr val="accent6">
                                <a:lumMod val="50000"/>
                              </a:schemeClr>
                            </a:solidFill>
                            <a:latin typeface="Cambria Math" panose="02040503050406030204" pitchFamily="18" charset="0"/>
                          </a:rPr>
                          <m:t>𝐴</m:t>
                        </m:r>
                      </m:sub>
                    </m:sSub>
                    <m:r>
                      <a:rPr lang="en-US" sz="1600" i="1">
                        <a:solidFill>
                          <a:schemeClr val="accent6">
                            <a:lumMod val="50000"/>
                          </a:schemeClr>
                        </a:solidFill>
                        <a:latin typeface="Cambria Math" panose="02040503050406030204" pitchFamily="18" charset="0"/>
                      </a:rPr>
                      <m:t>=</m:t>
                    </m:r>
                    <m:d>
                      <m:dPr>
                        <m:begChr m:val="|"/>
                        <m:endChr m:val="|"/>
                        <m:ctrlPr>
                          <a:rPr lang="ru-RU" sz="1600" i="1">
                            <a:solidFill>
                              <a:schemeClr val="accent6">
                                <a:lumMod val="50000"/>
                              </a:schemeClr>
                            </a:solidFill>
                            <a:latin typeface="Cambria Math" panose="02040503050406030204" pitchFamily="18" charset="0"/>
                          </a:rPr>
                        </m:ctrlPr>
                      </m:dPr>
                      <m:e>
                        <m:m>
                          <m:mPr>
                            <m:mcs>
                              <m:mc>
                                <m:mcPr>
                                  <m:count m:val="2"/>
                                  <m:mcJc m:val="center"/>
                                </m:mcPr>
                              </m:mc>
                            </m:mcs>
                            <m:ctrlPr>
                              <a:rPr lang="ru-RU" sz="1600" i="1">
                                <a:solidFill>
                                  <a:schemeClr val="accent6">
                                    <a:lumMod val="50000"/>
                                  </a:schemeClr>
                                </a:solidFill>
                                <a:latin typeface="Cambria Math" panose="02040503050406030204" pitchFamily="18" charset="0"/>
                              </a:rPr>
                            </m:ctrlPr>
                          </m:mPr>
                          <m:mr>
                            <m:e>
                              <m:d>
                                <m:dPr>
                                  <m:ctrlPr>
                                    <a:rPr lang="ru-RU" sz="1600" i="1">
                                      <a:solidFill>
                                        <a:schemeClr val="accent6">
                                          <a:lumMod val="50000"/>
                                        </a:schemeClr>
                                      </a:solidFill>
                                      <a:latin typeface="Cambria Math" panose="02040503050406030204" pitchFamily="18" charset="0"/>
                                    </a:rPr>
                                  </m:ctrlPr>
                                </m:dPr>
                                <m:e>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𝐵</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𝑥</m:t>
                                      </m:r>
                                    </m:sub>
                                  </m:sSub>
                                  <m:r>
                                    <a:rPr lang="ru-RU"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𝐴</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𝑥</m:t>
                                      </m:r>
                                    </m:sub>
                                  </m:sSub>
                                </m:e>
                              </m:d>
                            </m:e>
                            <m:e>
                              <m:d>
                                <m:dPr>
                                  <m:ctrlPr>
                                    <a:rPr lang="ru-RU" sz="1600" i="1">
                                      <a:solidFill>
                                        <a:schemeClr val="accent6">
                                          <a:lumMod val="50000"/>
                                        </a:schemeClr>
                                      </a:solidFill>
                                      <a:latin typeface="Cambria Math" panose="02040503050406030204" pitchFamily="18" charset="0"/>
                                    </a:rPr>
                                  </m:ctrlPr>
                                </m:dPr>
                                <m:e>
                                  <m:r>
                                    <a:rPr lang="en-US"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ru-RU" sz="1600" i="1">
                                          <a:solidFill>
                                            <a:schemeClr val="accent6">
                                              <a:lumMod val="50000"/>
                                            </a:schemeClr>
                                          </a:solidFill>
                                          <a:latin typeface="Cambria Math" panose="02040503050406030204" pitchFamily="18" charset="0"/>
                                        </a:rPr>
                                        <m:t>𝐵𝑥</m:t>
                                      </m:r>
                                    </m:sub>
                                  </m:sSub>
                                </m:e>
                              </m:d>
                            </m:e>
                          </m:mr>
                          <m:mr>
                            <m:e>
                              <m:d>
                                <m:dPr>
                                  <m:ctrlPr>
                                    <a:rPr lang="ru-RU" sz="1600" i="1">
                                      <a:solidFill>
                                        <a:schemeClr val="accent6">
                                          <a:lumMod val="50000"/>
                                        </a:schemeClr>
                                      </a:solidFill>
                                      <a:latin typeface="Cambria Math" panose="02040503050406030204" pitchFamily="18" charset="0"/>
                                    </a:rPr>
                                  </m:ctrlPr>
                                </m:dPr>
                                <m:e>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𝐵</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𝑦</m:t>
                                      </m:r>
                                    </m:sub>
                                  </m:sSub>
                                  <m:r>
                                    <a:rPr lang="ru-RU"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𝐴</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𝑦</m:t>
                                      </m:r>
                                    </m:sub>
                                  </m:sSub>
                                </m:e>
                              </m:d>
                            </m:e>
                            <m:e>
                              <m:d>
                                <m:dPr>
                                  <m:ctrlPr>
                                    <a:rPr lang="ru-RU" sz="1600" i="1">
                                      <a:solidFill>
                                        <a:schemeClr val="accent6">
                                          <a:lumMod val="50000"/>
                                        </a:schemeClr>
                                      </a:solidFill>
                                      <a:latin typeface="Cambria Math" panose="02040503050406030204" pitchFamily="18" charset="0"/>
                                    </a:rPr>
                                  </m:ctrlPr>
                                </m:dPr>
                                <m:e>
                                  <m:r>
                                    <a:rPr lang="en-US"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ru-RU" sz="1600" i="1">
                                          <a:solidFill>
                                            <a:schemeClr val="accent6">
                                              <a:lumMod val="50000"/>
                                            </a:schemeClr>
                                          </a:solidFill>
                                          <a:latin typeface="Cambria Math" panose="02040503050406030204" pitchFamily="18" charset="0"/>
                                        </a:rPr>
                                        <m:t>𝐵𝑦</m:t>
                                      </m:r>
                                    </m:sub>
                                  </m:sSub>
                                </m:e>
                              </m:d>
                            </m:e>
                          </m:mr>
                        </m:m>
                      </m:e>
                    </m:d>
                    <m:r>
                      <a:rPr lang="en-US" sz="1600" i="1">
                        <a:solidFill>
                          <a:schemeClr val="accent6">
                            <a:lumMod val="50000"/>
                          </a:schemeClr>
                        </a:solidFill>
                        <a:latin typeface="Cambria Math" panose="02040503050406030204" pitchFamily="18" charset="0"/>
                      </a:rPr>
                      <m:t>=−</m:t>
                    </m:r>
                    <m:d>
                      <m:dPr>
                        <m:ctrlPr>
                          <a:rPr lang="ru-RU" sz="1600" i="1">
                            <a:solidFill>
                              <a:schemeClr val="accent6">
                                <a:lumMod val="50000"/>
                              </a:schemeClr>
                            </a:solidFill>
                            <a:latin typeface="Cambria Math" panose="02040503050406030204" pitchFamily="18" charset="0"/>
                          </a:rPr>
                        </m:ctrlPr>
                      </m:dPr>
                      <m:e>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𝐵</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𝑥</m:t>
                            </m:r>
                          </m:sub>
                        </m:sSub>
                        <m:r>
                          <a:rPr lang="ru-RU"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𝐴</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𝑥</m:t>
                            </m:r>
                          </m:sub>
                        </m:sSub>
                      </m:e>
                    </m:d>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ru-RU" sz="1600" i="1">
                            <a:solidFill>
                              <a:schemeClr val="accent6">
                                <a:lumMod val="50000"/>
                              </a:schemeClr>
                            </a:solidFill>
                            <a:latin typeface="Cambria Math" panose="02040503050406030204" pitchFamily="18" charset="0"/>
                          </a:rPr>
                          <m:t>𝐵𝑦</m:t>
                        </m:r>
                      </m:sub>
                    </m:sSub>
                    <m:r>
                      <a:rPr lang="ru-RU" sz="1600" i="1">
                        <a:solidFill>
                          <a:schemeClr val="accent6">
                            <a:lumMod val="50000"/>
                          </a:schemeClr>
                        </a:solidFill>
                        <a:latin typeface="Cambria Math" panose="02040503050406030204" pitchFamily="18" charset="0"/>
                      </a:rPr>
                      <m:t>+</m:t>
                    </m:r>
                    <m:d>
                      <m:dPr>
                        <m:ctrlPr>
                          <a:rPr lang="ru-RU" sz="1600" i="1">
                            <a:solidFill>
                              <a:schemeClr val="accent6">
                                <a:lumMod val="50000"/>
                              </a:schemeClr>
                            </a:solidFill>
                            <a:latin typeface="Cambria Math" panose="02040503050406030204" pitchFamily="18" charset="0"/>
                          </a:rPr>
                        </m:ctrlPr>
                      </m:dPr>
                      <m:e>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𝐵</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𝑦</m:t>
                            </m:r>
                          </m:sub>
                        </m:sSub>
                        <m:r>
                          <a:rPr lang="ru-RU" sz="1600" i="1">
                            <a:solidFill>
                              <a:schemeClr val="accent6">
                                <a:lumMod val="50000"/>
                              </a:schemeClr>
                            </a:solidFill>
                            <a:latin typeface="Cambria Math" panose="02040503050406030204" pitchFamily="18" charset="0"/>
                          </a:rPr>
                          <m:t>−</m:t>
                        </m:r>
                        <m:sSub>
                          <m:sSubPr>
                            <m:ctrlPr>
                              <a:rPr lang="ru-RU" sz="1600" i="1">
                                <a:solidFill>
                                  <a:schemeClr val="accent6">
                                    <a:lumMod val="50000"/>
                                  </a:schemeClr>
                                </a:solidFill>
                                <a:latin typeface="Cambria Math" panose="02040503050406030204" pitchFamily="18" charset="0"/>
                              </a:rPr>
                            </m:ctrlPr>
                          </m:sSubPr>
                          <m:e>
                            <m:r>
                              <a:rPr lang="en-US" sz="1600" i="1">
                                <a:solidFill>
                                  <a:schemeClr val="accent6">
                                    <a:lumMod val="50000"/>
                                  </a:schemeClr>
                                </a:solidFill>
                                <a:latin typeface="Cambria Math" panose="02040503050406030204" pitchFamily="18" charset="0"/>
                              </a:rPr>
                              <m:t>𝐴</m:t>
                            </m:r>
                          </m:e>
                          <m:sub>
                            <m:r>
                              <a:rPr lang="ru-RU" sz="1600" i="1">
                                <a:solidFill>
                                  <a:schemeClr val="accent6">
                                    <a:lumMod val="50000"/>
                                  </a:schemeClr>
                                </a:solidFill>
                                <a:latin typeface="Cambria Math" panose="02040503050406030204" pitchFamily="18" charset="0"/>
                              </a:rPr>
                              <m:t>1</m:t>
                            </m:r>
                            <m:r>
                              <a:rPr lang="ru-RU" sz="1600" i="1">
                                <a:solidFill>
                                  <a:schemeClr val="accent6">
                                    <a:lumMod val="50000"/>
                                  </a:schemeClr>
                                </a:solidFill>
                                <a:latin typeface="Cambria Math" panose="02040503050406030204" pitchFamily="18" charset="0"/>
                              </a:rPr>
                              <m:t>𝑦</m:t>
                            </m:r>
                          </m:sub>
                        </m:sSub>
                      </m:e>
                    </m:d>
                    <m:sSub>
                      <m:sSubPr>
                        <m:ctrlPr>
                          <a:rPr lang="ru-RU" sz="1600" i="1">
                            <a:solidFill>
                              <a:schemeClr val="accent6">
                                <a:lumMod val="50000"/>
                              </a:schemeClr>
                            </a:solidFill>
                            <a:latin typeface="Cambria Math" panose="02040503050406030204" pitchFamily="18" charset="0"/>
                          </a:rPr>
                        </m:ctrlPr>
                      </m:sSubPr>
                      <m:e>
                        <m:r>
                          <a:rPr lang="ru-RU" sz="1600" i="1">
                            <a:solidFill>
                              <a:schemeClr val="accent6">
                                <a:lumMod val="50000"/>
                              </a:schemeClr>
                            </a:solidFill>
                            <a:latin typeface="Cambria Math" panose="02040503050406030204" pitchFamily="18" charset="0"/>
                          </a:rPr>
                          <m:t>𝑅</m:t>
                        </m:r>
                      </m:e>
                      <m:sub>
                        <m:r>
                          <a:rPr lang="en-US" sz="1600" b="0" i="1" smtClean="0">
                            <a:solidFill>
                              <a:schemeClr val="accent6">
                                <a:lumMod val="50000"/>
                              </a:schemeClr>
                            </a:solidFill>
                            <a:latin typeface="Cambria Math" panose="02040503050406030204" pitchFamily="18" charset="0"/>
                          </a:rPr>
                          <m:t>𝐵𝑥</m:t>
                        </m:r>
                      </m:sub>
                    </m:sSub>
                  </m:oMath>
                </a14:m>
                <a:endParaRPr lang="ru-RU" sz="1600" dirty="0">
                  <a:solidFill>
                    <a:schemeClr val="accent6">
                      <a:lumMod val="50000"/>
                    </a:schemeClr>
                  </a:solidFill>
                  <a:latin typeface="Times New Roman" panose="02020603050405020304" pitchFamily="18" charset="0"/>
                  <a:cs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ru-RU" sz="1600" i="1" smtClean="0">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ru-RU" sz="1600" i="1">
                              <a:solidFill>
                                <a:schemeClr val="accent6">
                                  <a:lumMod val="50000"/>
                                </a:schemeClr>
                              </a:solidFill>
                              <a:effectLst/>
                              <a:latin typeface="Cambria Math" panose="02040503050406030204" pitchFamily="18" charset="0"/>
                            </a:rPr>
                          </m:ctrlPr>
                        </m:dPr>
                        <m:e>
                          <m:m>
                            <m:mPr>
                              <m:mcs>
                                <m:mc>
                                  <m:mcPr>
                                    <m:count m:val="2"/>
                                    <m:mcJc m:val="center"/>
                                  </m:mcPr>
                                </m:mc>
                              </m:mcs>
                              <m:ctrlPr>
                                <a:rPr lang="ru-RU" sz="1600" i="1">
                                  <a:solidFill>
                                    <a:schemeClr val="accent6">
                                      <a:lumMod val="50000"/>
                                    </a:schemeClr>
                                  </a:solidFill>
                                  <a:effectLst/>
                                  <a:latin typeface="Cambria Math" panose="02040503050406030204" pitchFamily="18" charset="0"/>
                                </a:rPr>
                              </m:ctrlPr>
                            </m:mPr>
                            <m:mr>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𝐴𝑥</m:t>
                                        </m:r>
                                      </m:sub>
                                    </m:sSub>
                                  </m:e>
                                </m:d>
                              </m:e>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e>
                                </m:d>
                              </m:e>
                            </m:mr>
                            <m:mr>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𝐴𝑦</m:t>
                                        </m:r>
                                      </m:sub>
                                    </m:sSub>
                                  </m:e>
                                </m:d>
                              </m:e>
                              <m:e>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e>
                                </m:d>
                              </m:e>
                            </m:mr>
                          </m:m>
                        </m:e>
                      </m:d>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𝐴𝑥</m:t>
                          </m:r>
                        </m:sub>
                      </m:sSub>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sub>
                          </m:sSub>
                        </m:e>
                      </m:d>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𝐴𝑦</m:t>
                          </m:r>
                        </m:sub>
                      </m:sSub>
                      <m:d>
                        <m:dPr>
                          <m:ctrlPr>
                            <a:rPr lang="ru-RU" sz="1600" i="1">
                              <a:solidFill>
                                <a:schemeClr val="accent6">
                                  <a:lumMod val="50000"/>
                                </a:schemeClr>
                              </a:solidFill>
                              <a:effectLst/>
                              <a:latin typeface="Cambria Math" panose="02040503050406030204" pitchFamily="18" charset="0"/>
                            </a:rPr>
                          </m:ctrlPr>
                        </m:dPr>
                        <m:e>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ru-RU" sz="1600" i="1">
                                  <a:solidFill>
                                    <a:schemeClr val="accent6">
                                      <a:lumMod val="50000"/>
                                    </a:schemeClr>
                                  </a:solidFill>
                                  <a:effectLst/>
                                  <a:latin typeface="Cambria Math" panose="02040503050406030204" pitchFamily="18" charset="0"/>
                                </a:rPr>
                              </m:ctrlPr>
                            </m:sSubPr>
                            <m:e>
                              <m:r>
                                <a:rPr lang="en-US"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e>
                      </m:d>
                    </m:oMath>
                  </m:oMathPara>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Т</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очка пересечения </a:t>
                </a:r>
                <a:r>
                  <a:rPr lang="en-US" sz="1600" i="1"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en-US"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будет лежать внутри пересекающихся отрезков, если будут выполняться оба условия:       </a:t>
                </a:r>
                <a14:m>
                  <m:oMath xmlns:m="http://schemas.openxmlformats.org/officeDocument/2006/math">
                    <m:m>
                      <m:mPr>
                        <m:mcs>
                          <m:mc>
                            <m:mcPr>
                              <m:count m:val="1"/>
                              <m:mcJc m:val="center"/>
                            </m:mcPr>
                          </m:mc>
                        </m:mcs>
                        <m:ctrlPr>
                          <a:rPr lang="ru-RU" sz="1600" i="1" smtClean="0">
                            <a:solidFill>
                              <a:schemeClr val="accent6">
                                <a:lumMod val="50000"/>
                              </a:schemeClr>
                            </a:solidFill>
                            <a:effectLst/>
                            <a:latin typeface="Cambria Math" panose="02040503050406030204" pitchFamily="18" charset="0"/>
                          </a:rPr>
                        </m:ctrlPr>
                      </m:mPr>
                      <m:m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0&lt;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&lt;1</m:t>
                          </m:r>
                        </m:e>
                      </m:mr>
                      <m:m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0&lt;</m:t>
                          </m:r>
                          <m:sSub>
                            <m:sSubPr>
                              <m:ctrlPr>
                                <a:rPr lang="ru-RU" sz="1600" i="1">
                                  <a:solidFill>
                                    <a:schemeClr val="accent6">
                                      <a:lumMod val="50000"/>
                                    </a:schemeClr>
                                  </a:solidFill>
                                  <a:effectLst/>
                                  <a:latin typeface="Cambria Math" panose="02040503050406030204" pitchFamily="18" charset="0"/>
                                </a:rPr>
                              </m:ctrlPr>
                            </m:sSubPr>
                            <m:e>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m:t>
                              </m:r>
                            </m:sub>
                          </m:sSub>
                          <m:r>
                            <a:rPr lang="ru-RU" sz="1600" i="1">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&lt;1</m:t>
                          </m:r>
                        </m:e>
                      </m:mr>
                    </m:m>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Координаты точки пересечения                                  </a:t>
                </a:r>
                <a14:m>
                  <m:oMath xmlns:m="http://schemas.openxmlformats.org/officeDocument/2006/math">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𝑃𝑥</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𝑡𝐴</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𝑅𝐴𝑥</m:t>
                    </m:r>
                  </m:oMath>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𝑃𝑦</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𝐴</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𝑦</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𝑡𝐴</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ru-RU" sz="1600" i="1" smtClean="0">
                          <a:solidFill>
                            <a:schemeClr val="accent6">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𝑅𝐴𝑦</m:t>
                      </m:r>
                    </m:oMath>
                  </m:oMathPara>
                </a14:m>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a14="http://schemas.microsoft.com/office/drawing/2010/main" xmlns="" id="{D517295B-39F9-4FAC-926B-63F2C4BF510F}"/>
                  </a:ext>
                </a:extLst>
              </p:cNvPr>
              <p:cNvSpPr txBox="1">
                <a:spLocks noRot="1" noChangeAspect="1" noMove="1" noResize="1" noEditPoints="1" noAdjustHandles="1" noChangeArrowheads="1" noChangeShapeType="1" noTextEdit="1"/>
              </p:cNvSpPr>
              <p:nvPr/>
            </p:nvSpPr>
            <p:spPr>
              <a:xfrm>
                <a:off x="234035" y="756061"/>
                <a:ext cx="11057965" cy="5589287"/>
              </a:xfrm>
              <a:prstGeom prst="rect">
                <a:avLst/>
              </a:prstGeom>
              <a:blipFill rotWithShape="1">
                <a:blip r:embed="rId2"/>
                <a:stretch>
                  <a:fillRect l="-276" t="-327"/>
                </a:stretch>
              </a:blipFill>
            </p:spPr>
            <p:txBody>
              <a:bodyPr/>
              <a:lstStyle/>
              <a:p>
                <a:r>
                  <a:rPr lang="ru-RU">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428" y="256527"/>
            <a:ext cx="4041465" cy="339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420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A7C438E0-2912-405B-B172-002F0B69C57A}"/>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16</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BE61F328-2DF6-4044-946A-CF825C74FE43}"/>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7" name="TextBox 6">
            <a:extLst>
              <a:ext uri="{FF2B5EF4-FFF2-40B4-BE49-F238E27FC236}">
                <a16:creationId xmlns:a16="http://schemas.microsoft.com/office/drawing/2014/main" id="{97497D74-3BD2-4C6E-A429-C1905C349A85}"/>
              </a:ext>
            </a:extLst>
          </p:cNvPr>
          <p:cNvSpPr txBox="1"/>
          <p:nvPr/>
        </p:nvSpPr>
        <p:spPr>
          <a:xfrm>
            <a:off x="3358604" y="765728"/>
            <a:ext cx="5776240" cy="830997"/>
          </a:xfrm>
          <a:prstGeom prst="rect">
            <a:avLst/>
          </a:prstGeom>
          <a:noFill/>
        </p:spPr>
        <p:txBody>
          <a:bodyPr wrap="square" rtlCol="0">
            <a:spAutoFit/>
          </a:bodyPr>
          <a:lstStyle/>
          <a:p>
            <a:r>
              <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5 вариантов взаимного расположения прямоугольника и отрезка</a:t>
            </a:r>
          </a:p>
          <a:p>
            <a:endParaRPr lang="ru-RU" sz="16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sz="1600" dirty="0">
              <a:solidFill>
                <a:schemeClr val="accent6">
                  <a:lumMod val="50000"/>
                </a:schemeClr>
              </a:solidFill>
              <a:effectLst/>
              <a:latin typeface="Times New Roman" panose="02020603050405020304" pitchFamily="18" charset="0"/>
              <a:ea typeface="Times New Roman" panose="02020603050405020304" pitchFamily="18" charset="0"/>
            </a:endParaRPr>
          </a:p>
        </p:txBody>
      </p:sp>
      <p:pic>
        <p:nvPicPr>
          <p:cNvPr id="9" name="Рисунок 8"/>
          <p:cNvPicPr>
            <a:picLocks noChangeAspect="1"/>
          </p:cNvPicPr>
          <p:nvPr/>
        </p:nvPicPr>
        <p:blipFill rotWithShape="1">
          <a:blip r:embed="rId2">
            <a:extLst>
              <a:ext uri="{28A0092B-C50C-407E-A947-70E740481C1C}">
                <a14:useLocalDpi xmlns:a14="http://schemas.microsoft.com/office/drawing/2010/main" val="0"/>
              </a:ext>
            </a:extLst>
          </a:blip>
          <a:srcRect l="9991" r="66808" b="51701"/>
          <a:stretch/>
        </p:blipFill>
        <p:spPr>
          <a:xfrm>
            <a:off x="9043874" y="1302395"/>
            <a:ext cx="2333626" cy="2298876"/>
          </a:xfrm>
          <a:prstGeom prst="rect">
            <a:avLst/>
          </a:prstGeom>
        </p:spPr>
      </p:pic>
      <p:pic>
        <p:nvPicPr>
          <p:cNvPr id="13" name="Рисунок 12"/>
          <p:cNvPicPr>
            <a:picLocks noChangeAspect="1"/>
          </p:cNvPicPr>
          <p:nvPr/>
        </p:nvPicPr>
        <p:blipFill rotWithShape="1">
          <a:blip r:embed="rId3" cstate="print">
            <a:extLst>
              <a:ext uri="{28A0092B-C50C-407E-A947-70E740481C1C}">
                <a14:useLocalDpi xmlns:a14="http://schemas.microsoft.com/office/drawing/2010/main" val="0"/>
              </a:ext>
            </a:extLst>
          </a:blip>
          <a:srcRect l="33902" t="14979" r="31913" b="20582"/>
          <a:stretch/>
        </p:blipFill>
        <p:spPr>
          <a:xfrm>
            <a:off x="838604" y="1264287"/>
            <a:ext cx="2520000" cy="2247756"/>
          </a:xfrm>
          <a:prstGeom prst="rect">
            <a:avLst/>
          </a:prstGeom>
        </p:spPr>
      </p:pic>
      <p:sp>
        <p:nvSpPr>
          <p:cNvPr id="14" name="TextBox 13"/>
          <p:cNvSpPr txBox="1"/>
          <p:nvPr/>
        </p:nvSpPr>
        <p:spPr>
          <a:xfrm>
            <a:off x="353003" y="2038376"/>
            <a:ext cx="561975" cy="369332"/>
          </a:xfrm>
          <a:prstGeom prst="rect">
            <a:avLst/>
          </a:prstGeom>
          <a:noFill/>
        </p:spPr>
        <p:txBody>
          <a:bodyPr wrap="square" rtlCol="0">
            <a:spAutoFit/>
          </a:bodyPr>
          <a:lstStyle/>
          <a:p>
            <a:r>
              <a:rPr lang="ru-RU" dirty="0">
                <a:solidFill>
                  <a:schemeClr val="accent6">
                    <a:lumMod val="50000"/>
                  </a:schemeClr>
                </a:solidFill>
              </a:rPr>
              <a:t>1.</a:t>
            </a:r>
          </a:p>
        </p:txBody>
      </p:sp>
      <p:pic>
        <p:nvPicPr>
          <p:cNvPr id="15" name="Рисунок 14"/>
          <p:cNvPicPr>
            <a:picLocks noChangeAspect="1"/>
          </p:cNvPicPr>
          <p:nvPr/>
        </p:nvPicPr>
        <p:blipFill rotWithShape="1">
          <a:blip r:embed="rId4">
            <a:extLst>
              <a:ext uri="{28A0092B-C50C-407E-A947-70E740481C1C}">
                <a14:useLocalDpi xmlns:a14="http://schemas.microsoft.com/office/drawing/2010/main" val="0"/>
              </a:ext>
            </a:extLst>
          </a:blip>
          <a:srcRect l="33050" t="15779" r="35227" b="26586"/>
          <a:stretch/>
        </p:blipFill>
        <p:spPr>
          <a:xfrm>
            <a:off x="4750276" y="1289180"/>
            <a:ext cx="2594878" cy="2230820"/>
          </a:xfrm>
          <a:prstGeom prst="rect">
            <a:avLst/>
          </a:prstGeom>
        </p:spPr>
      </p:pic>
      <p:sp>
        <p:nvSpPr>
          <p:cNvPr id="16" name="TextBox 15"/>
          <p:cNvSpPr txBox="1"/>
          <p:nvPr/>
        </p:nvSpPr>
        <p:spPr>
          <a:xfrm>
            <a:off x="4038600" y="2035258"/>
            <a:ext cx="561975" cy="369332"/>
          </a:xfrm>
          <a:prstGeom prst="rect">
            <a:avLst/>
          </a:prstGeom>
          <a:noFill/>
        </p:spPr>
        <p:txBody>
          <a:bodyPr wrap="square" rtlCol="0">
            <a:spAutoFit/>
          </a:bodyPr>
          <a:lstStyle/>
          <a:p>
            <a:r>
              <a:rPr lang="ru-RU" dirty="0">
                <a:solidFill>
                  <a:schemeClr val="accent6">
                    <a:lumMod val="50000"/>
                  </a:schemeClr>
                </a:solidFill>
              </a:rPr>
              <a:t>2</a:t>
            </a:r>
          </a:p>
        </p:txBody>
      </p:sp>
      <p:sp>
        <p:nvSpPr>
          <p:cNvPr id="17" name="TextBox 16"/>
          <p:cNvSpPr txBox="1"/>
          <p:nvPr/>
        </p:nvSpPr>
        <p:spPr>
          <a:xfrm>
            <a:off x="8174851" y="2035258"/>
            <a:ext cx="561975" cy="369332"/>
          </a:xfrm>
          <a:prstGeom prst="rect">
            <a:avLst/>
          </a:prstGeom>
          <a:noFill/>
        </p:spPr>
        <p:txBody>
          <a:bodyPr wrap="square" rtlCol="0">
            <a:spAutoFit/>
          </a:bodyPr>
          <a:lstStyle/>
          <a:p>
            <a:r>
              <a:rPr lang="ru-RU" dirty="0">
                <a:solidFill>
                  <a:schemeClr val="accent6">
                    <a:lumMod val="50000"/>
                  </a:schemeClr>
                </a:solidFill>
              </a:rPr>
              <a:t>3</a:t>
            </a:r>
          </a:p>
        </p:txBody>
      </p:sp>
      <p:sp>
        <p:nvSpPr>
          <p:cNvPr id="18" name="TextBox 17"/>
          <p:cNvSpPr txBox="1"/>
          <p:nvPr/>
        </p:nvSpPr>
        <p:spPr>
          <a:xfrm>
            <a:off x="1536629" y="4781442"/>
            <a:ext cx="561975" cy="369332"/>
          </a:xfrm>
          <a:prstGeom prst="rect">
            <a:avLst/>
          </a:prstGeom>
          <a:noFill/>
        </p:spPr>
        <p:txBody>
          <a:bodyPr wrap="square" rtlCol="0">
            <a:spAutoFit/>
          </a:bodyPr>
          <a:lstStyle/>
          <a:p>
            <a:r>
              <a:rPr lang="ru-RU" dirty="0">
                <a:solidFill>
                  <a:schemeClr val="accent6">
                    <a:lumMod val="50000"/>
                  </a:schemeClr>
                </a:solidFill>
              </a:rPr>
              <a:t>4а</a:t>
            </a:r>
          </a:p>
        </p:txBody>
      </p:sp>
      <p:pic>
        <p:nvPicPr>
          <p:cNvPr id="20" name="Рисунок 19"/>
          <p:cNvPicPr>
            <a:picLocks noChangeAspect="1"/>
          </p:cNvPicPr>
          <p:nvPr/>
        </p:nvPicPr>
        <p:blipFill rotWithShape="1">
          <a:blip r:embed="rId5">
            <a:extLst>
              <a:ext uri="{28A0092B-C50C-407E-A947-70E740481C1C}">
                <a14:useLocalDpi xmlns:a14="http://schemas.microsoft.com/office/drawing/2010/main" val="0"/>
              </a:ext>
            </a:extLst>
          </a:blip>
          <a:srcRect l="10038" t="30388" r="55587" b="8375"/>
          <a:stretch/>
        </p:blipFill>
        <p:spPr>
          <a:xfrm>
            <a:off x="2308574" y="4036182"/>
            <a:ext cx="2644425" cy="2229185"/>
          </a:xfrm>
          <a:prstGeom prst="rect">
            <a:avLst/>
          </a:prstGeom>
        </p:spPr>
      </p:pic>
      <p:sp>
        <p:nvSpPr>
          <p:cNvPr id="21" name="TextBox 20"/>
          <p:cNvSpPr txBox="1"/>
          <p:nvPr/>
        </p:nvSpPr>
        <p:spPr>
          <a:xfrm>
            <a:off x="6275850" y="4753509"/>
            <a:ext cx="561975" cy="369332"/>
          </a:xfrm>
          <a:prstGeom prst="rect">
            <a:avLst/>
          </a:prstGeom>
          <a:noFill/>
        </p:spPr>
        <p:txBody>
          <a:bodyPr wrap="square" rtlCol="0">
            <a:spAutoFit/>
          </a:bodyPr>
          <a:lstStyle/>
          <a:p>
            <a:r>
              <a:rPr lang="ru-RU" dirty="0">
                <a:solidFill>
                  <a:schemeClr val="accent6">
                    <a:lumMod val="50000"/>
                  </a:schemeClr>
                </a:solidFill>
              </a:rPr>
              <a:t>4б</a:t>
            </a:r>
          </a:p>
        </p:txBody>
      </p:sp>
      <p:pic>
        <p:nvPicPr>
          <p:cNvPr id="22" name="Рисунок 21"/>
          <p:cNvPicPr>
            <a:picLocks noChangeAspect="1"/>
          </p:cNvPicPr>
          <p:nvPr/>
        </p:nvPicPr>
        <p:blipFill rotWithShape="1">
          <a:blip r:embed="rId6" cstate="print">
            <a:extLst>
              <a:ext uri="{28A0092B-C50C-407E-A947-70E740481C1C}">
                <a14:useLocalDpi xmlns:a14="http://schemas.microsoft.com/office/drawing/2010/main" val="0"/>
              </a:ext>
            </a:extLst>
          </a:blip>
          <a:srcRect l="33144" t="21182" r="33333" b="16780"/>
          <a:stretch/>
        </p:blipFill>
        <p:spPr>
          <a:xfrm>
            <a:off x="7000576" y="4058587"/>
            <a:ext cx="2520000" cy="2206780"/>
          </a:xfrm>
          <a:prstGeom prst="rect">
            <a:avLst/>
          </a:prstGeom>
        </p:spPr>
      </p:pic>
    </p:spTree>
    <p:extLst>
      <p:ext uri="{BB962C8B-B14F-4D97-AF65-F5344CB8AC3E}">
        <p14:creationId xmlns:p14="http://schemas.microsoft.com/office/powerpoint/2010/main" val="3291354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58DC19-B57F-4825-8F0A-ED2DD37C6A2B}"/>
              </a:ext>
            </a:extLst>
          </p:cNvPr>
          <p:cNvSpPr>
            <a:spLocks noGrp="1"/>
          </p:cNvSpPr>
          <p:nvPr>
            <p:ph type="title"/>
          </p:nvPr>
        </p:nvSpPr>
        <p:spPr>
          <a:xfrm>
            <a:off x="900000" y="0"/>
            <a:ext cx="10515600" cy="1325563"/>
          </a:xfrm>
        </p:spPr>
        <p:txBody>
          <a:bodyPr/>
          <a:lstStyle/>
          <a:p>
            <a:pPr algn="ctr"/>
            <a:r>
              <a:rPr lang="ru-RU"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3" name="Объект 2">
            <a:extLst>
              <a:ext uri="{FF2B5EF4-FFF2-40B4-BE49-F238E27FC236}">
                <a16:creationId xmlns:a16="http://schemas.microsoft.com/office/drawing/2014/main" id="{EC1E4A64-4762-4DE4-90A0-51330E73C695}"/>
              </a:ext>
            </a:extLst>
          </p:cNvPr>
          <p:cNvSpPr>
            <a:spLocks noGrp="1"/>
          </p:cNvSpPr>
          <p:nvPr>
            <p:ph idx="1"/>
          </p:nvPr>
        </p:nvSpPr>
        <p:spPr>
          <a:xfrm>
            <a:off x="348096" y="1073871"/>
            <a:ext cx="11495808" cy="2628553"/>
          </a:xfrm>
        </p:spPr>
        <p:txBody>
          <a:bodyPr>
            <a:noAutofit/>
          </a:bodyPr>
          <a:lstStyle/>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Вершины прямоугольника пронумерованы против часовой стрелки. Теперь мы можем найти пересечение одной пары отрезок - прямоугольник. </a:t>
            </a:r>
          </a:p>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Для 1 случая</a:t>
            </a:r>
            <a:r>
              <a:rPr 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взаимного расположения прямоугольника и отрезка</a:t>
            </a:r>
            <a:r>
              <a:rPr lang="en-US"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Начальная точка лежит внутри прямоугольника, соответственно 1 точка линии нашего пересечения уже есть. Вторую найдем по следующему алгоритму</a:t>
            </a:r>
            <a:r>
              <a:rPr 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ru-RU" sz="2000" dirty="0">
                <a:solidFill>
                  <a:schemeClr val="accent6">
                    <a:lumMod val="50000"/>
                  </a:schemeClr>
                </a:solidFill>
                <a:latin typeface="Times New Roman" panose="02020603050405020304" pitchFamily="18" charset="0"/>
                <a:cs typeface="Times New Roman" panose="02020603050405020304" pitchFamily="18" charset="0"/>
              </a:rPr>
              <a:t>рассмотрим сторону прямоугольника, образованную вершиной 1 и 2. Найдем ее точку пересечения с отрезком. Если она есть – возвращаем ее и начальную точку, если ее нет, тоже проделываем с остальными сторонами, пока не найдем ее.</a:t>
            </a:r>
          </a:p>
          <a:p>
            <a:pPr marL="0" indent="0">
              <a:lnSpc>
                <a:spcPct val="100000"/>
              </a:lnSpc>
              <a:spcBef>
                <a:spcPts val="600"/>
              </a:spcBef>
              <a:buNone/>
            </a:pPr>
            <a:endParaRPr lang="ru-RU" sz="2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5" name="Номер слайда 4">
            <a:extLst>
              <a:ext uri="{FF2B5EF4-FFF2-40B4-BE49-F238E27FC236}">
                <a16:creationId xmlns:a16="http://schemas.microsoft.com/office/drawing/2014/main" id="{F919321A-EE05-456A-B40B-584C25F3B000}"/>
              </a:ext>
            </a:extLst>
          </p:cNvPr>
          <p:cNvSpPr>
            <a:spLocks noGrp="1"/>
          </p:cNvSpPr>
          <p:nvPr>
            <p:ph type="sldNum" sz="quarter" idx="12"/>
          </p:nvPr>
        </p:nvSpPr>
        <p:spPr>
          <a:xfrm>
            <a:off x="9000000" y="6120000"/>
            <a:ext cx="2743200" cy="365125"/>
          </a:xfrm>
        </p:spPr>
        <p:txBody>
          <a:bodyPr/>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17</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7" name="Рисунок 6">
            <a:extLst>
              <a:ext uri="{FF2B5EF4-FFF2-40B4-BE49-F238E27FC236}">
                <a16:creationId xmlns:a16="http://schemas.microsoft.com/office/drawing/2014/main" id="{BD4CAEF9-9A69-4560-8908-3CDCE16938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3902" t="14979" r="31913" b="20582"/>
          <a:stretch/>
        </p:blipFill>
        <p:spPr>
          <a:xfrm>
            <a:off x="4361733" y="4054806"/>
            <a:ext cx="2520000" cy="2247756"/>
          </a:xfrm>
          <a:prstGeom prst="rect">
            <a:avLst/>
          </a:prstGeom>
        </p:spPr>
      </p:pic>
    </p:spTree>
    <p:extLst>
      <p:ext uri="{BB962C8B-B14F-4D97-AF65-F5344CB8AC3E}">
        <p14:creationId xmlns:p14="http://schemas.microsoft.com/office/powerpoint/2010/main" val="1998561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CF1719-14D4-47B2-8695-632FC9A7E449}"/>
              </a:ext>
            </a:extLst>
          </p:cNvPr>
          <p:cNvSpPr>
            <a:spLocks noGrp="1"/>
          </p:cNvSpPr>
          <p:nvPr>
            <p:ph type="title"/>
          </p:nvPr>
        </p:nvSpPr>
        <p:spPr>
          <a:xfrm>
            <a:off x="900000" y="0"/>
            <a:ext cx="10515600" cy="1325563"/>
          </a:xfrm>
        </p:spPr>
        <p:txBody>
          <a:bodyPr/>
          <a:lstStyle/>
          <a:p>
            <a:pPr algn="ctr"/>
            <a:r>
              <a:rPr lang="ru-RU"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3" name="Объект 2">
            <a:extLst>
              <a:ext uri="{FF2B5EF4-FFF2-40B4-BE49-F238E27FC236}">
                <a16:creationId xmlns:a16="http://schemas.microsoft.com/office/drawing/2014/main" id="{66096BFE-2152-4AD0-A963-77F6DA8642CC}"/>
              </a:ext>
            </a:extLst>
          </p:cNvPr>
          <p:cNvSpPr>
            <a:spLocks noGrp="1"/>
          </p:cNvSpPr>
          <p:nvPr>
            <p:ph idx="1"/>
          </p:nvPr>
        </p:nvSpPr>
        <p:spPr>
          <a:xfrm>
            <a:off x="339435" y="1056698"/>
            <a:ext cx="11485419" cy="1325563"/>
          </a:xfrm>
        </p:spPr>
        <p:txBody>
          <a:bodyPr>
            <a:noAutofit/>
          </a:bodyPr>
          <a:lstStyle/>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Для 2 случая </a:t>
            </a:r>
            <a:r>
              <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взаимного расположения прямоугольника и отрезка</a:t>
            </a:r>
            <a:r>
              <a:rPr lang="en-US"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Конечная точка лежит внутри прямоугольника, соответственно 1 точка линии нашего пересечения уже есть. Далее делаем тоже самое, что и в 1 случае</a:t>
            </a:r>
          </a:p>
          <a:p>
            <a:endPar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sz="20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ru-RU" sz="20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endPar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ru-RU" sz="2000" dirty="0">
              <a:latin typeface="Times New Roman" panose="02020603050405020304" pitchFamily="18" charset="0"/>
              <a:cs typeface="Times New Roman" panose="02020603050405020304" pitchFamily="18" charset="0"/>
            </a:endParaRPr>
          </a:p>
        </p:txBody>
      </p:sp>
      <p:sp>
        <p:nvSpPr>
          <p:cNvPr id="5" name="Номер слайда 4">
            <a:extLst>
              <a:ext uri="{FF2B5EF4-FFF2-40B4-BE49-F238E27FC236}">
                <a16:creationId xmlns:a16="http://schemas.microsoft.com/office/drawing/2014/main" id="{A3434F58-6342-4F00-9195-5723D755AEC1}"/>
              </a:ext>
            </a:extLst>
          </p:cNvPr>
          <p:cNvSpPr>
            <a:spLocks noGrp="1"/>
          </p:cNvSpPr>
          <p:nvPr>
            <p:ph type="sldNum" sz="quarter" idx="12"/>
          </p:nvPr>
        </p:nvSpPr>
        <p:spPr>
          <a:xfrm>
            <a:off x="8973106" y="6084142"/>
            <a:ext cx="2743200" cy="365125"/>
          </a:xfrm>
        </p:spPr>
        <p:txBody>
          <a:bodyPr lIns="0" tIns="36000" rIns="0" bIns="36000"/>
          <a:lstStyle/>
          <a:p>
            <a:fld id="{8346BD07-4451-4F99-9781-57091C949674}" type="slidenum">
              <a:rPr lang="ru-RU" b="1" smtClean="0">
                <a:solidFill>
                  <a:schemeClr val="accent6">
                    <a:lumMod val="50000"/>
                  </a:schemeClr>
                </a:solidFill>
                <a:latin typeface="Times New Roman" panose="02020603050405020304" pitchFamily="18" charset="0"/>
                <a:cs typeface="Times New Roman" panose="02020603050405020304" pitchFamily="18" charset="0"/>
              </a:rPr>
              <a:t>18</a:t>
            </a:fld>
            <a:endParaRPr lang="ru-RU" b="1"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2428900B-605E-4C89-825A-79D23569E7A3}"/>
              </a:ext>
            </a:extLst>
          </p:cNvPr>
          <p:cNvPicPr>
            <a:picLocks noChangeAspect="1"/>
          </p:cNvPicPr>
          <p:nvPr/>
        </p:nvPicPr>
        <p:blipFill rotWithShape="1">
          <a:blip r:embed="rId2">
            <a:extLst>
              <a:ext uri="{28A0092B-C50C-407E-A947-70E740481C1C}">
                <a14:useLocalDpi xmlns:a14="http://schemas.microsoft.com/office/drawing/2010/main" val="0"/>
              </a:ext>
            </a:extLst>
          </a:blip>
          <a:srcRect l="33050" t="15779" r="35227" b="26586"/>
          <a:stretch/>
        </p:blipFill>
        <p:spPr>
          <a:xfrm>
            <a:off x="4382723" y="2244920"/>
            <a:ext cx="1820493" cy="1565080"/>
          </a:xfrm>
          <a:prstGeom prst="rect">
            <a:avLst/>
          </a:prstGeom>
        </p:spPr>
      </p:pic>
      <p:sp>
        <p:nvSpPr>
          <p:cNvPr id="7" name="TextBox 6">
            <a:extLst>
              <a:ext uri="{FF2B5EF4-FFF2-40B4-BE49-F238E27FC236}">
                <a16:creationId xmlns:a16="http://schemas.microsoft.com/office/drawing/2014/main" id="{E175C681-FBA6-4821-8FD1-65996E86BF73}"/>
              </a:ext>
            </a:extLst>
          </p:cNvPr>
          <p:cNvSpPr txBox="1"/>
          <p:nvPr/>
        </p:nvSpPr>
        <p:spPr>
          <a:xfrm>
            <a:off x="339435" y="4045759"/>
            <a:ext cx="10605247" cy="1092607"/>
          </a:xfrm>
          <a:prstGeom prst="rect">
            <a:avLst/>
          </a:prstGeom>
          <a:noFill/>
        </p:spPr>
        <p:txBody>
          <a:bodyPr wrap="square" rtlCol="0">
            <a:spAutoFit/>
          </a:bodyPr>
          <a:lstStyle/>
          <a:p>
            <a:pPr marL="0" indent="0">
              <a:lnSpc>
                <a:spcPct val="100000"/>
              </a:lnSpc>
              <a:spcBef>
                <a:spcPts val="600"/>
              </a:spcBef>
            </a:pPr>
            <a:r>
              <a:rPr lang="ru-RU" sz="2000" dirty="0">
                <a:solidFill>
                  <a:schemeClr val="accent6">
                    <a:lumMod val="50000"/>
                  </a:schemeClr>
                </a:solidFill>
                <a:latin typeface="Times New Roman" panose="02020603050405020304" pitchFamily="18" charset="0"/>
                <a:cs typeface="Times New Roman" panose="02020603050405020304" pitchFamily="18" charset="0"/>
              </a:rPr>
              <a:t>Для 3 случая</a:t>
            </a:r>
            <a:r>
              <a:rPr 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взаимного расположения прямоугольника и отрезка</a:t>
            </a:r>
            <a:r>
              <a:rPr lang="en-US"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0000"/>
              </a:lnSpc>
              <a:spcBef>
                <a:spcPts val="600"/>
              </a:spcBef>
              <a:buNone/>
            </a:pPr>
            <a:r>
              <a:rPr lang="ru-RU" sz="20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Так как и начальная и конечная точка лежат внутри прямоугольника,  просто возвращаем обе.</a:t>
            </a:r>
          </a:p>
          <a:p>
            <a:endParaRPr lang="ru-RU" sz="2000" dirty="0"/>
          </a:p>
        </p:txBody>
      </p:sp>
      <p:pic>
        <p:nvPicPr>
          <p:cNvPr id="8" name="Рисунок 7">
            <a:extLst>
              <a:ext uri="{FF2B5EF4-FFF2-40B4-BE49-F238E27FC236}">
                <a16:creationId xmlns:a16="http://schemas.microsoft.com/office/drawing/2014/main" id="{A0F76B30-44D7-40F9-AA25-57D8768DC236}"/>
              </a:ext>
            </a:extLst>
          </p:cNvPr>
          <p:cNvPicPr>
            <a:picLocks noChangeAspect="1"/>
          </p:cNvPicPr>
          <p:nvPr/>
        </p:nvPicPr>
        <p:blipFill rotWithShape="1">
          <a:blip r:embed="rId3">
            <a:extLst>
              <a:ext uri="{28A0092B-C50C-407E-A947-70E740481C1C}">
                <a14:useLocalDpi xmlns:a14="http://schemas.microsoft.com/office/drawing/2010/main" val="0"/>
              </a:ext>
            </a:extLst>
          </a:blip>
          <a:srcRect l="9991" r="66808" b="51701"/>
          <a:stretch/>
        </p:blipFill>
        <p:spPr>
          <a:xfrm>
            <a:off x="4316271" y="4922195"/>
            <a:ext cx="1886945" cy="1858846"/>
          </a:xfrm>
          <a:prstGeom prst="rect">
            <a:avLst/>
          </a:prstGeom>
        </p:spPr>
      </p:pic>
    </p:spTree>
    <p:extLst>
      <p:ext uri="{BB962C8B-B14F-4D97-AF65-F5344CB8AC3E}">
        <p14:creationId xmlns:p14="http://schemas.microsoft.com/office/powerpoint/2010/main" val="3357102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D86FF5-8419-45E3-B91D-F31608BBA0E7}"/>
              </a:ext>
            </a:extLst>
          </p:cNvPr>
          <p:cNvSpPr>
            <a:spLocks noGrp="1"/>
          </p:cNvSpPr>
          <p:nvPr>
            <p:ph type="title"/>
          </p:nvPr>
        </p:nvSpPr>
        <p:spPr>
          <a:xfrm>
            <a:off x="900000" y="0"/>
            <a:ext cx="10515600" cy="1325563"/>
          </a:xfrm>
        </p:spPr>
        <p:txBody>
          <a:bodyPr/>
          <a:lstStyle/>
          <a:p>
            <a:pPr algn="ctr"/>
            <a:r>
              <a:rPr lang="ru-RU"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3" name="Объект 2">
            <a:extLst>
              <a:ext uri="{FF2B5EF4-FFF2-40B4-BE49-F238E27FC236}">
                <a16:creationId xmlns:a16="http://schemas.microsoft.com/office/drawing/2014/main" id="{A5353A4F-63EA-4ABF-8F2C-55C6CDC2C020}"/>
              </a:ext>
            </a:extLst>
          </p:cNvPr>
          <p:cNvSpPr>
            <a:spLocks noGrp="1"/>
          </p:cNvSpPr>
          <p:nvPr>
            <p:ph idx="1"/>
          </p:nvPr>
        </p:nvSpPr>
        <p:spPr>
          <a:xfrm>
            <a:off x="247752" y="1029728"/>
            <a:ext cx="11693236" cy="2645801"/>
          </a:xfrm>
        </p:spPr>
        <p:txBody>
          <a:bodyPr>
            <a:normAutofit/>
          </a:bodyPr>
          <a:lstStyle/>
          <a:p>
            <a:pPr marL="0" indent="0">
              <a:lnSpc>
                <a:spcPct val="100000"/>
              </a:lnSpc>
              <a:spcBef>
                <a:spcPts val="0"/>
              </a:spcBef>
              <a:buNone/>
            </a:pPr>
            <a:r>
              <a:rPr lang="ru-RU" sz="2000" dirty="0">
                <a:solidFill>
                  <a:schemeClr val="accent6">
                    <a:lumMod val="50000"/>
                  </a:schemeClr>
                </a:solidFill>
                <a:latin typeface="Times New Roman" panose="02020603050405020304" pitchFamily="18" charset="0"/>
                <a:cs typeface="Times New Roman" panose="02020603050405020304" pitchFamily="18" charset="0"/>
              </a:rPr>
              <a:t>Для 4 случая</a:t>
            </a:r>
            <a:r>
              <a:rPr lang="en-US" sz="2000" dirty="0">
                <a:solidFill>
                  <a:schemeClr val="accent6">
                    <a:lumMod val="50000"/>
                  </a:schemeClr>
                </a:solidFill>
                <a:latin typeface="Times New Roman" panose="02020603050405020304" pitchFamily="18" charset="0"/>
                <a:cs typeface="Times New Roman" panose="02020603050405020304" pitchFamily="18" charset="0"/>
              </a:rPr>
              <a:t> </a:t>
            </a:r>
            <a:r>
              <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взаимного расположения прямоугольника и отрезка</a:t>
            </a:r>
            <a:r>
              <a:rPr lang="en-US"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0000"/>
              </a:lnSpc>
              <a:spcBef>
                <a:spcPts val="0"/>
              </a:spcBef>
              <a:buNone/>
            </a:pPr>
            <a:r>
              <a:rPr lang="ru-RU" sz="2000" dirty="0">
                <a:solidFill>
                  <a:schemeClr val="accent6">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Так, как ни начальная, ни конечная точка не лежат внутри прямоугольника, то делаем тоже, что и в пунктах 1,2, только при нахождении точки линии пересечения мы будем заносить ее в некий контейнер хранения, соответственно этот контейнер будет состоят из 2 точек пересечения отрезка со сторонами, их мы и будем возвращать. Если контейнер окажется пустым, то значит отрезок вовсе не пересекает прямоугольник, соответственно длина пересечения равна нулю.</a:t>
            </a:r>
          </a:p>
          <a:p>
            <a:pPr marL="0" indent="0">
              <a:lnSpc>
                <a:spcPct val="100000"/>
              </a:lnSpc>
              <a:spcBef>
                <a:spcPts val="0"/>
              </a:spcBef>
              <a:buNone/>
            </a:pPr>
            <a:r>
              <a:rPr lang="ru-RU" sz="2000" dirty="0">
                <a:solidFill>
                  <a:schemeClr val="accent6">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Соответственно, зная 2 точки(начальную и конечную) линии нашего искомого пересечения мы можем найти его длину, по формуле, приведенной выше.</a:t>
            </a:r>
          </a:p>
          <a:p>
            <a:pPr marL="0" indent="0">
              <a:lnSpc>
                <a:spcPct val="100000"/>
              </a:lnSpc>
              <a:spcBef>
                <a:spcPts val="0"/>
              </a:spcBef>
              <a:buNone/>
            </a:pPr>
            <a:endParaRPr lang="ru-RU" sz="2000" dirty="0"/>
          </a:p>
        </p:txBody>
      </p:sp>
      <p:sp>
        <p:nvSpPr>
          <p:cNvPr id="5" name="Номер слайда 4">
            <a:extLst>
              <a:ext uri="{FF2B5EF4-FFF2-40B4-BE49-F238E27FC236}">
                <a16:creationId xmlns:a16="http://schemas.microsoft.com/office/drawing/2014/main" id="{EC7C3A36-0B08-449F-8376-A402A0D2A694}"/>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19</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C10B2C9-8983-4C78-8303-EB188288FFE7}"/>
              </a:ext>
            </a:extLst>
          </p:cNvPr>
          <p:cNvSpPr txBox="1"/>
          <p:nvPr/>
        </p:nvSpPr>
        <p:spPr>
          <a:xfrm>
            <a:off x="247752" y="5607962"/>
            <a:ext cx="11079812" cy="1938992"/>
          </a:xfrm>
          <a:prstGeom prst="rect">
            <a:avLst/>
          </a:prstGeom>
          <a:noFill/>
        </p:spPr>
        <p:txBody>
          <a:bodyPr wrap="square" rtlCol="0">
            <a:spAutoFit/>
          </a:bodyPr>
          <a:lstStyle/>
          <a:p>
            <a:pPr marL="0" indent="0">
              <a:lnSpc>
                <a:spcPct val="100000"/>
              </a:lnSpc>
              <a:spcBef>
                <a:spcPts val="600"/>
              </a:spcBef>
            </a:pPr>
            <a:r>
              <a:rPr lang="ru-RU" sz="2000" dirty="0">
                <a:solidFill>
                  <a:schemeClr val="accent6">
                    <a:lumMod val="50000"/>
                  </a:schemeClr>
                </a:solidFill>
                <a:latin typeface="Times New Roman" panose="02020603050405020304" pitchFamily="18" charset="0"/>
                <a:cs typeface="Times New Roman" panose="02020603050405020304" pitchFamily="18" charset="0"/>
              </a:rPr>
              <a:t>Далее с помощью цикла в цикле для каждого прямоугольника, для каждой линии находим длину линии пересечения методом нахождения максимального элемента массива.</a:t>
            </a:r>
          </a:p>
          <a:p>
            <a:endParaRPr lang="ru-RU" sz="2000" dirty="0">
              <a:solidFill>
                <a:schemeClr val="accent6">
                  <a:lumMod val="50000"/>
                </a:schemeClr>
              </a:solidFill>
              <a:latin typeface="Times New Roman" panose="02020603050405020304" pitchFamily="18" charset="0"/>
              <a:cs typeface="Times New Roman" panose="02020603050405020304" pitchFamily="18" charset="0"/>
            </a:endParaRPr>
          </a:p>
          <a:p>
            <a:endParaRPr lang="ru-RU" sz="2000" dirty="0">
              <a:solidFill>
                <a:schemeClr val="accent6">
                  <a:lumMod val="50000"/>
                </a:schemeClr>
              </a:solidFill>
              <a:latin typeface="Times New Roman" panose="02020603050405020304" pitchFamily="18" charset="0"/>
              <a:cs typeface="Times New Roman" panose="02020603050405020304" pitchFamily="18" charset="0"/>
            </a:endParaRPr>
          </a:p>
          <a:p>
            <a:endParaRPr lang="ru-RU" sz="2000" dirty="0">
              <a:solidFill>
                <a:schemeClr val="accent6">
                  <a:lumMod val="50000"/>
                </a:schemeClr>
              </a:solidFill>
              <a:latin typeface="Times New Roman" panose="02020603050405020304" pitchFamily="18" charset="0"/>
              <a:cs typeface="Times New Roman" panose="02020603050405020304" pitchFamily="18" charset="0"/>
            </a:endParaRPr>
          </a:p>
          <a:p>
            <a:endParaRPr lang="ru-RU" sz="2000" dirty="0"/>
          </a:p>
        </p:txBody>
      </p:sp>
      <p:pic>
        <p:nvPicPr>
          <p:cNvPr id="7" name="Рисунок 6">
            <a:extLst>
              <a:ext uri="{FF2B5EF4-FFF2-40B4-BE49-F238E27FC236}">
                <a16:creationId xmlns:a16="http://schemas.microsoft.com/office/drawing/2014/main" id="{7C4576E8-C4F8-4378-9A38-5BEC09E575EF}"/>
              </a:ext>
            </a:extLst>
          </p:cNvPr>
          <p:cNvPicPr>
            <a:picLocks noChangeAspect="1"/>
          </p:cNvPicPr>
          <p:nvPr/>
        </p:nvPicPr>
        <p:blipFill rotWithShape="1">
          <a:blip r:embed="rId2">
            <a:extLst>
              <a:ext uri="{28A0092B-C50C-407E-A947-70E740481C1C}">
                <a14:useLocalDpi xmlns:a14="http://schemas.microsoft.com/office/drawing/2010/main" val="0"/>
              </a:ext>
            </a:extLst>
          </a:blip>
          <a:srcRect l="10038" t="30388" r="55587" b="8375"/>
          <a:stretch/>
        </p:blipFill>
        <p:spPr>
          <a:xfrm>
            <a:off x="2102386" y="3855854"/>
            <a:ext cx="1958625" cy="1651073"/>
          </a:xfrm>
          <a:prstGeom prst="rect">
            <a:avLst/>
          </a:prstGeom>
        </p:spPr>
      </p:pic>
      <p:pic>
        <p:nvPicPr>
          <p:cNvPr id="8" name="Рисунок 7">
            <a:extLst>
              <a:ext uri="{FF2B5EF4-FFF2-40B4-BE49-F238E27FC236}">
                <a16:creationId xmlns:a16="http://schemas.microsoft.com/office/drawing/2014/main" id="{CAE94E74-3200-4537-A954-E7002E4067D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3144" t="21182" r="33333" b="16780"/>
          <a:stretch/>
        </p:blipFill>
        <p:spPr>
          <a:xfrm>
            <a:off x="6633023" y="3855855"/>
            <a:ext cx="1885417" cy="1651072"/>
          </a:xfrm>
          <a:prstGeom prst="rect">
            <a:avLst/>
          </a:prstGeom>
        </p:spPr>
      </p:pic>
    </p:spTree>
    <p:extLst>
      <p:ext uri="{BB962C8B-B14F-4D97-AF65-F5344CB8AC3E}">
        <p14:creationId xmlns:p14="http://schemas.microsoft.com/office/powerpoint/2010/main" val="3812736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BA926749-B43F-4DCA-BD96-DE07FEB850B2}"/>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20</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063EA77F-1254-449C-9712-3A8785B96FDB}"/>
              </a:ext>
            </a:extLst>
          </p:cNvPr>
          <p:cNvSpPr>
            <a:spLocks noGrp="1"/>
          </p:cNvSpPr>
          <p:nvPr>
            <p:ph type="title"/>
          </p:nvPr>
        </p:nvSpPr>
        <p:spPr>
          <a:xfrm>
            <a:off x="900000" y="0"/>
            <a:ext cx="10515600" cy="936000"/>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2" name="TextBox 1">
            <a:extLst>
              <a:ext uri="{FF2B5EF4-FFF2-40B4-BE49-F238E27FC236}">
                <a16:creationId xmlns:a16="http://schemas.microsoft.com/office/drawing/2014/main" id="{C4502820-445F-43C2-9C8E-B72644B7E77B}"/>
              </a:ext>
            </a:extLst>
          </p:cNvPr>
          <p:cNvSpPr txBox="1"/>
          <p:nvPr/>
        </p:nvSpPr>
        <p:spPr>
          <a:xfrm flipH="1">
            <a:off x="139628" y="1595484"/>
            <a:ext cx="3127705" cy="584775"/>
          </a:xfrm>
          <a:prstGeom prst="rect">
            <a:avLst/>
          </a:prstGeom>
          <a:noFill/>
        </p:spPr>
        <p:txBody>
          <a:bodyPr wrap="square" rtlCol="0">
            <a:spAutoFit/>
          </a:bodyPr>
          <a:lstStyle/>
          <a:p>
            <a:r>
              <a:rPr lang="ru-RU" sz="1600" dirty="0">
                <a:solidFill>
                  <a:schemeClr val="accent6">
                    <a:lumMod val="50000"/>
                  </a:schemeClr>
                </a:solidFill>
                <a:latin typeface="Times New Roman" panose="02020603050405020304" pitchFamily="18" charset="0"/>
                <a:cs typeface="Times New Roman" panose="02020603050405020304" pitchFamily="18" charset="0"/>
              </a:rPr>
              <a:t>Отбраковка несуществующих </a:t>
            </a:r>
          </a:p>
          <a:p>
            <a:r>
              <a:rPr lang="ru-RU" sz="1600" dirty="0">
                <a:solidFill>
                  <a:schemeClr val="accent6">
                    <a:lumMod val="50000"/>
                  </a:schemeClr>
                </a:solidFill>
                <a:latin typeface="Times New Roman" panose="02020603050405020304" pitchFamily="18" charset="0"/>
                <a:cs typeface="Times New Roman" panose="02020603050405020304" pitchFamily="18" charset="0"/>
              </a:rPr>
              <a:t>прямоугольников</a:t>
            </a:r>
          </a:p>
        </p:txBody>
      </p:sp>
      <p:sp>
        <p:nvSpPr>
          <p:cNvPr id="7" name="TextBox 6">
            <a:extLst>
              <a:ext uri="{FF2B5EF4-FFF2-40B4-BE49-F238E27FC236}">
                <a16:creationId xmlns:a16="http://schemas.microsoft.com/office/drawing/2014/main" id="{480FC42D-8AC5-4BE3-941F-DBD3E74D81E5}"/>
              </a:ext>
            </a:extLst>
          </p:cNvPr>
          <p:cNvSpPr txBox="1"/>
          <p:nvPr/>
        </p:nvSpPr>
        <p:spPr>
          <a:xfrm>
            <a:off x="139628" y="1159988"/>
            <a:ext cx="2457276" cy="338554"/>
          </a:xfrm>
          <a:prstGeom prst="rect">
            <a:avLst/>
          </a:prstGeom>
          <a:noFill/>
        </p:spPr>
        <p:txBody>
          <a:bodyPr wrap="none" rtlCol="0">
            <a:spAutoFit/>
          </a:bodyPr>
          <a:lstStyle/>
          <a:p>
            <a:r>
              <a:rPr lang="ru-RU" sz="1600" dirty="0">
                <a:solidFill>
                  <a:schemeClr val="accent6">
                    <a:lumMod val="50000"/>
                  </a:schemeClr>
                </a:solidFill>
                <a:latin typeface="Times New Roman" panose="02020603050405020304" pitchFamily="18" charset="0"/>
                <a:cs typeface="Times New Roman" panose="02020603050405020304" pitchFamily="18" charset="0"/>
              </a:rPr>
              <a:t>Задание прямоугольников</a:t>
            </a:r>
          </a:p>
        </p:txBody>
      </p:sp>
      <p:sp>
        <p:nvSpPr>
          <p:cNvPr id="8" name="TextBox 7">
            <a:extLst>
              <a:ext uri="{FF2B5EF4-FFF2-40B4-BE49-F238E27FC236}">
                <a16:creationId xmlns:a16="http://schemas.microsoft.com/office/drawing/2014/main" id="{264CFC13-D100-440A-AECA-CA3889F5D627}"/>
              </a:ext>
            </a:extLst>
          </p:cNvPr>
          <p:cNvSpPr txBox="1"/>
          <p:nvPr/>
        </p:nvSpPr>
        <p:spPr>
          <a:xfrm>
            <a:off x="108486" y="4702004"/>
            <a:ext cx="1415772" cy="338554"/>
          </a:xfrm>
          <a:prstGeom prst="rect">
            <a:avLst/>
          </a:prstGeom>
          <a:noFill/>
        </p:spPr>
        <p:txBody>
          <a:bodyPr wrap="none" rtlCol="0">
            <a:spAutoFit/>
          </a:bodyPr>
          <a:lstStyle/>
          <a:p>
            <a:r>
              <a:rPr lang="ru-RU" sz="1600" dirty="0">
                <a:solidFill>
                  <a:schemeClr val="accent6">
                    <a:lumMod val="50000"/>
                  </a:schemeClr>
                </a:solidFill>
                <a:latin typeface="Times New Roman" panose="02020603050405020304" pitchFamily="18" charset="0"/>
                <a:cs typeface="Times New Roman" panose="02020603050405020304" pitchFamily="18" charset="0"/>
              </a:rPr>
              <a:t>Задание точек</a:t>
            </a:r>
          </a:p>
        </p:txBody>
      </p:sp>
      <p:pic>
        <p:nvPicPr>
          <p:cNvPr id="13" name="Рисунок 12">
            <a:extLst>
              <a:ext uri="{FF2B5EF4-FFF2-40B4-BE49-F238E27FC236}">
                <a16:creationId xmlns:a16="http://schemas.microsoft.com/office/drawing/2014/main" id="{5F281A13-F55F-48B7-B985-11F3D8212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851" y="877141"/>
            <a:ext cx="3193848" cy="2606235"/>
          </a:xfrm>
          <a:prstGeom prst="rect">
            <a:avLst/>
          </a:prstGeom>
        </p:spPr>
      </p:pic>
      <p:pic>
        <p:nvPicPr>
          <p:cNvPr id="15" name="Рисунок 14">
            <a:extLst>
              <a:ext uri="{FF2B5EF4-FFF2-40B4-BE49-F238E27FC236}">
                <a16:creationId xmlns:a16="http://schemas.microsoft.com/office/drawing/2014/main" id="{AD67C5F8-D03C-4662-A87B-3491E95EB7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5494" y="931663"/>
            <a:ext cx="3373069" cy="2485775"/>
          </a:xfrm>
          <a:prstGeom prst="rect">
            <a:avLst/>
          </a:prstGeom>
        </p:spPr>
      </p:pic>
      <p:sp>
        <p:nvSpPr>
          <p:cNvPr id="16" name="Стрелка: вниз 15">
            <a:extLst>
              <a:ext uri="{FF2B5EF4-FFF2-40B4-BE49-F238E27FC236}">
                <a16:creationId xmlns:a16="http://schemas.microsoft.com/office/drawing/2014/main" id="{FBE33B85-8895-4670-90C9-3AD6A428E133}"/>
              </a:ext>
            </a:extLst>
          </p:cNvPr>
          <p:cNvSpPr/>
          <p:nvPr/>
        </p:nvSpPr>
        <p:spPr>
          <a:xfrm rot="16200000">
            <a:off x="6584162" y="1212742"/>
            <a:ext cx="535728" cy="7021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a:extLst>
              <a:ext uri="{FF2B5EF4-FFF2-40B4-BE49-F238E27FC236}">
                <a16:creationId xmlns:a16="http://schemas.microsoft.com/office/drawing/2014/main" id="{15FDED89-4F8A-41BE-BB1D-B875E6B7C0E8}"/>
              </a:ext>
            </a:extLst>
          </p:cNvPr>
          <p:cNvSpPr txBox="1"/>
          <p:nvPr/>
        </p:nvSpPr>
        <p:spPr>
          <a:xfrm>
            <a:off x="6413545" y="1957427"/>
            <a:ext cx="1515543" cy="830997"/>
          </a:xfrm>
          <a:prstGeom prst="rect">
            <a:avLst/>
          </a:prstGeom>
          <a:noFill/>
        </p:spPr>
        <p:txBody>
          <a:bodyPr wrap="none" rtlCol="0">
            <a:spAutoFit/>
          </a:bodyPr>
          <a:lstStyle/>
          <a:p>
            <a:r>
              <a:rPr lang="ru-RU" sz="1600" dirty="0">
                <a:solidFill>
                  <a:schemeClr val="accent6">
                    <a:lumMod val="50000"/>
                  </a:schemeClr>
                </a:solidFill>
                <a:latin typeface="Times New Roman" panose="02020603050405020304" pitchFamily="18" charset="0"/>
                <a:cs typeface="Times New Roman" panose="02020603050405020304" pitchFamily="18" charset="0"/>
              </a:rPr>
              <a:t>Третий </a:t>
            </a:r>
          </a:p>
          <a:p>
            <a:r>
              <a:rPr lang="ru-RU" sz="1600" dirty="0">
                <a:solidFill>
                  <a:schemeClr val="accent6">
                    <a:lumMod val="50000"/>
                  </a:schemeClr>
                </a:solidFill>
                <a:latin typeface="Times New Roman" panose="02020603050405020304" pitchFamily="18" charset="0"/>
                <a:cs typeface="Times New Roman" panose="02020603050405020304" pitchFamily="18" charset="0"/>
              </a:rPr>
              <a:t>прямоугольник</a:t>
            </a:r>
          </a:p>
          <a:p>
            <a:r>
              <a:rPr lang="ru-RU" sz="1600" dirty="0">
                <a:solidFill>
                  <a:schemeClr val="accent6">
                    <a:lumMod val="50000"/>
                  </a:schemeClr>
                </a:solidFill>
                <a:latin typeface="Times New Roman" panose="02020603050405020304" pitchFamily="18" charset="0"/>
                <a:cs typeface="Times New Roman" panose="02020603050405020304" pitchFamily="18" charset="0"/>
              </a:rPr>
              <a:t>отбракован</a:t>
            </a:r>
          </a:p>
        </p:txBody>
      </p:sp>
      <p:pic>
        <p:nvPicPr>
          <p:cNvPr id="19" name="Рисунок 18">
            <a:extLst>
              <a:ext uri="{FF2B5EF4-FFF2-40B4-BE49-F238E27FC236}">
                <a16:creationId xmlns:a16="http://schemas.microsoft.com/office/drawing/2014/main" id="{DFB6461C-0C70-44B4-BB18-BE62259C7B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3136" y="3679712"/>
            <a:ext cx="3253563" cy="2643101"/>
          </a:xfrm>
          <a:prstGeom prst="rect">
            <a:avLst/>
          </a:prstGeom>
        </p:spPr>
      </p:pic>
      <p:pic>
        <p:nvPicPr>
          <p:cNvPr id="21" name="Рисунок 20">
            <a:extLst>
              <a:ext uri="{FF2B5EF4-FFF2-40B4-BE49-F238E27FC236}">
                <a16:creationId xmlns:a16="http://schemas.microsoft.com/office/drawing/2014/main" id="{2F9E0DA1-E6BF-4ADE-B47F-4415B3EF701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75495" y="3689221"/>
            <a:ext cx="3440106" cy="2524121"/>
          </a:xfrm>
          <a:prstGeom prst="rect">
            <a:avLst/>
          </a:prstGeom>
        </p:spPr>
      </p:pic>
      <p:sp>
        <p:nvSpPr>
          <p:cNvPr id="3" name="Нижний колонтитул 2"/>
          <p:cNvSpPr>
            <a:spLocks noGrp="1"/>
          </p:cNvSpPr>
          <p:nvPr>
            <p:ph type="ftr" sz="quarter" idx="11"/>
          </p:nvPr>
        </p:nvSpPr>
        <p:spPr/>
        <p:txBody>
          <a:bodyPr/>
          <a:lstStyle/>
          <a:p>
            <a:endParaRPr lang="ru-RU"/>
          </a:p>
        </p:txBody>
      </p:sp>
    </p:spTree>
    <p:extLst>
      <p:ext uri="{BB962C8B-B14F-4D97-AF65-F5344CB8AC3E}">
        <p14:creationId xmlns:p14="http://schemas.microsoft.com/office/powerpoint/2010/main" val="3647782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BA926749-B43F-4DCA-BD96-DE07FEB850B2}"/>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21</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063EA77F-1254-449C-9712-3A8785B96FDB}"/>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Метод решения</a:t>
            </a:r>
          </a:p>
        </p:txBody>
      </p:sp>
      <p:sp>
        <p:nvSpPr>
          <p:cNvPr id="11" name="TextBox 10">
            <a:extLst>
              <a:ext uri="{FF2B5EF4-FFF2-40B4-BE49-F238E27FC236}">
                <a16:creationId xmlns:a16="http://schemas.microsoft.com/office/drawing/2014/main" id="{49D84C37-5CCE-47CC-A1AA-7681DCB85F2F}"/>
              </a:ext>
            </a:extLst>
          </p:cNvPr>
          <p:cNvSpPr txBox="1"/>
          <p:nvPr/>
        </p:nvSpPr>
        <p:spPr>
          <a:xfrm>
            <a:off x="4597148" y="3947885"/>
            <a:ext cx="2867645" cy="369332"/>
          </a:xfrm>
          <a:prstGeom prst="rect">
            <a:avLst/>
          </a:prstGeom>
          <a:noFill/>
        </p:spPr>
        <p:txBody>
          <a:bodyPr wrap="non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Итерация по массиву точек</a:t>
            </a:r>
          </a:p>
        </p:txBody>
      </p:sp>
      <p:pic>
        <p:nvPicPr>
          <p:cNvPr id="8" name="Рисунок 7">
            <a:extLst>
              <a:ext uri="{FF2B5EF4-FFF2-40B4-BE49-F238E27FC236}">
                <a16:creationId xmlns:a16="http://schemas.microsoft.com/office/drawing/2014/main" id="{0B4A7C5C-9D8E-4D06-89A7-88F80732E7AB}"/>
              </a:ext>
            </a:extLst>
          </p:cNvPr>
          <p:cNvPicPr>
            <a:picLocks noChangeAspect="1"/>
          </p:cNvPicPr>
          <p:nvPr/>
        </p:nvPicPr>
        <p:blipFill>
          <a:blip r:embed="rId2"/>
          <a:stretch>
            <a:fillRect/>
          </a:stretch>
        </p:blipFill>
        <p:spPr>
          <a:xfrm>
            <a:off x="535395" y="1321030"/>
            <a:ext cx="820280" cy="820280"/>
          </a:xfrm>
          <a:prstGeom prst="rect">
            <a:avLst/>
          </a:prstGeom>
        </p:spPr>
      </p:pic>
      <p:sp>
        <p:nvSpPr>
          <p:cNvPr id="12" name="TextBox 11">
            <a:extLst>
              <a:ext uri="{FF2B5EF4-FFF2-40B4-BE49-F238E27FC236}">
                <a16:creationId xmlns:a16="http://schemas.microsoft.com/office/drawing/2014/main" id="{CD9E4ED4-296F-4FE7-93B5-1438231B4EFE}"/>
              </a:ext>
            </a:extLst>
          </p:cNvPr>
          <p:cNvSpPr txBox="1"/>
          <p:nvPr/>
        </p:nvSpPr>
        <p:spPr>
          <a:xfrm>
            <a:off x="1543200" y="1509998"/>
            <a:ext cx="4053802" cy="369332"/>
          </a:xfrm>
          <a:prstGeom prst="rect">
            <a:avLst/>
          </a:prstGeom>
          <a:noFill/>
        </p:spPr>
        <p:txBody>
          <a:bodyPr wrap="non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Сформирован массив прямоугольников</a:t>
            </a:r>
          </a:p>
        </p:txBody>
      </p:sp>
      <p:pic>
        <p:nvPicPr>
          <p:cNvPr id="13" name="Рисунок 12">
            <a:extLst>
              <a:ext uri="{FF2B5EF4-FFF2-40B4-BE49-F238E27FC236}">
                <a16:creationId xmlns:a16="http://schemas.microsoft.com/office/drawing/2014/main" id="{379B4348-BDD4-4448-A896-720F29D0F98F}"/>
              </a:ext>
            </a:extLst>
          </p:cNvPr>
          <p:cNvPicPr>
            <a:picLocks noChangeAspect="1"/>
          </p:cNvPicPr>
          <p:nvPr/>
        </p:nvPicPr>
        <p:blipFill>
          <a:blip r:embed="rId2"/>
          <a:stretch>
            <a:fillRect/>
          </a:stretch>
        </p:blipFill>
        <p:spPr>
          <a:xfrm>
            <a:off x="6750495" y="1321030"/>
            <a:ext cx="820280" cy="820280"/>
          </a:xfrm>
          <a:prstGeom prst="rect">
            <a:avLst/>
          </a:prstGeom>
        </p:spPr>
      </p:pic>
      <p:sp>
        <p:nvSpPr>
          <p:cNvPr id="14" name="TextBox 13">
            <a:extLst>
              <a:ext uri="{FF2B5EF4-FFF2-40B4-BE49-F238E27FC236}">
                <a16:creationId xmlns:a16="http://schemas.microsoft.com/office/drawing/2014/main" id="{25C1EC27-DEAA-47C5-AD00-466476140AC3}"/>
              </a:ext>
            </a:extLst>
          </p:cNvPr>
          <p:cNvSpPr txBox="1"/>
          <p:nvPr/>
        </p:nvSpPr>
        <p:spPr>
          <a:xfrm>
            <a:off x="7907064" y="1509998"/>
            <a:ext cx="3039117" cy="369332"/>
          </a:xfrm>
          <a:prstGeom prst="rect">
            <a:avLst/>
          </a:prstGeom>
          <a:noFill/>
        </p:spPr>
        <p:txBody>
          <a:bodyPr wrap="square">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Сформирован массив точек</a:t>
            </a:r>
          </a:p>
        </p:txBody>
      </p:sp>
      <p:sp>
        <p:nvSpPr>
          <p:cNvPr id="15" name="Стрелка вниз 7">
            <a:extLst>
              <a:ext uri="{FF2B5EF4-FFF2-40B4-BE49-F238E27FC236}">
                <a16:creationId xmlns:a16="http://schemas.microsoft.com/office/drawing/2014/main" id="{52A49009-526C-442E-BAE0-2BAEDD36EEF8}"/>
              </a:ext>
            </a:extLst>
          </p:cNvPr>
          <p:cNvSpPr/>
          <p:nvPr/>
        </p:nvSpPr>
        <p:spPr>
          <a:xfrm>
            <a:off x="5800969" y="2221297"/>
            <a:ext cx="460005" cy="942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622C272F-0CBD-4ABA-AE1D-48DFFEFF36F0}"/>
              </a:ext>
            </a:extLst>
          </p:cNvPr>
          <p:cNvSpPr txBox="1"/>
          <p:nvPr/>
        </p:nvSpPr>
        <p:spPr>
          <a:xfrm>
            <a:off x="3986338" y="3410915"/>
            <a:ext cx="4063933" cy="369332"/>
          </a:xfrm>
          <a:prstGeom prst="rect">
            <a:avLst/>
          </a:prstGeom>
          <a:noFill/>
        </p:spPr>
        <p:txBody>
          <a:bodyPr wrap="non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Итерация по массиву прямоугольников</a:t>
            </a:r>
          </a:p>
        </p:txBody>
      </p:sp>
      <p:sp>
        <p:nvSpPr>
          <p:cNvPr id="17" name="TextBox 16">
            <a:extLst>
              <a:ext uri="{FF2B5EF4-FFF2-40B4-BE49-F238E27FC236}">
                <a16:creationId xmlns:a16="http://schemas.microsoft.com/office/drawing/2014/main" id="{FB8F4395-355A-4276-9EAB-03668AAE9861}"/>
              </a:ext>
            </a:extLst>
          </p:cNvPr>
          <p:cNvSpPr txBox="1"/>
          <p:nvPr/>
        </p:nvSpPr>
        <p:spPr>
          <a:xfrm>
            <a:off x="3934755" y="5543346"/>
            <a:ext cx="4192430" cy="369332"/>
          </a:xfrm>
          <a:prstGeom prst="rect">
            <a:avLst/>
          </a:prstGeom>
          <a:noFill/>
        </p:spPr>
        <p:txBody>
          <a:bodyPr wrap="non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Вычисление наибольшей длины отрезка</a:t>
            </a:r>
          </a:p>
        </p:txBody>
      </p:sp>
      <p:sp>
        <p:nvSpPr>
          <p:cNvPr id="18" name="Стрелка вниз 7">
            <a:extLst>
              <a:ext uri="{FF2B5EF4-FFF2-40B4-BE49-F238E27FC236}">
                <a16:creationId xmlns:a16="http://schemas.microsoft.com/office/drawing/2014/main" id="{43C9DD5A-AB5A-4B3F-87F0-B365DF6010F4}"/>
              </a:ext>
            </a:extLst>
          </p:cNvPr>
          <p:cNvSpPr/>
          <p:nvPr/>
        </p:nvSpPr>
        <p:spPr>
          <a:xfrm>
            <a:off x="5800969" y="4437304"/>
            <a:ext cx="460005" cy="94240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63111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96640FEC-C7EC-4559-BC40-8F39882A5E1B}"/>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22</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B2994271-8424-4FBF-84F0-AC4257A74DF6}"/>
              </a:ext>
            </a:extLst>
          </p:cNvPr>
          <p:cNvSpPr>
            <a:spLocks noGrp="1"/>
          </p:cNvSpPr>
          <p:nvPr>
            <p:ph type="title"/>
          </p:nvPr>
        </p:nvSpPr>
        <p:spPr>
          <a:xfrm>
            <a:off x="900000" y="0"/>
            <a:ext cx="10515600" cy="925195"/>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Структура программы</a:t>
            </a:r>
          </a:p>
        </p:txBody>
      </p:sp>
      <p:sp>
        <p:nvSpPr>
          <p:cNvPr id="2" name="AutoShape 2">
            <a:extLst>
              <a:ext uri="{FF2B5EF4-FFF2-40B4-BE49-F238E27FC236}">
                <a16:creationId xmlns:a16="http://schemas.microsoft.com/office/drawing/2014/main" id="{D5327423-793A-4273-BB64-B8B00B5C712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28" name="Picture 4">
            <a:extLst>
              <a:ext uri="{FF2B5EF4-FFF2-40B4-BE49-F238E27FC236}">
                <a16:creationId xmlns:a16="http://schemas.microsoft.com/office/drawing/2014/main" id="{F0C599CA-4E0D-45CD-9662-2FF0F1676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5195"/>
            <a:ext cx="11471174" cy="5523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021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B1267BDD-0B41-4F0A-9A9C-B23195465B76}"/>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23</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5623C61A-0BEA-4E44-A76D-6D9AB8C46874}"/>
              </a:ext>
            </a:extLst>
          </p:cNvPr>
          <p:cNvSpPr>
            <a:spLocks noGrp="1"/>
          </p:cNvSpPr>
          <p:nvPr>
            <p:ph type="title"/>
          </p:nvPr>
        </p:nvSpPr>
        <p:spPr>
          <a:xfrm>
            <a:off x="935857" y="43870"/>
            <a:ext cx="10515600" cy="925195"/>
          </a:xfrm>
        </p:spPr>
        <p:txBody>
          <a:bodyPr>
            <a:noAutofit/>
          </a:bodyPr>
          <a:lstStyle/>
          <a:p>
            <a:pPr algn="ctr"/>
            <a:r>
              <a:rPr lang="ru-RU" sz="2400" b="1" dirty="0">
                <a:solidFill>
                  <a:schemeClr val="accent6">
                    <a:lumMod val="50000"/>
                  </a:schemeClr>
                </a:solidFill>
                <a:latin typeface="Times New Roman" panose="02020603050405020304" pitchFamily="18" charset="0"/>
                <a:cs typeface="Times New Roman" panose="02020603050405020304" pitchFamily="18" charset="0"/>
              </a:rPr>
              <a:t>Пример работы программы</a:t>
            </a:r>
            <a:br>
              <a:rPr lang="ru-RU" sz="2400" dirty="0">
                <a:solidFill>
                  <a:schemeClr val="accent6">
                    <a:lumMod val="50000"/>
                  </a:schemeClr>
                </a:solidFill>
                <a:latin typeface="Times New Roman" panose="02020603050405020304" pitchFamily="18" charset="0"/>
                <a:cs typeface="Times New Roman" panose="02020603050405020304" pitchFamily="18" charset="0"/>
              </a:rPr>
            </a:br>
            <a:r>
              <a:rPr lang="ru-RU" sz="2400" dirty="0">
                <a:solidFill>
                  <a:schemeClr val="accent6">
                    <a:lumMod val="50000"/>
                  </a:schemeClr>
                </a:solidFill>
                <a:latin typeface="Times New Roman" panose="02020603050405020304" pitchFamily="18" charset="0"/>
                <a:cs typeface="Times New Roman" panose="02020603050405020304" pitchFamily="18" charset="0"/>
              </a:rPr>
              <a:t>Для каждого случая взаимного расположения прямоугольника и отрезка</a:t>
            </a:r>
            <a:r>
              <a:rPr lang="en-US" sz="2400" dirty="0">
                <a:solidFill>
                  <a:schemeClr val="accent6">
                    <a:lumMod val="50000"/>
                  </a:schemeClr>
                </a:solidFill>
                <a:latin typeface="Times New Roman" panose="02020603050405020304" pitchFamily="18" charset="0"/>
                <a:cs typeface="Times New Roman" panose="02020603050405020304" pitchFamily="18" charset="0"/>
              </a:rPr>
              <a:t>:</a:t>
            </a:r>
            <a:br>
              <a:rPr lang="ru-RU" sz="2400" dirty="0">
                <a:solidFill>
                  <a:schemeClr val="accent6">
                    <a:lumMod val="50000"/>
                  </a:schemeClr>
                </a:solidFill>
                <a:latin typeface="Times New Roman" panose="02020603050405020304" pitchFamily="18" charset="0"/>
                <a:cs typeface="Times New Roman" panose="02020603050405020304" pitchFamily="18" charset="0"/>
              </a:rPr>
            </a:br>
            <a:endParaRPr lang="ru-RU" sz="24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8" name="Стрелка: вправо 7">
            <a:extLst>
              <a:ext uri="{FF2B5EF4-FFF2-40B4-BE49-F238E27FC236}">
                <a16:creationId xmlns:a16="http://schemas.microsoft.com/office/drawing/2014/main" id="{63CCC5B0-D7D4-4DFE-8202-C08D7F088EA2}"/>
              </a:ext>
            </a:extLst>
          </p:cNvPr>
          <p:cNvSpPr/>
          <p:nvPr/>
        </p:nvSpPr>
        <p:spPr>
          <a:xfrm>
            <a:off x="4429545" y="1735791"/>
            <a:ext cx="1622612" cy="644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 name="Рисунок 2">
            <a:extLst>
              <a:ext uri="{FF2B5EF4-FFF2-40B4-BE49-F238E27FC236}">
                <a16:creationId xmlns:a16="http://schemas.microsoft.com/office/drawing/2014/main" id="{5D47C441-B0C8-44BA-8223-57D6FEE945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9723" y="952285"/>
            <a:ext cx="2552921" cy="2476715"/>
          </a:xfrm>
          <a:prstGeom prst="rect">
            <a:avLst/>
          </a:prstGeom>
        </p:spPr>
      </p:pic>
      <p:pic>
        <p:nvPicPr>
          <p:cNvPr id="12" name="Рисунок 11">
            <a:extLst>
              <a:ext uri="{FF2B5EF4-FFF2-40B4-BE49-F238E27FC236}">
                <a16:creationId xmlns:a16="http://schemas.microsoft.com/office/drawing/2014/main" id="{D4D09131-9287-4D67-82DB-CD691563C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659" y="686627"/>
            <a:ext cx="1643835" cy="2807473"/>
          </a:xfrm>
          <a:prstGeom prst="rect">
            <a:avLst/>
          </a:prstGeom>
        </p:spPr>
      </p:pic>
      <p:sp>
        <p:nvSpPr>
          <p:cNvPr id="15" name="TextBox 14">
            <a:extLst>
              <a:ext uri="{FF2B5EF4-FFF2-40B4-BE49-F238E27FC236}">
                <a16:creationId xmlns:a16="http://schemas.microsoft.com/office/drawing/2014/main" id="{43ADB604-275D-4793-B838-2B5BA4B6B61F}"/>
              </a:ext>
            </a:extLst>
          </p:cNvPr>
          <p:cNvSpPr txBox="1"/>
          <p:nvPr/>
        </p:nvSpPr>
        <p:spPr>
          <a:xfrm>
            <a:off x="95593" y="1337204"/>
            <a:ext cx="908453" cy="646331"/>
          </a:xfrm>
          <a:prstGeom prst="rect">
            <a:avLst/>
          </a:prstGeom>
          <a:noFill/>
        </p:spPr>
        <p:txBody>
          <a:bodyPr wrap="square" rtlCol="0">
            <a:spAutoFit/>
          </a:bodyPr>
          <a:lstStyle/>
          <a:p>
            <a:r>
              <a:rPr lang="ru-RU" dirty="0">
                <a:solidFill>
                  <a:schemeClr val="accent6">
                    <a:lumMod val="50000"/>
                  </a:schemeClr>
                </a:solidFill>
              </a:rPr>
              <a:t>1 случай</a:t>
            </a:r>
            <a:r>
              <a:rPr lang="en-US" dirty="0">
                <a:solidFill>
                  <a:schemeClr val="accent6">
                    <a:lumMod val="50000"/>
                  </a:schemeClr>
                </a:solidFill>
              </a:rPr>
              <a:t>:</a:t>
            </a:r>
            <a:endParaRPr lang="ru-RU" dirty="0">
              <a:solidFill>
                <a:schemeClr val="accent6">
                  <a:lumMod val="50000"/>
                </a:schemeClr>
              </a:solidFill>
            </a:endParaRPr>
          </a:p>
        </p:txBody>
      </p:sp>
      <p:sp>
        <p:nvSpPr>
          <p:cNvPr id="16" name="TextBox 15">
            <a:extLst>
              <a:ext uri="{FF2B5EF4-FFF2-40B4-BE49-F238E27FC236}">
                <a16:creationId xmlns:a16="http://schemas.microsoft.com/office/drawing/2014/main" id="{1F147AB7-9C36-4D1C-8735-BC5506502EDC}"/>
              </a:ext>
            </a:extLst>
          </p:cNvPr>
          <p:cNvSpPr txBox="1"/>
          <p:nvPr/>
        </p:nvSpPr>
        <p:spPr>
          <a:xfrm>
            <a:off x="95592" y="3818965"/>
            <a:ext cx="908453" cy="646331"/>
          </a:xfrm>
          <a:prstGeom prst="rect">
            <a:avLst/>
          </a:prstGeom>
          <a:noFill/>
        </p:spPr>
        <p:txBody>
          <a:bodyPr wrap="square" rtlCol="0">
            <a:spAutoFit/>
          </a:bodyPr>
          <a:lstStyle/>
          <a:p>
            <a:r>
              <a:rPr lang="en-US" dirty="0">
                <a:solidFill>
                  <a:schemeClr val="accent6">
                    <a:lumMod val="50000"/>
                  </a:schemeClr>
                </a:solidFill>
              </a:rPr>
              <a:t>2 </a:t>
            </a:r>
            <a:r>
              <a:rPr lang="ru-RU" dirty="0">
                <a:solidFill>
                  <a:schemeClr val="accent6">
                    <a:lumMod val="50000"/>
                  </a:schemeClr>
                </a:solidFill>
              </a:rPr>
              <a:t>случай</a:t>
            </a:r>
            <a:r>
              <a:rPr lang="en-US" dirty="0">
                <a:solidFill>
                  <a:schemeClr val="accent6">
                    <a:lumMod val="50000"/>
                  </a:schemeClr>
                </a:solidFill>
              </a:rPr>
              <a:t>:</a:t>
            </a:r>
            <a:endParaRPr lang="ru-RU" dirty="0">
              <a:solidFill>
                <a:schemeClr val="accent6">
                  <a:lumMod val="50000"/>
                </a:schemeClr>
              </a:solidFill>
            </a:endParaRPr>
          </a:p>
        </p:txBody>
      </p:sp>
      <p:pic>
        <p:nvPicPr>
          <p:cNvPr id="18" name="Рисунок 17">
            <a:extLst>
              <a:ext uri="{FF2B5EF4-FFF2-40B4-BE49-F238E27FC236}">
                <a16:creationId xmlns:a16="http://schemas.microsoft.com/office/drawing/2014/main" id="{116E41FA-7DC9-4326-A5A6-1F786AD88C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7233" y="3818965"/>
            <a:ext cx="1856223" cy="2196770"/>
          </a:xfrm>
          <a:prstGeom prst="rect">
            <a:avLst/>
          </a:prstGeom>
        </p:spPr>
      </p:pic>
      <p:sp>
        <p:nvSpPr>
          <p:cNvPr id="19" name="Стрелка: вправо 18">
            <a:extLst>
              <a:ext uri="{FF2B5EF4-FFF2-40B4-BE49-F238E27FC236}">
                <a16:creationId xmlns:a16="http://schemas.microsoft.com/office/drawing/2014/main" id="{DAEB4CE1-2DB5-471C-8A3E-51168FBED700}"/>
              </a:ext>
            </a:extLst>
          </p:cNvPr>
          <p:cNvSpPr/>
          <p:nvPr/>
        </p:nvSpPr>
        <p:spPr>
          <a:xfrm>
            <a:off x="4168199" y="4477295"/>
            <a:ext cx="1622612" cy="644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1" name="Рисунок 20">
            <a:extLst>
              <a:ext uri="{FF2B5EF4-FFF2-40B4-BE49-F238E27FC236}">
                <a16:creationId xmlns:a16="http://schemas.microsoft.com/office/drawing/2014/main" id="{2B4EEBAB-D6B0-4996-85B7-C87F16BA22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30762" y="3511122"/>
            <a:ext cx="1518732" cy="3222175"/>
          </a:xfrm>
          <a:prstGeom prst="rect">
            <a:avLst/>
          </a:prstGeom>
        </p:spPr>
      </p:pic>
    </p:spTree>
    <p:extLst>
      <p:ext uri="{BB962C8B-B14F-4D97-AF65-F5344CB8AC3E}">
        <p14:creationId xmlns:p14="http://schemas.microsoft.com/office/powerpoint/2010/main" val="253180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7F61B6-8475-4B90-836E-E12945F7F07F}"/>
              </a:ext>
            </a:extLst>
          </p:cNvPr>
          <p:cNvSpPr>
            <a:spLocks noGrp="1"/>
          </p:cNvSpPr>
          <p:nvPr>
            <p:ph type="title"/>
          </p:nvPr>
        </p:nvSpPr>
        <p:spPr>
          <a:xfrm>
            <a:off x="788894" y="0"/>
            <a:ext cx="10515600" cy="681037"/>
          </a:xfrm>
        </p:spPr>
        <p:txBody>
          <a:bodyPr>
            <a:normAutofit/>
          </a:bodyPr>
          <a:lstStyle/>
          <a:p>
            <a:pPr algn="ctr"/>
            <a:r>
              <a:rPr lang="ru-RU" sz="2400" b="1" dirty="0">
                <a:solidFill>
                  <a:schemeClr val="accent6">
                    <a:lumMod val="50000"/>
                  </a:schemeClr>
                </a:solidFill>
                <a:latin typeface="Times New Roman" panose="02020603050405020304" pitchFamily="18" charset="0"/>
                <a:cs typeface="Times New Roman" panose="02020603050405020304" pitchFamily="18" charset="0"/>
              </a:rPr>
              <a:t>Пример работы программы</a:t>
            </a:r>
          </a:p>
        </p:txBody>
      </p:sp>
      <p:sp>
        <p:nvSpPr>
          <p:cNvPr id="5" name="Номер слайда 4">
            <a:extLst>
              <a:ext uri="{FF2B5EF4-FFF2-40B4-BE49-F238E27FC236}">
                <a16:creationId xmlns:a16="http://schemas.microsoft.com/office/drawing/2014/main" id="{CA2E5F6A-BD98-4C01-B0A3-E39C24E04294}"/>
              </a:ext>
            </a:extLst>
          </p:cNvPr>
          <p:cNvSpPr>
            <a:spLocks noGrp="1"/>
          </p:cNvSpPr>
          <p:nvPr>
            <p:ph type="sldNum" sz="quarter" idx="12"/>
          </p:nvPr>
        </p:nvSpPr>
        <p:spPr/>
        <p:txBody>
          <a:bodyPr/>
          <a:lstStyle/>
          <a:p>
            <a:fld id="{8346BD07-4451-4F99-9781-57091C949674}" type="slidenum">
              <a:rPr lang="ru-RU" smtClean="0"/>
              <a:t>24</a:t>
            </a:fld>
            <a:endParaRPr lang="ru-RU"/>
          </a:p>
        </p:txBody>
      </p:sp>
      <p:sp>
        <p:nvSpPr>
          <p:cNvPr id="7" name="TextBox 6">
            <a:extLst>
              <a:ext uri="{FF2B5EF4-FFF2-40B4-BE49-F238E27FC236}">
                <a16:creationId xmlns:a16="http://schemas.microsoft.com/office/drawing/2014/main" id="{1AF1A690-907E-4A2B-AA1C-F86FD90EC016}"/>
              </a:ext>
            </a:extLst>
          </p:cNvPr>
          <p:cNvSpPr txBox="1"/>
          <p:nvPr/>
        </p:nvSpPr>
        <p:spPr>
          <a:xfrm>
            <a:off x="313766" y="977153"/>
            <a:ext cx="1272988" cy="400110"/>
          </a:xfrm>
          <a:prstGeom prst="rect">
            <a:avLst/>
          </a:prstGeom>
          <a:noFill/>
        </p:spPr>
        <p:txBody>
          <a:bodyPr wrap="squar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3 случай</a:t>
            </a:r>
            <a:r>
              <a:rPr lang="en-US" sz="2000" dirty="0">
                <a:solidFill>
                  <a:schemeClr val="accent6">
                    <a:lumMod val="50000"/>
                  </a:schemeClr>
                </a:solidFill>
                <a:latin typeface="Times New Roman" panose="02020603050405020304" pitchFamily="18" charset="0"/>
                <a:cs typeface="Times New Roman" panose="02020603050405020304" pitchFamily="18" charset="0"/>
              </a:rPr>
              <a:t>:</a:t>
            </a:r>
            <a:endParaRPr lang="ru-RU" sz="20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B7D0C4-5760-4CE8-882C-75248682456B}"/>
              </a:ext>
            </a:extLst>
          </p:cNvPr>
          <p:cNvSpPr txBox="1"/>
          <p:nvPr/>
        </p:nvSpPr>
        <p:spPr>
          <a:xfrm>
            <a:off x="228600" y="4957482"/>
            <a:ext cx="1120587" cy="369332"/>
          </a:xfrm>
          <a:prstGeom prst="rect">
            <a:avLst/>
          </a:prstGeom>
          <a:noFill/>
        </p:spPr>
        <p:txBody>
          <a:bodyPr wrap="square" rtlCol="0">
            <a:spAutoFit/>
          </a:bodyPr>
          <a:lstStyle/>
          <a:p>
            <a:r>
              <a:rPr lang="en-US" dirty="0">
                <a:solidFill>
                  <a:schemeClr val="accent6">
                    <a:lumMod val="50000"/>
                  </a:schemeClr>
                </a:solidFill>
                <a:latin typeface="Times New Roman" panose="02020603050405020304" pitchFamily="18" charset="0"/>
                <a:cs typeface="Times New Roman" panose="02020603050405020304" pitchFamily="18" charset="0"/>
              </a:rPr>
              <a:t>4 </a:t>
            </a:r>
            <a:r>
              <a:rPr lang="ru-RU" dirty="0">
                <a:solidFill>
                  <a:schemeClr val="accent6">
                    <a:lumMod val="50000"/>
                  </a:schemeClr>
                </a:solidFill>
                <a:latin typeface="Times New Roman" panose="02020603050405020304" pitchFamily="18" charset="0"/>
                <a:cs typeface="Times New Roman" panose="02020603050405020304" pitchFamily="18" charset="0"/>
              </a:rPr>
              <a:t>случай</a:t>
            </a:r>
            <a:r>
              <a:rPr lang="en-US" dirty="0">
                <a:solidFill>
                  <a:schemeClr val="accent6">
                    <a:lumMod val="50000"/>
                  </a:schemeClr>
                </a:solidFill>
                <a:latin typeface="Times New Roman" panose="02020603050405020304" pitchFamily="18" charset="0"/>
                <a:cs typeface="Times New Roman" panose="02020603050405020304" pitchFamily="18" charset="0"/>
              </a:rPr>
              <a:t>:</a:t>
            </a:r>
            <a:endParaRPr lang="ru-RU"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B5011445-1A99-4E04-A638-91534AEBF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821" y="977153"/>
            <a:ext cx="2459555" cy="2761410"/>
          </a:xfrm>
          <a:prstGeom prst="rect">
            <a:avLst/>
          </a:prstGeom>
        </p:spPr>
      </p:pic>
      <p:sp>
        <p:nvSpPr>
          <p:cNvPr id="11" name="Стрелка: вправо 10">
            <a:extLst>
              <a:ext uri="{FF2B5EF4-FFF2-40B4-BE49-F238E27FC236}">
                <a16:creationId xmlns:a16="http://schemas.microsoft.com/office/drawing/2014/main" id="{5E528D57-6796-45DC-BF14-C8B148049540}"/>
              </a:ext>
            </a:extLst>
          </p:cNvPr>
          <p:cNvSpPr/>
          <p:nvPr/>
        </p:nvSpPr>
        <p:spPr>
          <a:xfrm>
            <a:off x="5057074" y="2035400"/>
            <a:ext cx="1622612" cy="644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3" name="Рисунок 12">
            <a:extLst>
              <a:ext uri="{FF2B5EF4-FFF2-40B4-BE49-F238E27FC236}">
                <a16:creationId xmlns:a16="http://schemas.microsoft.com/office/drawing/2014/main" id="{B0BA02E5-BC62-48AA-AEB9-9DEC6A37F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1642" y="585520"/>
            <a:ext cx="1717333" cy="3421406"/>
          </a:xfrm>
          <a:prstGeom prst="rect">
            <a:avLst/>
          </a:prstGeom>
        </p:spPr>
      </p:pic>
      <p:sp>
        <p:nvSpPr>
          <p:cNvPr id="14" name="Стрелка: вправо 13">
            <a:extLst>
              <a:ext uri="{FF2B5EF4-FFF2-40B4-BE49-F238E27FC236}">
                <a16:creationId xmlns:a16="http://schemas.microsoft.com/office/drawing/2014/main" id="{1D74BAF2-767D-477F-9CA3-A00BB989DF6F}"/>
              </a:ext>
            </a:extLst>
          </p:cNvPr>
          <p:cNvSpPr/>
          <p:nvPr/>
        </p:nvSpPr>
        <p:spPr>
          <a:xfrm>
            <a:off x="5057074" y="5004356"/>
            <a:ext cx="1622612" cy="644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Рисунок 15">
            <a:extLst>
              <a:ext uri="{FF2B5EF4-FFF2-40B4-BE49-F238E27FC236}">
                <a16:creationId xmlns:a16="http://schemas.microsoft.com/office/drawing/2014/main" id="{8AA9A60C-1349-4246-BC9A-D1D7AC2209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9510" y="3911409"/>
            <a:ext cx="2459555" cy="2830808"/>
          </a:xfrm>
          <a:prstGeom prst="rect">
            <a:avLst/>
          </a:prstGeom>
        </p:spPr>
      </p:pic>
      <p:pic>
        <p:nvPicPr>
          <p:cNvPr id="18" name="Рисунок 17">
            <a:extLst>
              <a:ext uri="{FF2B5EF4-FFF2-40B4-BE49-F238E27FC236}">
                <a16:creationId xmlns:a16="http://schemas.microsoft.com/office/drawing/2014/main" id="{29C18793-1DEC-4CE2-9799-8A117DFC41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9002" y="4091582"/>
            <a:ext cx="1622612" cy="2754639"/>
          </a:xfrm>
          <a:prstGeom prst="rect">
            <a:avLst/>
          </a:prstGeom>
        </p:spPr>
      </p:pic>
    </p:spTree>
    <p:extLst>
      <p:ext uri="{BB962C8B-B14F-4D97-AF65-F5344CB8AC3E}">
        <p14:creationId xmlns:p14="http://schemas.microsoft.com/office/powerpoint/2010/main" val="3818948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EC9160-62C3-4E07-B45F-42E7909930FB}"/>
              </a:ext>
            </a:extLst>
          </p:cNvPr>
          <p:cNvSpPr>
            <a:spLocks noGrp="1"/>
          </p:cNvSpPr>
          <p:nvPr>
            <p:ph type="title"/>
          </p:nvPr>
        </p:nvSpPr>
        <p:spPr>
          <a:xfrm>
            <a:off x="838200" y="51080"/>
            <a:ext cx="10515600" cy="629957"/>
          </a:xfrm>
        </p:spPr>
        <p:txBody>
          <a:bodyPr>
            <a:normAutofit/>
          </a:bodyPr>
          <a:lstStyle/>
          <a:p>
            <a:pPr algn="ctr"/>
            <a:r>
              <a:rPr lang="ru-RU" sz="2400" b="1" dirty="0">
                <a:solidFill>
                  <a:schemeClr val="accent6">
                    <a:lumMod val="50000"/>
                  </a:schemeClr>
                </a:solidFill>
                <a:latin typeface="Times New Roman" panose="02020603050405020304" pitchFamily="18" charset="0"/>
                <a:cs typeface="Times New Roman" panose="02020603050405020304" pitchFamily="18" charset="0"/>
              </a:rPr>
              <a:t>Пример работы программы</a:t>
            </a:r>
          </a:p>
        </p:txBody>
      </p:sp>
      <p:sp>
        <p:nvSpPr>
          <p:cNvPr id="5" name="Номер слайда 4">
            <a:extLst>
              <a:ext uri="{FF2B5EF4-FFF2-40B4-BE49-F238E27FC236}">
                <a16:creationId xmlns:a16="http://schemas.microsoft.com/office/drawing/2014/main" id="{C1015319-4C21-40DB-A68D-0F426E1F8DF0}"/>
              </a:ext>
            </a:extLst>
          </p:cNvPr>
          <p:cNvSpPr>
            <a:spLocks noGrp="1"/>
          </p:cNvSpPr>
          <p:nvPr>
            <p:ph type="sldNum" sz="quarter" idx="12"/>
          </p:nvPr>
        </p:nvSpPr>
        <p:spPr/>
        <p:txBody>
          <a:bodyPr/>
          <a:lstStyle/>
          <a:p>
            <a:fld id="{8346BD07-4451-4F99-9781-57091C949674}" type="slidenum">
              <a:rPr lang="ru-RU" smtClean="0"/>
              <a:t>25</a:t>
            </a:fld>
            <a:endParaRPr lang="ru-RU"/>
          </a:p>
        </p:txBody>
      </p:sp>
      <p:sp>
        <p:nvSpPr>
          <p:cNvPr id="6" name="TextBox 5">
            <a:extLst>
              <a:ext uri="{FF2B5EF4-FFF2-40B4-BE49-F238E27FC236}">
                <a16:creationId xmlns:a16="http://schemas.microsoft.com/office/drawing/2014/main" id="{ADDF224E-A8A8-43EB-9F61-8E87CEED1A34}"/>
              </a:ext>
            </a:extLst>
          </p:cNvPr>
          <p:cNvSpPr txBox="1"/>
          <p:nvPr/>
        </p:nvSpPr>
        <p:spPr>
          <a:xfrm>
            <a:off x="282388" y="1066801"/>
            <a:ext cx="1111623" cy="369332"/>
          </a:xfrm>
          <a:prstGeom prst="rect">
            <a:avLst/>
          </a:prstGeom>
          <a:noFill/>
        </p:spPr>
        <p:txBody>
          <a:bodyPr wrap="square" rtlCol="0">
            <a:spAutoFit/>
          </a:bodyPr>
          <a:lstStyle/>
          <a:p>
            <a:r>
              <a:rPr lang="ru-RU" dirty="0">
                <a:solidFill>
                  <a:schemeClr val="accent6">
                    <a:lumMod val="50000"/>
                  </a:schemeClr>
                </a:solidFill>
                <a:latin typeface="Times New Roman" panose="02020603050405020304" pitchFamily="18" charset="0"/>
                <a:cs typeface="Times New Roman" panose="02020603050405020304" pitchFamily="18" charset="0"/>
              </a:rPr>
              <a:t>4 случай</a:t>
            </a:r>
            <a:r>
              <a:rPr lang="en-US" dirty="0">
                <a:solidFill>
                  <a:schemeClr val="accent6">
                    <a:lumMod val="50000"/>
                  </a:schemeClr>
                </a:solidFill>
                <a:latin typeface="Times New Roman" panose="02020603050405020304" pitchFamily="18" charset="0"/>
                <a:cs typeface="Times New Roman" panose="02020603050405020304" pitchFamily="18" charset="0"/>
              </a:rPr>
              <a:t>:</a:t>
            </a:r>
            <a:endParaRPr lang="ru-RU"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8" name="Рисунок 7">
            <a:extLst>
              <a:ext uri="{FF2B5EF4-FFF2-40B4-BE49-F238E27FC236}">
                <a16:creationId xmlns:a16="http://schemas.microsoft.com/office/drawing/2014/main" id="{66062338-7DBB-4CEB-8B48-67EA911B5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6031" y="1066801"/>
            <a:ext cx="2545301" cy="2789162"/>
          </a:xfrm>
          <a:prstGeom prst="rect">
            <a:avLst/>
          </a:prstGeom>
        </p:spPr>
      </p:pic>
      <p:pic>
        <p:nvPicPr>
          <p:cNvPr id="10" name="Рисунок 9">
            <a:extLst>
              <a:ext uri="{FF2B5EF4-FFF2-40B4-BE49-F238E27FC236}">
                <a16:creationId xmlns:a16="http://schemas.microsoft.com/office/drawing/2014/main" id="{B1A22476-ED8F-41A0-8AA2-BF5D0813E7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2397" y="1066801"/>
            <a:ext cx="1790221" cy="3218328"/>
          </a:xfrm>
          <a:prstGeom prst="rect">
            <a:avLst/>
          </a:prstGeom>
        </p:spPr>
      </p:pic>
      <p:sp>
        <p:nvSpPr>
          <p:cNvPr id="11" name="Стрелка: вправо 10">
            <a:extLst>
              <a:ext uri="{FF2B5EF4-FFF2-40B4-BE49-F238E27FC236}">
                <a16:creationId xmlns:a16="http://schemas.microsoft.com/office/drawing/2014/main" id="{FC5407F9-6E8E-4AAD-B671-A5361B30527B}"/>
              </a:ext>
            </a:extLst>
          </p:cNvPr>
          <p:cNvSpPr/>
          <p:nvPr/>
        </p:nvSpPr>
        <p:spPr>
          <a:xfrm>
            <a:off x="5033487" y="2031050"/>
            <a:ext cx="1622612" cy="644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519711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омер слайда 4">
            <a:extLst>
              <a:ext uri="{FF2B5EF4-FFF2-40B4-BE49-F238E27FC236}">
                <a16:creationId xmlns:a16="http://schemas.microsoft.com/office/drawing/2014/main" id="{C277AD16-F027-4971-876F-AB0735695EC7}"/>
              </a:ext>
            </a:extLst>
          </p:cNvPr>
          <p:cNvSpPr>
            <a:spLocks noGrp="1"/>
          </p:cNvSpPr>
          <p:nvPr>
            <p:ph type="sldNum" sz="quarter" idx="12"/>
          </p:nvPr>
        </p:nvSpPr>
        <p:spPr>
          <a:xfrm>
            <a:off x="9000000" y="6120000"/>
            <a:ext cx="2743200" cy="365125"/>
          </a:xfrm>
        </p:spPr>
        <p:txBody>
          <a:bodyPr lIns="0" tIns="36000" rIns="0" bIns="36000"/>
          <a:lstStyle/>
          <a:p>
            <a:fld id="{8346BD07-4451-4F99-9781-57091C949674}" type="slidenum">
              <a:rPr lang="ru-RU" sz="1400" b="1" smtClean="0">
                <a:solidFill>
                  <a:schemeClr val="accent6">
                    <a:lumMod val="50000"/>
                  </a:schemeClr>
                </a:solidFill>
                <a:latin typeface="Times New Roman" panose="02020603050405020304" pitchFamily="18" charset="0"/>
                <a:cs typeface="Times New Roman" panose="02020603050405020304" pitchFamily="18" charset="0"/>
              </a:rPr>
              <a:t>26</a:t>
            </a:fld>
            <a:endParaRPr lang="ru-RU" sz="1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Заголовок 1">
            <a:extLst>
              <a:ext uri="{FF2B5EF4-FFF2-40B4-BE49-F238E27FC236}">
                <a16:creationId xmlns:a16="http://schemas.microsoft.com/office/drawing/2014/main" id="{A75D682C-6E82-4A85-BA9B-AC06BAEACB62}"/>
              </a:ext>
            </a:extLst>
          </p:cNvPr>
          <p:cNvSpPr>
            <a:spLocks noGrp="1"/>
          </p:cNvSpPr>
          <p:nvPr>
            <p:ph type="title"/>
          </p:nvPr>
        </p:nvSpPr>
        <p:spPr>
          <a:xfrm>
            <a:off x="900000" y="0"/>
            <a:ext cx="10515600" cy="836146"/>
          </a:xfrm>
        </p:spPr>
        <p:txBody>
          <a:bodyPr>
            <a:normAutofit/>
          </a:bodyPr>
          <a:lstStyle/>
          <a:p>
            <a:pPr algn="ctr"/>
            <a:r>
              <a:rPr lang="ru-RU" sz="3200" b="1" dirty="0">
                <a:solidFill>
                  <a:schemeClr val="accent6">
                    <a:lumMod val="50000"/>
                  </a:schemeClr>
                </a:solidFill>
                <a:latin typeface="Times New Roman" panose="02020603050405020304" pitchFamily="18" charset="0"/>
                <a:cs typeface="Times New Roman" panose="02020603050405020304" pitchFamily="18" charset="0"/>
              </a:rPr>
              <a:t>Возникшие затруднения</a:t>
            </a:r>
          </a:p>
        </p:txBody>
      </p:sp>
      <p:sp>
        <p:nvSpPr>
          <p:cNvPr id="2" name="TextBox 1">
            <a:extLst>
              <a:ext uri="{FF2B5EF4-FFF2-40B4-BE49-F238E27FC236}">
                <a16:creationId xmlns:a16="http://schemas.microsoft.com/office/drawing/2014/main" id="{1378FCCC-42EA-46E2-9B9D-F24ABD8BD933}"/>
              </a:ext>
            </a:extLst>
          </p:cNvPr>
          <p:cNvSpPr txBox="1"/>
          <p:nvPr/>
        </p:nvSpPr>
        <p:spPr>
          <a:xfrm>
            <a:off x="323009" y="677305"/>
            <a:ext cx="11545981" cy="2800767"/>
          </a:xfrm>
          <a:prstGeom prst="rect">
            <a:avLst/>
          </a:prstGeom>
          <a:noFill/>
        </p:spPr>
        <p:txBody>
          <a:bodyPr wrap="square" rtlCol="0">
            <a:spAutoFit/>
          </a:bodyPr>
          <a:lstStyle/>
          <a:p>
            <a:r>
              <a:rPr lang="ru-RU" sz="1600" dirty="0">
                <a:solidFill>
                  <a:schemeClr val="accent6">
                    <a:lumMod val="50000"/>
                  </a:schemeClr>
                </a:solidFill>
                <a:latin typeface="Times New Roman" panose="02020603050405020304" pitchFamily="18" charset="0"/>
                <a:cs typeface="Times New Roman" panose="02020603050405020304" pitchFamily="18" charset="0"/>
              </a:rPr>
              <a:t>Главное затруднение – случай, когда отрезок пересекает вершину прямоугольника, в случае, если либо начальная точка лежит внутри прямоугольника, а конечная нет, либо начальная не лежит, а конечная лежит – проблем нет, ведь при прохождении по каждой стороне прямоугольника мы найдем точку пересечения, и эта же точка будет найдена, как точка пересечения смежной стороны, соответственно точка пересечения просто ,,</a:t>
            </a:r>
            <a:r>
              <a:rPr lang="ru-RU" sz="1600" dirty="0" err="1">
                <a:solidFill>
                  <a:schemeClr val="accent6">
                    <a:lumMod val="50000"/>
                  </a:schemeClr>
                </a:solidFill>
                <a:latin typeface="Times New Roman" panose="02020603050405020304" pitchFamily="18" charset="0"/>
                <a:cs typeface="Times New Roman" panose="02020603050405020304" pitchFamily="18" charset="0"/>
              </a:rPr>
              <a:t>перезапишется</a:t>
            </a:r>
            <a:r>
              <a:rPr lang="en-US" sz="1600" dirty="0">
                <a:solidFill>
                  <a:schemeClr val="accent6">
                    <a:lumMod val="50000"/>
                  </a:schemeClr>
                </a:solidFill>
                <a:latin typeface="Times New Roman" panose="02020603050405020304" pitchFamily="18" charset="0"/>
                <a:cs typeface="Times New Roman" panose="02020603050405020304" pitchFamily="18" charset="0"/>
              </a:rPr>
              <a:t>”</a:t>
            </a:r>
            <a:r>
              <a:rPr lang="ru-RU" sz="1600" dirty="0">
                <a:solidFill>
                  <a:schemeClr val="accent6">
                    <a:lumMod val="50000"/>
                  </a:schemeClr>
                </a:solidFill>
                <a:latin typeface="Times New Roman" panose="02020603050405020304" pitchFamily="18" charset="0"/>
                <a:cs typeface="Times New Roman" panose="02020603050405020304" pitchFamily="18" charset="0"/>
              </a:rPr>
              <a:t> в памяти компьютера. Проблема возникает тогда, когда мы имеем дело со случаем, когда ни начальная, ни конечная точка отрезка не лежат внутри прямоугольника, потому что компьютер запишет лишь одну точку пересечения, считая ее за 2. </a:t>
            </a:r>
          </a:p>
          <a:p>
            <a:r>
              <a:rPr lang="ru-RU" sz="1600" dirty="0">
                <a:solidFill>
                  <a:schemeClr val="accent6">
                    <a:lumMod val="50000"/>
                  </a:schemeClr>
                </a:solidFill>
                <a:latin typeface="Times New Roman" panose="02020603050405020304" pitchFamily="18" charset="0"/>
                <a:cs typeface="Times New Roman" panose="02020603050405020304" pitchFamily="18" charset="0"/>
              </a:rPr>
              <a:t>Решение</a:t>
            </a:r>
            <a:r>
              <a:rPr lang="en-US" sz="1600" dirty="0">
                <a:solidFill>
                  <a:schemeClr val="accent6">
                    <a:lumMod val="50000"/>
                  </a:schemeClr>
                </a:solidFill>
                <a:latin typeface="Times New Roman" panose="02020603050405020304" pitchFamily="18" charset="0"/>
                <a:cs typeface="Times New Roman" panose="02020603050405020304" pitchFamily="18" charset="0"/>
              </a:rPr>
              <a:t>:</a:t>
            </a:r>
            <a:r>
              <a:rPr lang="ru-RU" sz="1600" dirty="0">
                <a:solidFill>
                  <a:schemeClr val="accent6">
                    <a:lumMod val="50000"/>
                  </a:schemeClr>
                </a:solidFill>
                <a:latin typeface="Times New Roman" panose="02020603050405020304" pitchFamily="18" charset="0"/>
                <a:cs typeface="Times New Roman" panose="02020603050405020304" pitchFamily="18" charset="0"/>
              </a:rPr>
              <a:t> сначала стоит вспомнить, что все вершины пронумерованы против часовой стрелки.1 шаг - находим пересечение с 1 стороной, если оно есть, сохраняем. Затем находим со второй, если оно есть – проверяем, является ли параметр 1 стороны равным 1, если да, то не сохраняем эту точку. Тоже делаем с 3 стороной. А для 4 стороны проверяем, является ли параметр 3 стороны равным 1  и, является ли параметр 1 стороны равным 0, если да, то не сохраняем эту точку. </a:t>
            </a:r>
          </a:p>
          <a:p>
            <a:endParaRPr lang="ru-RU" sz="1600"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B18B5C9A-3F5B-48C2-8D13-C7F3F09486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1456" y="3578412"/>
            <a:ext cx="3952688" cy="2724150"/>
          </a:xfrm>
          <a:prstGeom prst="rect">
            <a:avLst/>
          </a:prstGeom>
        </p:spPr>
      </p:pic>
    </p:spTree>
    <p:extLst>
      <p:ext uri="{BB962C8B-B14F-4D97-AF65-F5344CB8AC3E}">
        <p14:creationId xmlns:p14="http://schemas.microsoft.com/office/powerpoint/2010/main" val="2775049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3203404-9FBC-4A7D-AF14-20F9BB2D240D}"/>
              </a:ext>
            </a:extLst>
          </p:cNvPr>
          <p:cNvSpPr>
            <a:spLocks noGrp="1"/>
          </p:cNvSpPr>
          <p:nvPr>
            <p:ph idx="1"/>
          </p:nvPr>
        </p:nvSpPr>
        <p:spPr>
          <a:xfrm>
            <a:off x="5543550" y="2105771"/>
            <a:ext cx="6457950" cy="1811804"/>
          </a:xfrm>
        </p:spPr>
        <p:txBody>
          <a:bodyPr>
            <a:normAutofit fontScale="70000" lnSpcReduction="20000"/>
          </a:bodyPr>
          <a:lstStyle/>
          <a:p>
            <a:pPr marL="0" indent="0" algn="ctr">
              <a:buNone/>
            </a:pPr>
            <a:r>
              <a:rPr lang="ru-RU" sz="4600" b="1" dirty="0">
                <a:solidFill>
                  <a:schemeClr val="accent6">
                    <a:lumMod val="50000"/>
                  </a:schemeClr>
                </a:solidFill>
                <a:latin typeface="Times New Roman" panose="02020603050405020304" pitchFamily="18" charset="0"/>
                <a:cs typeface="Times New Roman" panose="02020603050405020304" pitchFamily="18" charset="0"/>
              </a:rPr>
              <a:t>Спасибо за внимание!!!</a:t>
            </a:r>
          </a:p>
          <a:p>
            <a:pPr marL="0" indent="0" algn="ctr">
              <a:buNone/>
            </a:pPr>
            <a:endParaRPr lang="ru-RU"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ctr">
              <a:buNone/>
            </a:pPr>
            <a:r>
              <a:rPr lang="ru-RU" b="1" dirty="0">
                <a:solidFill>
                  <a:schemeClr val="accent6">
                    <a:lumMod val="50000"/>
                  </a:schemeClr>
                </a:solidFill>
                <a:latin typeface="Times New Roman" panose="02020603050405020304" pitchFamily="18" charset="0"/>
                <a:cs typeface="Times New Roman" panose="02020603050405020304" pitchFamily="18" charset="0"/>
              </a:rPr>
              <a:t>Филиппов Артем, класс 10-7</a:t>
            </a:r>
          </a:p>
          <a:p>
            <a:pPr marL="0" indent="0" algn="ctr">
              <a:buNone/>
            </a:pPr>
            <a:endParaRPr lang="ru-RU" b="1" dirty="0">
              <a:solidFill>
                <a:schemeClr val="accent6">
                  <a:lumMod val="50000"/>
                </a:schemeClr>
              </a:solidFill>
              <a:latin typeface="Times New Roman" panose="02020603050405020304" pitchFamily="18" charset="0"/>
              <a:cs typeface="Times New Roman" panose="02020603050405020304" pitchFamily="18" charset="0"/>
            </a:endParaRPr>
          </a:p>
          <a:p>
            <a:pPr marL="0" indent="0" algn="ctr">
              <a:buNone/>
            </a:pPr>
            <a:r>
              <a:rPr lang="en-US" b="1" dirty="0">
                <a:solidFill>
                  <a:schemeClr val="accent6">
                    <a:lumMod val="50000"/>
                  </a:schemeClr>
                </a:solidFill>
                <a:latin typeface="Times New Roman" panose="02020603050405020304" pitchFamily="18" charset="0"/>
                <a:cs typeface="Times New Roman" panose="02020603050405020304" pitchFamily="18" charset="0"/>
              </a:rPr>
              <a:t>Artem.a.filippov@gmail.com</a:t>
            </a:r>
            <a:endParaRPr lang="ru-RU"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4" name="Нижний колонтитул 3">
            <a:extLst>
              <a:ext uri="{FF2B5EF4-FFF2-40B4-BE49-F238E27FC236}">
                <a16:creationId xmlns:a16="http://schemas.microsoft.com/office/drawing/2014/main" id="{3DF5A639-A901-407B-9A31-205E07DB36A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BF1BD34-65A7-47B1-BBDC-4013D87DB7FC}"/>
              </a:ext>
            </a:extLst>
          </p:cNvPr>
          <p:cNvSpPr>
            <a:spLocks noGrp="1"/>
          </p:cNvSpPr>
          <p:nvPr>
            <p:ph type="sldNum" sz="quarter" idx="12"/>
          </p:nvPr>
        </p:nvSpPr>
        <p:spPr/>
        <p:txBody>
          <a:bodyPr/>
          <a:lstStyle/>
          <a:p>
            <a:fld id="{8346BD07-4451-4F99-9781-57091C949674}" type="slidenum">
              <a:rPr lang="ru-RU" smtClean="0"/>
              <a:t>27</a:t>
            </a:fld>
            <a:endParaRPr lang="ru-RU"/>
          </a:p>
        </p:txBody>
      </p:sp>
      <p:pic>
        <p:nvPicPr>
          <p:cNvPr id="2" name="Рисунок 1"/>
          <p:cNvPicPr>
            <a:picLocks noChangeAspect="1"/>
          </p:cNvPicPr>
          <p:nvPr/>
        </p:nvPicPr>
        <p:blipFill rotWithShape="1">
          <a:blip r:embed="rId2" cstate="print">
            <a:extLst>
              <a:ext uri="{28A0092B-C50C-407E-A947-70E740481C1C}">
                <a14:useLocalDpi xmlns:a14="http://schemas.microsoft.com/office/drawing/2010/main" val="0"/>
              </a:ext>
            </a:extLst>
          </a:blip>
          <a:srcRect b="14179"/>
          <a:stretch/>
        </p:blipFill>
        <p:spPr>
          <a:xfrm>
            <a:off x="602639" y="784226"/>
            <a:ext cx="4479085" cy="5092700"/>
          </a:xfrm>
          <a:prstGeom prst="rect">
            <a:avLst/>
          </a:prstGeom>
        </p:spPr>
      </p:pic>
    </p:spTree>
    <p:extLst>
      <p:ext uri="{BB962C8B-B14F-4D97-AF65-F5344CB8AC3E}">
        <p14:creationId xmlns:p14="http://schemas.microsoft.com/office/powerpoint/2010/main" val="416255680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1155</TotalTime>
  <Words>2083</Words>
  <Application>Microsoft Office PowerPoint</Application>
  <PresentationFormat>Широкоэкранный</PresentationFormat>
  <Paragraphs>284</Paragraphs>
  <Slides>27</Slides>
  <Notes>2</Notes>
  <HiddenSlides>2</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27</vt:i4>
      </vt:variant>
    </vt:vector>
  </HeadingPairs>
  <TitlesOfParts>
    <vt:vector size="35" baseType="lpstr">
      <vt:lpstr>Arial</vt:lpstr>
      <vt:lpstr>Calibri</vt:lpstr>
      <vt:lpstr>Calibri Light</vt:lpstr>
      <vt:lpstr>Cambria Math</vt:lpstr>
      <vt:lpstr>JetBrains Mono</vt:lpstr>
      <vt:lpstr>Symbol</vt:lpstr>
      <vt:lpstr>Times New Roman</vt:lpstr>
      <vt:lpstr>Тема Office</vt:lpstr>
      <vt:lpstr>Нахождение отрезка максимальной длины,  находящегося внутри прямоугольника,  </vt:lpstr>
      <vt:lpstr>Постановка задачи</vt:lpstr>
      <vt:lpstr>Постановка задачи</vt:lpstr>
      <vt:lpstr>Входные данные</vt:lpstr>
      <vt:lpstr>Выходные данные</vt:lpstr>
      <vt:lpstr>Математическая модель</vt:lpstr>
      <vt:lpstr>Математическая модель</vt:lpstr>
      <vt:lpstr>Математическая модель</vt:lpstr>
      <vt:lpstr>Математическая модель</vt:lpstr>
      <vt:lpstr>Математическая модель</vt:lpstr>
      <vt:lpstr>Структура данных</vt:lpstr>
      <vt:lpstr>Метод решения</vt:lpstr>
      <vt:lpstr>Метод решения</vt:lpstr>
      <vt:lpstr>Метод решения</vt:lpstr>
      <vt:lpstr>Метод решения</vt:lpstr>
      <vt:lpstr>Метод решения</vt:lpstr>
      <vt:lpstr>Метод решения</vt:lpstr>
      <vt:lpstr>Метод решения</vt:lpstr>
      <vt:lpstr>Метод решения</vt:lpstr>
      <vt:lpstr>Метод решения</vt:lpstr>
      <vt:lpstr>Метод решения</vt:lpstr>
      <vt:lpstr>Структура программы</vt:lpstr>
      <vt:lpstr>Пример работы программы Для каждого случая взаимного расположения прямоугольника и отрезка: </vt:lpstr>
      <vt:lpstr>Пример работы программы</vt:lpstr>
      <vt:lpstr>Пример работы программы</vt:lpstr>
      <vt:lpstr>Возникшие затруднения</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Нахождение отрезка, находящегося внутри прямоугольника, максимальной длины</dc:title>
  <dc:creator>Artem</dc:creator>
  <cp:lastModifiedBy>Artem</cp:lastModifiedBy>
  <cp:revision>132</cp:revision>
  <dcterms:created xsi:type="dcterms:W3CDTF">2026-03-03T15:09:02Z</dcterms:created>
  <dcterms:modified xsi:type="dcterms:W3CDTF">2026-03-31T18:49:08Z</dcterms:modified>
</cp:coreProperties>
</file>